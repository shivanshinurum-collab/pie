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731520" y="1645920"/>
            <a:ext cx="137160" cy="3474720"/>
          </a:xfrm>
          <a:prstGeom prst="rect">
            <a:avLst/>
          </a:prstGeom>
          <a:solidFill>
            <a:srgbClr val="22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5486400" cy="3474720"/>
          </a:xfrm>
          <a:prstGeom prst="rect">
            <a:avLst/>
          </a:prstGeom>
          <a:noFill/>
        </p:spPr>
        <p:txBody>
          <a:bodyPr wrap="square" lIns="0" rIns="0" tIns="0" bIns="0">
            <a:spAutoFit/>
          </a:bodyPr>
          <a:lstStyle/>
          <a:p>
            <a:pPr>
              <a:spcAft>
                <a:spcPts val="1200"/>
              </a:spcAft>
              <a:defRPr sz="5600" b="1">
                <a:solidFill>
                  <a:srgbClr val="162639"/>
                </a:solidFill>
                <a:latin typeface="Georgia"/>
              </a:defRPr>
            </a:pPr>
            <a:r>
              <a:t>METABOLIC BONE DISORDERS</a:t>
            </a:r>
          </a:p>
          <a:p>
            <a:pPr>
              <a:spcAft>
                <a:spcPts val="4500"/>
              </a:spcAft>
              <a:defRPr sz="2800">
                <a:solidFill>
                  <a:srgbClr val="228B8B"/>
                </a:solidFill>
                <a:latin typeface="Arial"/>
              </a:defRPr>
            </a:pPr>
            <a:r>
              <a:t>A Clinical Guide to Osteoporosis, Osteomalacia, and Paget's Disease</a:t>
            </a:r>
          </a:p>
          <a:p>
            <a:pPr>
              <a:defRPr sz="1800" i="1">
                <a:solidFill>
                  <a:srgbClr val="3C3C3C"/>
                </a:solidFill>
                <a:latin typeface="Arial"/>
              </a:defRPr>
            </a:pPr>
            <a:r>
              <a:t>Prepared by Clinical Endocrinology &amp; Nursing Education Experts</a:t>
            </a:r>
          </a:p>
        </p:txBody>
      </p:sp>
      <p:pic>
        <p:nvPicPr>
          <p:cNvPr id="4" name="Picture 3" descr="metabolic_bone_intro.png"/>
          <p:cNvPicPr>
            <a:picLocks noChangeAspect="1"/>
          </p:cNvPicPr>
          <p:nvPr/>
        </p:nvPicPr>
        <p:blipFill>
          <a:blip r:embed="rId2"/>
          <a:stretch>
            <a:fillRect/>
          </a:stretch>
        </p:blipFill>
        <p:spPr>
          <a:xfrm>
            <a:off x="6858000" y="1188720"/>
            <a:ext cx="4572000" cy="4572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228600"/>
            <a:ext cx="10698480" cy="365760"/>
          </a:xfrm>
          <a:prstGeom prst="rect">
            <a:avLst/>
          </a:prstGeom>
          <a:noFill/>
        </p:spPr>
        <p:txBody>
          <a:bodyPr wrap="square" tIns="0" bIns="0" lIns="0" rIns="0">
            <a:spAutoFit/>
          </a:bodyPr>
          <a:lstStyle/>
          <a:p>
            <a:pPr>
              <a:defRPr sz="1400" b="1">
                <a:solidFill>
                  <a:srgbClr val="228B8B"/>
                </a:solidFill>
                <a:latin typeface="Arial"/>
              </a:defRPr>
            </a:pPr>
            <a:r>
              <a:t>GENERAL OVERVIEW</a:t>
            </a:r>
          </a:p>
        </p:txBody>
      </p:sp>
      <p:sp>
        <p:nvSpPr>
          <p:cNvPr id="3" name="TextBox 2"/>
          <p:cNvSpPr txBox="1"/>
          <p:nvPr/>
        </p:nvSpPr>
        <p:spPr>
          <a:xfrm>
            <a:off x="731520" y="548640"/>
            <a:ext cx="10698480" cy="914400"/>
          </a:xfrm>
          <a:prstGeom prst="rect">
            <a:avLst/>
          </a:prstGeom>
          <a:noFill/>
        </p:spPr>
        <p:txBody>
          <a:bodyPr wrap="square" tIns="0" bIns="0" lIns="0" rIns="0">
            <a:spAutoFit/>
          </a:bodyPr>
          <a:lstStyle/>
          <a:p>
            <a:pPr>
              <a:defRPr sz="4000" b="1">
                <a:solidFill>
                  <a:srgbClr val="162639"/>
                </a:solidFill>
                <a:latin typeface="Georgia"/>
              </a:defRPr>
            </a:pPr>
            <a:r>
              <a:t>Introduction &amp; Definition of Metabolic Bone Disorders</a:t>
            </a:r>
          </a:p>
        </p:txBody>
      </p:sp>
      <p:sp>
        <p:nvSpPr>
          <p:cNvPr id="4" name="TextBox 3"/>
          <p:cNvSpPr txBox="1"/>
          <p:nvPr/>
        </p:nvSpPr>
        <p:spPr>
          <a:xfrm>
            <a:off x="731520" y="1645920"/>
            <a:ext cx="5486400" cy="4572000"/>
          </a:xfrm>
          <a:prstGeom prst="rect">
            <a:avLst/>
          </a:prstGeom>
          <a:noFill/>
        </p:spPr>
        <p:txBody>
          <a:bodyPr wrap="square" lIns="0" rIns="0" tIns="0" bIns="0">
            <a:spAutoFit/>
          </a:bodyPr>
          <a:lstStyle/>
          <a:p>
            <a:pPr>
              <a:spcAft>
                <a:spcPts val="400"/>
              </a:spcAft>
              <a:defRPr sz="2000">
                <a:solidFill>
                  <a:srgbClr val="3C3C3C"/>
                </a:solidFill>
                <a:latin typeface="Arial"/>
              </a:defRPr>
            </a:pPr>
            <a:r>
              <a:t>Metabolic bone disorders are a group of conditions that affect the strength, structure, and function of bones due to abnormalities in mineral metabolism, especially calcium, phosphorus, and vitamin D.</a:t>
            </a:r>
          </a:p>
          <a:p>
            <a:pPr>
              <a:spcAft>
                <a:spcPts val="400"/>
              </a:spcAft>
              <a:defRPr sz="2000">
                <a:solidFill>
                  <a:srgbClr val="3C3C3C"/>
                </a:solidFill>
                <a:latin typeface="Arial"/>
              </a:defRPr>
            </a:pPr>
            <a:r>
              <a:t>These disorders typically result from disruptions in the processes that regulate bone formation (osteoblast activity) and bone resorption (osteoclast activity).</a:t>
            </a:r>
          </a:p>
          <a:p>
            <a:pPr>
              <a:spcAft>
                <a:spcPts val="400"/>
              </a:spcAft>
              <a:defRPr sz="2000">
                <a:solidFill>
                  <a:srgbClr val="3C3C3C"/>
                </a:solidFill>
                <a:latin typeface="Arial"/>
              </a:defRPr>
            </a:pPr>
            <a:r>
              <a:t>Bones are dynamic tissues that constantly undergo remodeling to maintain their integrity.</a:t>
            </a:r>
          </a:p>
          <a:p>
            <a:pPr lvl="1">
              <a:spcAft>
                <a:spcPts val="400"/>
              </a:spcAft>
              <a:defRPr sz="1600">
                <a:solidFill>
                  <a:srgbClr val="3C3C3C"/>
                </a:solidFill>
                <a:latin typeface="Arial"/>
              </a:defRPr>
            </a:pPr>
            <a:r>
              <a:t>- This process depends on adequate nutrition, hormonal balance, and proper functioning of organs such as the kidneys, intestines, and endocrine glands.</a:t>
            </a:r>
          </a:p>
          <a:p>
            <a:pPr lvl="1">
              <a:spcAft>
                <a:spcPts val="400"/>
              </a:spcAft>
              <a:defRPr sz="1600">
                <a:solidFill>
                  <a:srgbClr val="3C3C3C"/>
                </a:solidFill>
                <a:latin typeface="Arial"/>
              </a:defRPr>
            </a:pPr>
            <a:r>
              <a:t>- When these systems are disturbed, it can lead to weakened bones, deformities, pain, and increased risk of fractures.</a:t>
            </a:r>
          </a:p>
          <a:p>
            <a:pPr>
              <a:spcAft>
                <a:spcPts val="400"/>
              </a:spcAft>
              <a:defRPr sz="2000" b="1">
                <a:solidFill>
                  <a:srgbClr val="162639"/>
                </a:solidFill>
                <a:latin typeface="Arial"/>
              </a:defRPr>
            </a:pPr>
            <a:r>
              <a:t>Common examples of metabolic bone disorders include:</a:t>
            </a:r>
          </a:p>
          <a:p>
            <a:pPr lvl="1">
              <a:spcAft>
                <a:spcPts val="400"/>
              </a:spcAft>
              <a:defRPr sz="1600">
                <a:solidFill>
                  <a:srgbClr val="3C3C3C"/>
                </a:solidFill>
                <a:latin typeface="Arial"/>
              </a:defRPr>
            </a:pPr>
            <a:r>
              <a:t>- Osteoporosis – characterized by decreased bone mass and fragility</a:t>
            </a:r>
          </a:p>
          <a:p>
            <a:pPr lvl="1">
              <a:spcAft>
                <a:spcPts val="400"/>
              </a:spcAft>
              <a:defRPr sz="1600">
                <a:solidFill>
                  <a:srgbClr val="3C3C3C"/>
                </a:solidFill>
                <a:latin typeface="Arial"/>
              </a:defRPr>
            </a:pPr>
            <a:r>
              <a:t>- Osteomalacia – softening of bones due to vitamin D deficiency</a:t>
            </a:r>
          </a:p>
          <a:p>
            <a:pPr lvl="1">
              <a:spcAft>
                <a:spcPts val="400"/>
              </a:spcAft>
              <a:defRPr sz="1600">
                <a:solidFill>
                  <a:srgbClr val="3C3C3C"/>
                </a:solidFill>
                <a:latin typeface="Arial"/>
              </a:defRPr>
            </a:pPr>
            <a:r>
              <a:t>- Rickets – defective bone mineralization in children</a:t>
            </a:r>
          </a:p>
          <a:p>
            <a:pPr lvl="1">
              <a:spcAft>
                <a:spcPts val="400"/>
              </a:spcAft>
              <a:defRPr sz="1600">
                <a:solidFill>
                  <a:srgbClr val="3C3C3C"/>
                </a:solidFill>
                <a:latin typeface="Arial"/>
              </a:defRPr>
            </a:pPr>
            <a:r>
              <a:t>- Paget's disease of bone – abnormal bone destruction and regrowth</a:t>
            </a:r>
          </a:p>
        </p:txBody>
      </p:sp>
      <p:pic>
        <p:nvPicPr>
          <p:cNvPr id="5" name="Picture 4" descr="metabolic_bone_overview.png"/>
          <p:cNvPicPr>
            <a:picLocks noChangeAspect="1"/>
          </p:cNvPicPr>
          <p:nvPr/>
        </p:nvPicPr>
        <p:blipFill>
          <a:blip r:embed="rId2"/>
          <a:stretch>
            <a:fillRect/>
          </a:stretch>
        </p:blipFill>
        <p:spPr>
          <a:xfrm>
            <a:off x="6492240" y="1645920"/>
            <a:ext cx="4937760" cy="448056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228600"/>
            <a:ext cx="10698480" cy="365760"/>
          </a:xfrm>
          <a:prstGeom prst="rect">
            <a:avLst/>
          </a:prstGeom>
          <a:noFill/>
        </p:spPr>
        <p:txBody>
          <a:bodyPr wrap="square" tIns="0" bIns="0" lIns="0" rIns="0">
            <a:spAutoFit/>
          </a:bodyPr>
          <a:lstStyle/>
          <a:p>
            <a:pPr>
              <a:defRPr sz="1400" b="1">
                <a:solidFill>
                  <a:srgbClr val="228B8B"/>
                </a:solidFill>
                <a:latin typeface="Arial"/>
              </a:defRPr>
            </a:pPr>
            <a:r>
              <a:t>ANATOMY OF BONE</a:t>
            </a:r>
          </a:p>
        </p:txBody>
      </p:sp>
      <p:sp>
        <p:nvSpPr>
          <p:cNvPr id="3" name="TextBox 2"/>
          <p:cNvSpPr txBox="1"/>
          <p:nvPr/>
        </p:nvSpPr>
        <p:spPr>
          <a:xfrm>
            <a:off x="731520" y="548640"/>
            <a:ext cx="10698480" cy="914400"/>
          </a:xfrm>
          <a:prstGeom prst="rect">
            <a:avLst/>
          </a:prstGeom>
          <a:noFill/>
        </p:spPr>
        <p:txBody>
          <a:bodyPr wrap="square" tIns="0" bIns="0" lIns="0" rIns="0">
            <a:spAutoFit/>
          </a:bodyPr>
          <a:lstStyle/>
          <a:p>
            <a:pPr>
              <a:defRPr sz="4000" b="1">
                <a:solidFill>
                  <a:srgbClr val="162639"/>
                </a:solidFill>
                <a:latin typeface="Georgia"/>
              </a:defRPr>
            </a:pPr>
            <a:r>
              <a:t>Structure of Bone</a:t>
            </a:r>
          </a:p>
        </p:txBody>
      </p:sp>
      <p:sp>
        <p:nvSpPr>
          <p:cNvPr id="4" name="TextBox 3"/>
          <p:cNvSpPr txBox="1"/>
          <p:nvPr/>
        </p:nvSpPr>
        <p:spPr>
          <a:xfrm>
            <a:off x="731520" y="1645920"/>
            <a:ext cx="5486400" cy="4572000"/>
          </a:xfrm>
          <a:prstGeom prst="rect">
            <a:avLst/>
          </a:prstGeom>
          <a:noFill/>
        </p:spPr>
        <p:txBody>
          <a:bodyPr wrap="square" lIns="0" rIns="0" tIns="0" bIns="0">
            <a:spAutoFit/>
          </a:bodyPr>
          <a:lstStyle/>
          <a:p>
            <a:pPr>
              <a:spcAft>
                <a:spcPts val="400"/>
              </a:spcAft>
              <a:defRPr sz="2000" b="1">
                <a:solidFill>
                  <a:srgbClr val="162639"/>
                </a:solidFill>
                <a:latin typeface="Arial"/>
              </a:defRPr>
            </a:pPr>
            <a:r>
              <a:t>A typical long bone consists of:</a:t>
            </a:r>
          </a:p>
          <a:p>
            <a:pPr lvl="1">
              <a:spcAft>
                <a:spcPts val="400"/>
              </a:spcAft>
              <a:defRPr sz="1600">
                <a:solidFill>
                  <a:srgbClr val="3C3C3C"/>
                </a:solidFill>
                <a:latin typeface="Arial"/>
              </a:defRPr>
            </a:pPr>
            <a:r>
              <a:t>- Diaphysis: Shaft of the bone made mainly of compact bone.</a:t>
            </a:r>
          </a:p>
          <a:p>
            <a:pPr lvl="1">
              <a:spcAft>
                <a:spcPts val="400"/>
              </a:spcAft>
              <a:defRPr sz="1600">
                <a:solidFill>
                  <a:srgbClr val="3C3C3C"/>
                </a:solidFill>
                <a:latin typeface="Arial"/>
              </a:defRPr>
            </a:pPr>
            <a:r>
              <a:t>- Epiphysis: Ends of the bone containing spongy (cancellous) bone.</a:t>
            </a:r>
          </a:p>
          <a:p>
            <a:pPr lvl="1">
              <a:spcAft>
                <a:spcPts val="400"/>
              </a:spcAft>
              <a:defRPr sz="1600">
                <a:solidFill>
                  <a:srgbClr val="3C3C3C"/>
                </a:solidFill>
                <a:latin typeface="Arial"/>
              </a:defRPr>
            </a:pPr>
            <a:r>
              <a:t>- Metaphysis: Region between the diaphysis and epiphysis; contains the growth plate in children.</a:t>
            </a:r>
          </a:p>
          <a:p>
            <a:pPr lvl="1">
              <a:spcAft>
                <a:spcPts val="400"/>
              </a:spcAft>
              <a:defRPr sz="1600">
                <a:solidFill>
                  <a:srgbClr val="3C3C3C"/>
                </a:solidFill>
                <a:latin typeface="Arial"/>
              </a:defRPr>
            </a:pPr>
            <a:r>
              <a:t>- Periosteum: Outer fibrous membrane rich in blood vessels and nerves.</a:t>
            </a:r>
          </a:p>
          <a:p>
            <a:pPr lvl="1">
              <a:spcAft>
                <a:spcPts val="400"/>
              </a:spcAft>
              <a:defRPr sz="1600">
                <a:solidFill>
                  <a:srgbClr val="3C3C3C"/>
                </a:solidFill>
                <a:latin typeface="Arial"/>
              </a:defRPr>
            </a:pPr>
            <a:r>
              <a:t>- Endosteum: Inner membrane lining the medullary cavity.</a:t>
            </a:r>
          </a:p>
          <a:p>
            <a:pPr lvl="1">
              <a:spcAft>
                <a:spcPts val="400"/>
              </a:spcAft>
              <a:defRPr sz="1600">
                <a:solidFill>
                  <a:srgbClr val="3C3C3C"/>
                </a:solidFill>
                <a:latin typeface="Arial"/>
              </a:defRPr>
            </a:pPr>
            <a:r>
              <a:t>- Medullary cavity: Contains yellow bone marrow in adults.</a:t>
            </a:r>
          </a:p>
          <a:p>
            <a:pPr lvl="1">
              <a:spcAft>
                <a:spcPts val="400"/>
              </a:spcAft>
              <a:defRPr sz="1600">
                <a:solidFill>
                  <a:srgbClr val="3C3C3C"/>
                </a:solidFill>
                <a:latin typeface="Arial"/>
              </a:defRPr>
            </a:pPr>
            <a:r>
              <a:t>- Articular cartilage: Covers the ends of bones and reduces friction at joints.</a:t>
            </a:r>
          </a:p>
        </p:txBody>
      </p:sp>
      <p:pic>
        <p:nvPicPr>
          <p:cNvPr id="5" name="Picture 4" descr="bone_remodeling.png"/>
          <p:cNvPicPr>
            <a:picLocks noChangeAspect="1"/>
          </p:cNvPicPr>
          <p:nvPr/>
        </p:nvPicPr>
        <p:blipFill>
          <a:blip r:embed="rId2"/>
          <a:stretch>
            <a:fillRect/>
          </a:stretch>
        </p:blipFill>
        <p:spPr>
          <a:xfrm>
            <a:off x="6492240" y="1645920"/>
            <a:ext cx="4937760" cy="448056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228600"/>
            <a:ext cx="10698480" cy="365760"/>
          </a:xfrm>
          <a:prstGeom prst="rect">
            <a:avLst/>
          </a:prstGeom>
          <a:noFill/>
        </p:spPr>
        <p:txBody>
          <a:bodyPr wrap="square" tIns="0" bIns="0" lIns="0" rIns="0">
            <a:spAutoFit/>
          </a:bodyPr>
          <a:lstStyle/>
          <a:p>
            <a:pPr>
              <a:defRPr sz="1400" b="1">
                <a:solidFill>
                  <a:srgbClr val="228B8B"/>
                </a:solidFill>
                <a:latin typeface="Arial"/>
              </a:defRPr>
            </a:pPr>
            <a:r>
              <a:t>ANATOMY OF BONE</a:t>
            </a:r>
          </a:p>
        </p:txBody>
      </p:sp>
      <p:sp>
        <p:nvSpPr>
          <p:cNvPr id="3" name="TextBox 2"/>
          <p:cNvSpPr txBox="1"/>
          <p:nvPr/>
        </p:nvSpPr>
        <p:spPr>
          <a:xfrm>
            <a:off x="731520" y="548640"/>
            <a:ext cx="10698480" cy="914400"/>
          </a:xfrm>
          <a:prstGeom prst="rect">
            <a:avLst/>
          </a:prstGeom>
          <a:noFill/>
        </p:spPr>
        <p:txBody>
          <a:bodyPr wrap="square" tIns="0" bIns="0" lIns="0" rIns="0">
            <a:spAutoFit/>
          </a:bodyPr>
          <a:lstStyle/>
          <a:p>
            <a:pPr>
              <a:defRPr sz="4000" b="1">
                <a:solidFill>
                  <a:srgbClr val="162639"/>
                </a:solidFill>
                <a:latin typeface="Georgia"/>
              </a:defRPr>
            </a:pPr>
            <a:r>
              <a:t>Types of Bone</a:t>
            </a:r>
          </a:p>
        </p:txBody>
      </p:sp>
      <p:sp>
        <p:nvSpPr>
          <p:cNvPr id="4" name="TextBox 3"/>
          <p:cNvSpPr txBox="1"/>
          <p:nvPr/>
        </p:nvSpPr>
        <p:spPr>
          <a:xfrm>
            <a:off x="731520" y="1645920"/>
            <a:ext cx="5486400" cy="4572000"/>
          </a:xfrm>
          <a:prstGeom prst="rect">
            <a:avLst/>
          </a:prstGeom>
          <a:noFill/>
        </p:spPr>
        <p:txBody>
          <a:bodyPr wrap="square" lIns="0" rIns="0" tIns="0" bIns="0">
            <a:spAutoFit/>
          </a:bodyPr>
          <a:lstStyle/>
          <a:p>
            <a:pPr>
              <a:spcAft>
                <a:spcPts val="800"/>
              </a:spcAft>
              <a:defRPr sz="2800" b="1">
                <a:solidFill>
                  <a:srgbClr val="162639"/>
                </a:solidFill>
                <a:latin typeface="Arial"/>
              </a:defRPr>
            </a:pPr>
            <a:r>
              <a:t>Bones are classified into five distinct types based on shape and location:</a:t>
            </a:r>
          </a:p>
          <a:p>
            <a:pPr lvl="1">
              <a:spcAft>
                <a:spcPts val="800"/>
              </a:spcAft>
              <a:defRPr sz="2300">
                <a:solidFill>
                  <a:srgbClr val="3C3C3C"/>
                </a:solidFill>
                <a:latin typeface="Arial"/>
              </a:defRPr>
            </a:pPr>
            <a:r>
              <a:t>- Long bones (Femur, Humerus)</a:t>
            </a:r>
          </a:p>
          <a:p>
            <a:pPr lvl="1">
              <a:spcAft>
                <a:spcPts val="800"/>
              </a:spcAft>
              <a:defRPr sz="2300">
                <a:solidFill>
                  <a:srgbClr val="3C3C3C"/>
                </a:solidFill>
                <a:latin typeface="Arial"/>
              </a:defRPr>
            </a:pPr>
            <a:r>
              <a:t>- Short bones (Carpal bones)</a:t>
            </a:r>
          </a:p>
          <a:p>
            <a:pPr lvl="1">
              <a:spcAft>
                <a:spcPts val="800"/>
              </a:spcAft>
              <a:defRPr sz="2300">
                <a:solidFill>
                  <a:srgbClr val="3C3C3C"/>
                </a:solidFill>
                <a:latin typeface="Arial"/>
              </a:defRPr>
            </a:pPr>
            <a:r>
              <a:t>- Flat bones (Skull, Sternum)</a:t>
            </a:r>
          </a:p>
          <a:p>
            <a:pPr lvl="1">
              <a:spcAft>
                <a:spcPts val="800"/>
              </a:spcAft>
              <a:defRPr sz="2300">
                <a:solidFill>
                  <a:srgbClr val="3C3C3C"/>
                </a:solidFill>
                <a:latin typeface="Arial"/>
              </a:defRPr>
            </a:pPr>
            <a:r>
              <a:t>- Irregular bones (Vertebrae)</a:t>
            </a:r>
          </a:p>
          <a:p>
            <a:pPr lvl="1">
              <a:spcAft>
                <a:spcPts val="800"/>
              </a:spcAft>
              <a:defRPr sz="2300">
                <a:solidFill>
                  <a:srgbClr val="3C3C3C"/>
                </a:solidFill>
                <a:latin typeface="Arial"/>
              </a:defRPr>
            </a:pPr>
            <a:r>
              <a:t>- Sesamoid bones (Patella)</a:t>
            </a:r>
          </a:p>
        </p:txBody>
      </p:sp>
      <p:pic>
        <p:nvPicPr>
          <p:cNvPr id="5" name="Picture 4" descr="bone_types.png"/>
          <p:cNvPicPr>
            <a:picLocks noChangeAspect="1"/>
          </p:cNvPicPr>
          <p:nvPr/>
        </p:nvPicPr>
        <p:blipFill>
          <a:blip r:embed="rId2"/>
          <a:stretch>
            <a:fillRect/>
          </a:stretch>
        </p:blipFill>
        <p:spPr>
          <a:xfrm>
            <a:off x="6492240" y="1645920"/>
            <a:ext cx="4937760" cy="448056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228600"/>
            <a:ext cx="10698480" cy="365760"/>
          </a:xfrm>
          <a:prstGeom prst="rect">
            <a:avLst/>
          </a:prstGeom>
          <a:noFill/>
        </p:spPr>
        <p:txBody>
          <a:bodyPr wrap="square" tIns="0" bIns="0" lIns="0" rIns="0">
            <a:spAutoFit/>
          </a:bodyPr>
          <a:lstStyle/>
          <a:p>
            <a:pPr>
              <a:defRPr sz="1400" b="1">
                <a:solidFill>
                  <a:srgbClr val="228B8B"/>
                </a:solidFill>
                <a:latin typeface="Arial"/>
              </a:defRPr>
            </a:pPr>
            <a:r>
              <a:t>ANATOMY OF BONE</a:t>
            </a:r>
          </a:p>
        </p:txBody>
      </p:sp>
      <p:sp>
        <p:nvSpPr>
          <p:cNvPr id="3" name="TextBox 2"/>
          <p:cNvSpPr txBox="1"/>
          <p:nvPr/>
        </p:nvSpPr>
        <p:spPr>
          <a:xfrm>
            <a:off x="731520" y="548640"/>
            <a:ext cx="10698480" cy="914400"/>
          </a:xfrm>
          <a:prstGeom prst="rect">
            <a:avLst/>
          </a:prstGeom>
          <a:noFill/>
        </p:spPr>
        <p:txBody>
          <a:bodyPr wrap="square" tIns="0" bIns="0" lIns="0" rIns="0">
            <a:spAutoFit/>
          </a:bodyPr>
          <a:lstStyle/>
          <a:p>
            <a:pPr>
              <a:defRPr sz="4000" b="1">
                <a:solidFill>
                  <a:srgbClr val="162639"/>
                </a:solidFill>
                <a:latin typeface="Georgia"/>
              </a:defRPr>
            </a:pPr>
            <a:r>
              <a:t>Bone Cells &amp; Matrix</a:t>
            </a:r>
          </a:p>
        </p:txBody>
      </p:sp>
      <p:sp>
        <p:nvSpPr>
          <p:cNvPr id="4" name="TextBox 3"/>
          <p:cNvSpPr txBox="1"/>
          <p:nvPr/>
        </p:nvSpPr>
        <p:spPr>
          <a:xfrm>
            <a:off x="731520" y="1645920"/>
            <a:ext cx="5486400" cy="4572000"/>
          </a:xfrm>
          <a:prstGeom prst="rect">
            <a:avLst/>
          </a:prstGeom>
          <a:noFill/>
        </p:spPr>
        <p:txBody>
          <a:bodyPr wrap="square" lIns="0" rIns="0" tIns="0" bIns="0">
            <a:spAutoFit/>
          </a:bodyPr>
          <a:lstStyle/>
          <a:p>
            <a:pPr>
              <a:spcAft>
                <a:spcPts val="400"/>
              </a:spcAft>
              <a:defRPr sz="2000" b="1">
                <a:solidFill>
                  <a:srgbClr val="162639"/>
                </a:solidFill>
                <a:latin typeface="Arial"/>
              </a:defRPr>
            </a:pPr>
            <a:r>
              <a:t>3. Bone Cells:</a:t>
            </a:r>
          </a:p>
          <a:p>
            <a:pPr lvl="1">
              <a:spcAft>
                <a:spcPts val="400"/>
              </a:spcAft>
              <a:defRPr sz="1600">
                <a:solidFill>
                  <a:srgbClr val="3C3C3C"/>
                </a:solidFill>
                <a:latin typeface="Arial"/>
              </a:defRPr>
            </a:pPr>
            <a:r>
              <a:t>- Osteoblasts: Bone-forming cells that synthesize bone matrix.</a:t>
            </a:r>
          </a:p>
          <a:p>
            <a:pPr lvl="1">
              <a:spcAft>
                <a:spcPts val="400"/>
              </a:spcAft>
              <a:defRPr sz="1600">
                <a:solidFill>
                  <a:srgbClr val="3C3C3C"/>
                </a:solidFill>
                <a:latin typeface="Arial"/>
              </a:defRPr>
            </a:pPr>
            <a:r>
              <a:t>- Osteocytes: Mature bone cells that maintain bone tissue.</a:t>
            </a:r>
          </a:p>
          <a:p>
            <a:pPr lvl="1">
              <a:spcAft>
                <a:spcPts val="400"/>
              </a:spcAft>
              <a:defRPr sz="1600">
                <a:solidFill>
                  <a:srgbClr val="3C3C3C"/>
                </a:solidFill>
                <a:latin typeface="Arial"/>
              </a:defRPr>
            </a:pPr>
            <a:r>
              <a:t>- Osteoclasts: Large multinucleated cells responsible for bone resorption.</a:t>
            </a:r>
          </a:p>
          <a:p>
            <a:pPr>
              <a:spcAft>
                <a:spcPts val="400"/>
              </a:spcAft>
              <a:defRPr sz="2000" b="1">
                <a:solidFill>
                  <a:srgbClr val="C0392B"/>
                </a:solidFill>
                <a:latin typeface="Arial"/>
              </a:defRPr>
            </a:pPr>
            <a:r>
              <a:t>4. Bone Matrix:</a:t>
            </a:r>
          </a:p>
          <a:p>
            <a:pPr lvl="1">
              <a:spcAft>
                <a:spcPts val="400"/>
              </a:spcAft>
              <a:defRPr sz="1600">
                <a:solidFill>
                  <a:srgbClr val="3C3C3C"/>
                </a:solidFill>
                <a:latin typeface="Arial"/>
              </a:defRPr>
            </a:pPr>
            <a:r>
              <a:t>- Organic Matrix (≈35%): Type I collagen, Proteoglycans, Glycoproteins.</a:t>
            </a:r>
          </a:p>
          <a:p>
            <a:pPr lvl="1">
              <a:spcAft>
                <a:spcPts val="400"/>
              </a:spcAft>
              <a:defRPr sz="1600">
                <a:solidFill>
                  <a:srgbClr val="3C3C3C"/>
                </a:solidFill>
                <a:latin typeface="Arial"/>
              </a:defRPr>
            </a:pPr>
            <a:r>
              <a:t>- Inorganic Matrix (≈65%): Calcium, Phosphate, Hydroxyapatite crystals, Magnesium, Fluoride.</a:t>
            </a:r>
          </a:p>
        </p:txBody>
      </p:sp>
      <p:pic>
        <p:nvPicPr>
          <p:cNvPr id="5" name="Picture 4" descr="bone_matrix_structure.png"/>
          <p:cNvPicPr>
            <a:picLocks noChangeAspect="1"/>
          </p:cNvPicPr>
          <p:nvPr/>
        </p:nvPicPr>
        <p:blipFill>
          <a:blip r:embed="rId2"/>
          <a:stretch>
            <a:fillRect/>
          </a:stretch>
        </p:blipFill>
        <p:spPr>
          <a:xfrm>
            <a:off x="6492240" y="1645920"/>
            <a:ext cx="4937760" cy="448056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228600"/>
            <a:ext cx="10698480" cy="365760"/>
          </a:xfrm>
          <a:prstGeom prst="rect">
            <a:avLst/>
          </a:prstGeom>
          <a:noFill/>
        </p:spPr>
        <p:txBody>
          <a:bodyPr wrap="square" tIns="0" bIns="0" lIns="0" rIns="0">
            <a:spAutoFit/>
          </a:bodyPr>
          <a:lstStyle/>
          <a:p>
            <a:pPr>
              <a:defRPr sz="1400" b="1">
                <a:solidFill>
                  <a:srgbClr val="228B8B"/>
                </a:solidFill>
                <a:latin typeface="Arial"/>
              </a:defRPr>
            </a:pPr>
            <a:r>
              <a:t>PHYSIOLOGY OF BONE</a:t>
            </a:r>
          </a:p>
        </p:txBody>
      </p:sp>
      <p:sp>
        <p:nvSpPr>
          <p:cNvPr id="3" name="TextBox 2"/>
          <p:cNvSpPr txBox="1"/>
          <p:nvPr/>
        </p:nvSpPr>
        <p:spPr>
          <a:xfrm>
            <a:off x="731520" y="548640"/>
            <a:ext cx="10698480" cy="914400"/>
          </a:xfrm>
          <a:prstGeom prst="rect">
            <a:avLst/>
          </a:prstGeom>
          <a:noFill/>
        </p:spPr>
        <p:txBody>
          <a:bodyPr wrap="square" tIns="0" bIns="0" lIns="0" rIns="0">
            <a:spAutoFit/>
          </a:bodyPr>
          <a:lstStyle/>
          <a:p>
            <a:pPr>
              <a:defRPr sz="4000" b="1">
                <a:solidFill>
                  <a:srgbClr val="162639"/>
                </a:solidFill>
                <a:latin typeface="Georgia"/>
              </a:defRPr>
            </a:pPr>
            <a:r>
              <a:t>Functions &amp; Remodeling Cycle</a:t>
            </a:r>
          </a:p>
        </p:txBody>
      </p:sp>
      <p:sp>
        <p:nvSpPr>
          <p:cNvPr id="4" name="TextBox 3"/>
          <p:cNvSpPr txBox="1"/>
          <p:nvPr/>
        </p:nvSpPr>
        <p:spPr>
          <a:xfrm>
            <a:off x="731520" y="1645920"/>
            <a:ext cx="5486400" cy="4572000"/>
          </a:xfrm>
          <a:prstGeom prst="rect">
            <a:avLst/>
          </a:prstGeom>
          <a:noFill/>
        </p:spPr>
        <p:txBody>
          <a:bodyPr wrap="square" lIns="0" rIns="0" tIns="0" bIns="0">
            <a:spAutoFit/>
          </a:bodyPr>
          <a:lstStyle/>
          <a:p>
            <a:pPr>
              <a:spcAft>
                <a:spcPts val="400"/>
              </a:spcAft>
              <a:defRPr sz="2000" b="1">
                <a:solidFill>
                  <a:srgbClr val="162639"/>
                </a:solidFill>
                <a:latin typeface="Arial"/>
              </a:defRPr>
            </a:pPr>
            <a:r>
              <a:t>Functions of Bone:</a:t>
            </a:r>
          </a:p>
          <a:p>
            <a:pPr lvl="1">
              <a:spcAft>
                <a:spcPts val="400"/>
              </a:spcAft>
              <a:defRPr sz="1600">
                <a:solidFill>
                  <a:srgbClr val="3C3C3C"/>
                </a:solidFill>
                <a:latin typeface="Arial"/>
              </a:defRPr>
            </a:pPr>
            <a:r>
              <a:t>- Provides support and body shape.</a:t>
            </a:r>
          </a:p>
          <a:p>
            <a:pPr lvl="1">
              <a:spcAft>
                <a:spcPts val="400"/>
              </a:spcAft>
              <a:defRPr sz="1600">
                <a:solidFill>
                  <a:srgbClr val="3C3C3C"/>
                </a:solidFill>
                <a:latin typeface="Arial"/>
              </a:defRPr>
            </a:pPr>
            <a:r>
              <a:t>- Protects vital organs.</a:t>
            </a:r>
          </a:p>
          <a:p>
            <a:pPr lvl="1">
              <a:spcAft>
                <a:spcPts val="400"/>
              </a:spcAft>
              <a:defRPr sz="1600">
                <a:solidFill>
                  <a:srgbClr val="3C3C3C"/>
                </a:solidFill>
                <a:latin typeface="Arial"/>
              </a:defRPr>
            </a:pPr>
            <a:r>
              <a:t>- Acts as a lever for movement.</a:t>
            </a:r>
          </a:p>
          <a:p>
            <a:pPr lvl="1">
              <a:spcAft>
                <a:spcPts val="400"/>
              </a:spcAft>
              <a:defRPr sz="1600">
                <a:solidFill>
                  <a:srgbClr val="3C3C3C"/>
                </a:solidFill>
                <a:latin typeface="Arial"/>
              </a:defRPr>
            </a:pPr>
            <a:r>
              <a:t>- Stores calcium and phosphate.</a:t>
            </a:r>
          </a:p>
          <a:p>
            <a:pPr lvl="1">
              <a:spcAft>
                <a:spcPts val="400"/>
              </a:spcAft>
              <a:defRPr sz="1600">
                <a:solidFill>
                  <a:srgbClr val="3C3C3C"/>
                </a:solidFill>
                <a:latin typeface="Arial"/>
              </a:defRPr>
            </a:pPr>
            <a:r>
              <a:t>- Produces blood cells (hematopoiesis).</a:t>
            </a:r>
          </a:p>
          <a:p>
            <a:pPr lvl="1">
              <a:spcAft>
                <a:spcPts val="400"/>
              </a:spcAft>
              <a:defRPr sz="1600">
                <a:solidFill>
                  <a:srgbClr val="3C3C3C"/>
                </a:solidFill>
                <a:latin typeface="Arial"/>
              </a:defRPr>
            </a:pPr>
            <a:r>
              <a:t>- Stores fat in yellow marrow.</a:t>
            </a:r>
          </a:p>
          <a:p>
            <a:pPr>
              <a:spcAft>
                <a:spcPts val="400"/>
              </a:spcAft>
              <a:defRPr sz="2000" b="1">
                <a:solidFill>
                  <a:srgbClr val="C0392B"/>
                </a:solidFill>
                <a:latin typeface="Arial"/>
              </a:defRPr>
            </a:pPr>
            <a:r>
              <a:t>Bone Remodeling (continuous process consisting of):</a:t>
            </a:r>
          </a:p>
          <a:p>
            <a:pPr lvl="1">
              <a:spcAft>
                <a:spcPts val="400"/>
              </a:spcAft>
              <a:defRPr sz="1600">
                <a:solidFill>
                  <a:srgbClr val="3C3C3C"/>
                </a:solidFill>
                <a:latin typeface="Arial"/>
              </a:defRPr>
            </a:pPr>
            <a:r>
              <a:t>- Activation – Osteoclasts are stimulated.</a:t>
            </a:r>
          </a:p>
          <a:p>
            <a:pPr lvl="1">
              <a:spcAft>
                <a:spcPts val="400"/>
              </a:spcAft>
              <a:defRPr sz="1600">
                <a:solidFill>
                  <a:srgbClr val="3C3C3C"/>
                </a:solidFill>
                <a:latin typeface="Arial"/>
              </a:defRPr>
            </a:pPr>
            <a:r>
              <a:t>- Resorption – Old bone is broken down.</a:t>
            </a:r>
          </a:p>
          <a:p>
            <a:pPr lvl="1">
              <a:spcAft>
                <a:spcPts val="400"/>
              </a:spcAft>
              <a:defRPr sz="1600">
                <a:solidFill>
                  <a:srgbClr val="3C3C3C"/>
                </a:solidFill>
                <a:latin typeface="Arial"/>
              </a:defRPr>
            </a:pPr>
            <a:r>
              <a:t>- Reversal – Bone surface is prepared.</a:t>
            </a:r>
          </a:p>
          <a:p>
            <a:pPr lvl="1">
              <a:spcAft>
                <a:spcPts val="400"/>
              </a:spcAft>
              <a:defRPr sz="1600">
                <a:solidFill>
                  <a:srgbClr val="3C3C3C"/>
                </a:solidFill>
                <a:latin typeface="Arial"/>
              </a:defRPr>
            </a:pPr>
            <a:r>
              <a:t>- Formation – Osteoblasts form new bone.</a:t>
            </a:r>
          </a:p>
          <a:p>
            <a:pPr lvl="1">
              <a:spcAft>
                <a:spcPts val="400"/>
              </a:spcAft>
              <a:defRPr sz="1600">
                <a:solidFill>
                  <a:srgbClr val="3C3C3C"/>
                </a:solidFill>
                <a:latin typeface="Arial"/>
              </a:defRPr>
            </a:pPr>
            <a:r>
              <a:t>- Mineralization – Calcium and phosphate are deposited.</a:t>
            </a:r>
          </a:p>
        </p:txBody>
      </p:sp>
      <p:pic>
        <p:nvPicPr>
          <p:cNvPr id="5" name="Picture 4" descr="bone_remodeling.png"/>
          <p:cNvPicPr>
            <a:picLocks noChangeAspect="1"/>
          </p:cNvPicPr>
          <p:nvPr/>
        </p:nvPicPr>
        <p:blipFill>
          <a:blip r:embed="rId2"/>
          <a:stretch>
            <a:fillRect/>
          </a:stretch>
        </p:blipFill>
        <p:spPr>
          <a:xfrm>
            <a:off x="6492240" y="1645920"/>
            <a:ext cx="4937760" cy="448056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228600"/>
            <a:ext cx="10698480" cy="365760"/>
          </a:xfrm>
          <a:prstGeom prst="rect">
            <a:avLst/>
          </a:prstGeom>
          <a:noFill/>
        </p:spPr>
        <p:txBody>
          <a:bodyPr wrap="square" tIns="0" bIns="0" lIns="0" rIns="0">
            <a:spAutoFit/>
          </a:bodyPr>
          <a:lstStyle/>
          <a:p>
            <a:pPr>
              <a:defRPr sz="1400" b="1">
                <a:solidFill>
                  <a:srgbClr val="228B8B"/>
                </a:solidFill>
                <a:latin typeface="Arial"/>
              </a:defRPr>
            </a:pPr>
            <a:r>
              <a:t>PHYSIOLOGY OF BONE</a:t>
            </a:r>
          </a:p>
        </p:txBody>
      </p:sp>
      <p:sp>
        <p:nvSpPr>
          <p:cNvPr id="3" name="TextBox 2"/>
          <p:cNvSpPr txBox="1"/>
          <p:nvPr/>
        </p:nvSpPr>
        <p:spPr>
          <a:xfrm>
            <a:off x="731520" y="548640"/>
            <a:ext cx="10698480" cy="914400"/>
          </a:xfrm>
          <a:prstGeom prst="rect">
            <a:avLst/>
          </a:prstGeom>
          <a:noFill/>
        </p:spPr>
        <p:txBody>
          <a:bodyPr wrap="square" tIns="0" bIns="0" lIns="0" rIns="0">
            <a:spAutoFit/>
          </a:bodyPr>
          <a:lstStyle/>
          <a:p>
            <a:pPr>
              <a:defRPr sz="4000" b="1">
                <a:solidFill>
                  <a:srgbClr val="162639"/>
                </a:solidFill>
                <a:latin typeface="Georgia"/>
              </a:defRPr>
            </a:pPr>
            <a:r>
              <a:t>Calcium and Phosphate Homeostasis</a:t>
            </a:r>
          </a:p>
        </p:txBody>
      </p:sp>
      <p:sp>
        <p:nvSpPr>
          <p:cNvPr id="4" name="TextBox 3"/>
          <p:cNvSpPr txBox="1"/>
          <p:nvPr/>
        </p:nvSpPr>
        <p:spPr>
          <a:xfrm>
            <a:off x="731520" y="1645920"/>
            <a:ext cx="5486400" cy="4572000"/>
          </a:xfrm>
          <a:prstGeom prst="rect">
            <a:avLst/>
          </a:prstGeom>
          <a:noFill/>
        </p:spPr>
        <p:txBody>
          <a:bodyPr wrap="square" lIns="0" rIns="0" tIns="0" bIns="0">
            <a:spAutoFit/>
          </a:bodyPr>
          <a:lstStyle/>
          <a:p>
            <a:pPr>
              <a:spcAft>
                <a:spcPts val="400"/>
              </a:spcAft>
              <a:defRPr sz="2000" b="1">
                <a:solidFill>
                  <a:srgbClr val="162639"/>
                </a:solidFill>
                <a:latin typeface="Arial"/>
              </a:defRPr>
            </a:pPr>
            <a:r>
              <a:t>Normal Serum Mineral Levels:</a:t>
            </a:r>
          </a:p>
          <a:p>
            <a:pPr lvl="1">
              <a:spcAft>
                <a:spcPts val="400"/>
              </a:spcAft>
              <a:defRPr sz="1600">
                <a:solidFill>
                  <a:srgbClr val="3C3C3C"/>
                </a:solidFill>
                <a:latin typeface="Arial"/>
              </a:defRPr>
            </a:pPr>
            <a:r>
              <a:t>- Normal Serum Calcium: 8.5–10.5 mg/dL</a:t>
            </a:r>
          </a:p>
          <a:p>
            <a:pPr lvl="1">
              <a:spcAft>
                <a:spcPts val="400"/>
              </a:spcAft>
              <a:defRPr sz="1600">
                <a:solidFill>
                  <a:srgbClr val="3C3C3C"/>
                </a:solidFill>
                <a:latin typeface="Arial"/>
              </a:defRPr>
            </a:pPr>
            <a:r>
              <a:t>- Normal Serum Phosphate: 2.5–4.5 mg/dL</a:t>
            </a:r>
          </a:p>
          <a:p>
            <a:pPr>
              <a:spcAft>
                <a:spcPts val="400"/>
              </a:spcAft>
              <a:defRPr sz="2000" b="1">
                <a:solidFill>
                  <a:srgbClr val="C0392B"/>
                </a:solidFill>
                <a:latin typeface="Arial"/>
              </a:defRPr>
            </a:pPr>
            <a:r>
              <a:t>Hormonal Regulation:</a:t>
            </a:r>
          </a:p>
          <a:p>
            <a:pPr lvl="1">
              <a:spcAft>
                <a:spcPts val="400"/>
              </a:spcAft>
              <a:defRPr sz="1600">
                <a:solidFill>
                  <a:srgbClr val="3C3C3C"/>
                </a:solidFill>
                <a:latin typeface="Arial"/>
              </a:defRPr>
            </a:pPr>
            <a:r>
              <a:t>1. Parathyroid Hormone (PTH): Increases blood calcium. Increases bone resorption, increases renal calcium reabsorption, decreases phosphate reabsorption, activates vitamin D.</a:t>
            </a:r>
          </a:p>
          <a:p>
            <a:pPr lvl="1">
              <a:spcAft>
                <a:spcPts val="400"/>
              </a:spcAft>
              <a:defRPr sz="1600">
                <a:solidFill>
                  <a:srgbClr val="3C3C3C"/>
                </a:solidFill>
                <a:latin typeface="Arial"/>
              </a:defRPr>
            </a:pPr>
            <a:r>
              <a:t>2. Vitamin D (Calcitriol): Increases intestinal absorption of calcium and phosphate; promotes bone mineralization.</a:t>
            </a:r>
          </a:p>
          <a:p>
            <a:pPr lvl="1">
              <a:spcAft>
                <a:spcPts val="400"/>
              </a:spcAft>
              <a:defRPr sz="1600">
                <a:solidFill>
                  <a:srgbClr val="3C3C3C"/>
                </a:solidFill>
                <a:latin typeface="Arial"/>
              </a:defRPr>
            </a:pPr>
            <a:r>
              <a:t>3. Calcitonin: Inhibits osteoclast activity, reduces bone resorption, and lowers blood calcium.</a:t>
            </a:r>
          </a:p>
        </p:txBody>
      </p:sp>
      <p:pic>
        <p:nvPicPr>
          <p:cNvPr id="5" name="Picture 4" descr="vit_d_metabolism.png"/>
          <p:cNvPicPr>
            <a:picLocks noChangeAspect="1"/>
          </p:cNvPicPr>
          <p:nvPr/>
        </p:nvPicPr>
        <p:blipFill>
          <a:blip r:embed="rId2"/>
          <a:stretch>
            <a:fillRect/>
          </a:stretch>
        </p:blipFill>
        <p:spPr>
          <a:xfrm>
            <a:off x="6492240" y="1645920"/>
            <a:ext cx="4937760" cy="448056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228600"/>
            <a:ext cx="10698480" cy="365760"/>
          </a:xfrm>
          <a:prstGeom prst="rect">
            <a:avLst/>
          </a:prstGeom>
          <a:noFill/>
        </p:spPr>
        <p:txBody>
          <a:bodyPr wrap="square" tIns="0" bIns="0" lIns="0" rIns="0">
            <a:spAutoFit/>
          </a:bodyPr>
          <a:lstStyle/>
          <a:p>
            <a:pPr>
              <a:defRPr sz="1400" b="1">
                <a:solidFill>
                  <a:srgbClr val="228B8B"/>
                </a:solidFill>
                <a:latin typeface="Arial"/>
              </a:defRPr>
            </a:pPr>
            <a:r>
              <a:t>OSTEOPOROSIS</a:t>
            </a:r>
          </a:p>
        </p:txBody>
      </p:sp>
      <p:sp>
        <p:nvSpPr>
          <p:cNvPr id="3" name="TextBox 2"/>
          <p:cNvSpPr txBox="1"/>
          <p:nvPr/>
        </p:nvSpPr>
        <p:spPr>
          <a:xfrm>
            <a:off x="731520" y="548640"/>
            <a:ext cx="10698480" cy="914400"/>
          </a:xfrm>
          <a:prstGeom prst="rect">
            <a:avLst/>
          </a:prstGeom>
          <a:noFill/>
        </p:spPr>
        <p:txBody>
          <a:bodyPr wrap="square" tIns="0" bIns="0" lIns="0" rIns="0">
            <a:spAutoFit/>
          </a:bodyPr>
          <a:lstStyle/>
          <a:p>
            <a:pPr>
              <a:defRPr sz="4000" b="1">
                <a:solidFill>
                  <a:srgbClr val="162639"/>
                </a:solidFill>
                <a:latin typeface="Georgia"/>
              </a:defRPr>
            </a:pPr>
            <a:r>
              <a:t>Introduction &amp; Definition</a:t>
            </a:r>
          </a:p>
        </p:txBody>
      </p:sp>
      <p:sp>
        <p:nvSpPr>
          <p:cNvPr id="4" name="TextBox 3"/>
          <p:cNvSpPr txBox="1"/>
          <p:nvPr/>
        </p:nvSpPr>
        <p:spPr>
          <a:xfrm>
            <a:off x="731520" y="1645920"/>
            <a:ext cx="5486400" cy="4572000"/>
          </a:xfrm>
          <a:prstGeom prst="rect">
            <a:avLst/>
          </a:prstGeom>
          <a:noFill/>
        </p:spPr>
        <p:txBody>
          <a:bodyPr wrap="square" lIns="0" rIns="0" tIns="0" bIns="0">
            <a:spAutoFit/>
          </a:bodyPr>
          <a:lstStyle/>
          <a:p>
            <a:pPr>
              <a:spcAft>
                <a:spcPts val="800"/>
              </a:spcAft>
              <a:defRPr sz="2800" b="1">
                <a:solidFill>
                  <a:srgbClr val="162639"/>
                </a:solidFill>
                <a:latin typeface="Arial"/>
              </a:defRPr>
            </a:pPr>
            <a:r>
              <a:t>Clinical Context:</a:t>
            </a:r>
          </a:p>
          <a:p>
            <a:pPr lvl="1">
              <a:spcAft>
                <a:spcPts val="800"/>
              </a:spcAft>
              <a:defRPr sz="2300">
                <a:solidFill>
                  <a:srgbClr val="3C3C3C"/>
                </a:solidFill>
                <a:latin typeface="Arial"/>
              </a:defRPr>
            </a:pPr>
            <a:r>
              <a:t>- Most common metabolic bone disease.</a:t>
            </a:r>
          </a:p>
          <a:p>
            <a:pPr lvl="1">
              <a:spcAft>
                <a:spcPts val="800"/>
              </a:spcAft>
              <a:defRPr sz="2300">
                <a:solidFill>
                  <a:srgbClr val="3C3C3C"/>
                </a:solidFill>
                <a:latin typeface="Arial"/>
              </a:defRPr>
            </a:pPr>
            <a:r>
              <a:t>- One of the most prevalent conditions associated with aging.</a:t>
            </a:r>
          </a:p>
          <a:p>
            <a:pPr>
              <a:spcAft>
                <a:spcPts val="800"/>
              </a:spcAft>
              <a:defRPr sz="2800" b="1">
                <a:solidFill>
                  <a:srgbClr val="C0392B"/>
                </a:solidFill>
                <a:latin typeface="Arial"/>
              </a:defRPr>
            </a:pPr>
            <a:r>
              <a:t>Definition:</a:t>
            </a:r>
          </a:p>
          <a:p>
            <a:pPr lvl="1">
              <a:spcAft>
                <a:spcPts val="800"/>
              </a:spcAft>
              <a:defRPr sz="2300">
                <a:solidFill>
                  <a:srgbClr val="3C3C3C"/>
                </a:solidFill>
                <a:latin typeface="Arial"/>
              </a:defRPr>
            </a:pPr>
            <a:r>
              <a:t>- Osteoporosis is a disorder characterized by low bone mass and bone tissue degeneration, which increases the risk of fractures.</a:t>
            </a:r>
          </a:p>
        </p:txBody>
      </p:sp>
      <p:pic>
        <p:nvPicPr>
          <p:cNvPr id="5" name="Picture 4" descr="osteoporosis_bone.png"/>
          <p:cNvPicPr>
            <a:picLocks noChangeAspect="1"/>
          </p:cNvPicPr>
          <p:nvPr/>
        </p:nvPicPr>
        <p:blipFill>
          <a:blip r:embed="rId2"/>
          <a:stretch>
            <a:fillRect/>
          </a:stretch>
        </p:blipFill>
        <p:spPr>
          <a:xfrm>
            <a:off x="6492240" y="1645920"/>
            <a:ext cx="4937760" cy="44805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228600"/>
            <a:ext cx="10698480" cy="365760"/>
          </a:xfrm>
          <a:prstGeom prst="rect">
            <a:avLst/>
          </a:prstGeom>
          <a:noFill/>
        </p:spPr>
        <p:txBody>
          <a:bodyPr wrap="square" tIns="0" bIns="0" lIns="0" rIns="0">
            <a:spAutoFit/>
          </a:bodyPr>
          <a:lstStyle/>
          <a:p>
            <a:pPr>
              <a:defRPr sz="1400" b="1">
                <a:solidFill>
                  <a:srgbClr val="228B8B"/>
                </a:solidFill>
                <a:latin typeface="Arial"/>
              </a:defRPr>
            </a:pPr>
            <a:r>
              <a:t>OSTEOPOROSIS</a:t>
            </a:r>
          </a:p>
        </p:txBody>
      </p:sp>
      <p:sp>
        <p:nvSpPr>
          <p:cNvPr id="3" name="TextBox 2"/>
          <p:cNvSpPr txBox="1"/>
          <p:nvPr/>
        </p:nvSpPr>
        <p:spPr>
          <a:xfrm>
            <a:off x="731520" y="548640"/>
            <a:ext cx="10698480" cy="914400"/>
          </a:xfrm>
          <a:prstGeom prst="rect">
            <a:avLst/>
          </a:prstGeom>
          <a:noFill/>
        </p:spPr>
        <p:txBody>
          <a:bodyPr wrap="square" tIns="0" bIns="0" lIns="0" rIns="0">
            <a:spAutoFit/>
          </a:bodyPr>
          <a:lstStyle/>
          <a:p>
            <a:pPr>
              <a:defRPr sz="4000" b="1">
                <a:solidFill>
                  <a:srgbClr val="162639"/>
                </a:solidFill>
                <a:latin typeface="Georgia"/>
              </a:defRPr>
            </a:pPr>
            <a:r>
              <a:t>Etiology &amp; Risk Factors</a:t>
            </a:r>
          </a:p>
        </p:txBody>
      </p:sp>
      <p:sp>
        <p:nvSpPr>
          <p:cNvPr id="4" name="TextBox 3"/>
          <p:cNvSpPr txBox="1"/>
          <p:nvPr/>
        </p:nvSpPr>
        <p:spPr>
          <a:xfrm>
            <a:off x="731520" y="1645920"/>
            <a:ext cx="5486400" cy="4572000"/>
          </a:xfrm>
          <a:prstGeom prst="rect">
            <a:avLst/>
          </a:prstGeom>
          <a:noFill/>
        </p:spPr>
        <p:txBody>
          <a:bodyPr wrap="square" lIns="0" rIns="0" tIns="0" bIns="0">
            <a:spAutoFit/>
          </a:bodyPr>
          <a:lstStyle/>
          <a:p>
            <a:pPr>
              <a:spcAft>
                <a:spcPts val="400"/>
              </a:spcAft>
              <a:defRPr sz="2000">
                <a:solidFill>
                  <a:srgbClr val="3C3C3C"/>
                </a:solidFill>
                <a:latin typeface="Arial"/>
              </a:defRPr>
            </a:pPr>
            <a:r>
              <a:t>1. Age is a risk factor for osteoporosis, especially in postmeno-pausal women.</a:t>
            </a:r>
          </a:p>
          <a:p>
            <a:pPr>
              <a:spcAft>
                <a:spcPts val="400"/>
              </a:spcAft>
              <a:defRPr sz="2000">
                <a:solidFill>
                  <a:srgbClr val="3C3C3C"/>
                </a:solidFill>
                <a:latin typeface="Arial"/>
              </a:defRPr>
            </a:pPr>
            <a:r>
              <a:t>2. Gender: Women are more likely than males to acquire osteoporosis.</a:t>
            </a:r>
          </a:p>
          <a:p>
            <a:pPr>
              <a:spcAft>
                <a:spcPts val="400"/>
              </a:spcAft>
              <a:defRPr sz="2000">
                <a:solidFill>
                  <a:srgbClr val="3C3C3C"/>
                </a:solidFill>
                <a:latin typeface="Arial"/>
              </a:defRPr>
            </a:pPr>
            <a:r>
              <a:t>3. Hormonal factors: Both low testosterone levels in men and low estrogen levels during menopause contribute to bone loss.</a:t>
            </a:r>
          </a:p>
          <a:p>
            <a:pPr>
              <a:spcAft>
                <a:spcPts val="400"/>
              </a:spcAft>
              <a:defRPr sz="2000">
                <a:solidFill>
                  <a:srgbClr val="3C3C3C"/>
                </a:solidFill>
                <a:latin typeface="Arial"/>
              </a:defRPr>
            </a:pPr>
            <a:r>
              <a:t>4. The risk of osteoporosis is increased by a family history of the disease.</a:t>
            </a:r>
          </a:p>
          <a:p>
            <a:pPr>
              <a:spcAft>
                <a:spcPts val="400"/>
              </a:spcAft>
              <a:defRPr sz="2000">
                <a:solidFill>
                  <a:srgbClr val="3C3C3C"/>
                </a:solidFill>
                <a:latin typeface="Arial"/>
              </a:defRPr>
            </a:pPr>
            <a:r>
              <a:t>5. Lack of physical activity, smoking, excessive alcohol con-sumption, and inadequate calcium and vitamin D intake are all risk factors for osteoporosis.</a:t>
            </a:r>
          </a:p>
          <a:p>
            <a:pPr>
              <a:spcAft>
                <a:spcPts val="400"/>
              </a:spcAft>
              <a:defRPr sz="2000" b="1">
                <a:solidFill>
                  <a:srgbClr val="C0392B"/>
                </a:solidFill>
                <a:latin typeface="Arial"/>
              </a:defRPr>
            </a:pPr>
            <a:r>
              <a:t>6. Medical diseases and drugs (eg, RA and corticosteroids) can raise the risk of osteoporosis.</a:t>
            </a:r>
          </a:p>
        </p:txBody>
      </p:sp>
      <p:pic>
        <p:nvPicPr>
          <p:cNvPr id="5" name="Picture 4" descr="osteoporosis_spine.png"/>
          <p:cNvPicPr>
            <a:picLocks noChangeAspect="1"/>
          </p:cNvPicPr>
          <p:nvPr/>
        </p:nvPicPr>
        <p:blipFill>
          <a:blip r:embed="rId2"/>
          <a:stretch>
            <a:fillRect/>
          </a:stretch>
        </p:blipFill>
        <p:spPr>
          <a:xfrm>
            <a:off x="6492240" y="1645920"/>
            <a:ext cx="4937760" cy="448056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228600"/>
            <a:ext cx="10698480" cy="365760"/>
          </a:xfrm>
          <a:prstGeom prst="rect">
            <a:avLst/>
          </a:prstGeom>
          <a:noFill/>
        </p:spPr>
        <p:txBody>
          <a:bodyPr wrap="square" tIns="0" bIns="0" lIns="0" rIns="0">
            <a:spAutoFit/>
          </a:bodyPr>
          <a:lstStyle/>
          <a:p>
            <a:pPr>
              <a:defRPr sz="1400" b="1">
                <a:solidFill>
                  <a:srgbClr val="228B8B"/>
                </a:solidFill>
                <a:latin typeface="Arial"/>
              </a:defRPr>
            </a:pPr>
            <a:r>
              <a:t>OSTEOPOROSIS</a:t>
            </a:r>
          </a:p>
        </p:txBody>
      </p:sp>
      <p:sp>
        <p:nvSpPr>
          <p:cNvPr id="3" name="TextBox 2"/>
          <p:cNvSpPr txBox="1"/>
          <p:nvPr/>
        </p:nvSpPr>
        <p:spPr>
          <a:xfrm>
            <a:off x="731520" y="548640"/>
            <a:ext cx="10698480" cy="914400"/>
          </a:xfrm>
          <a:prstGeom prst="rect">
            <a:avLst/>
          </a:prstGeom>
          <a:noFill/>
        </p:spPr>
        <p:txBody>
          <a:bodyPr wrap="square" tIns="0" bIns="0" lIns="0" rIns="0">
            <a:spAutoFit/>
          </a:bodyPr>
          <a:lstStyle/>
          <a:p>
            <a:pPr>
              <a:defRPr sz="4000" b="1">
                <a:solidFill>
                  <a:srgbClr val="162639"/>
                </a:solidFill>
                <a:latin typeface="Georgia"/>
              </a:defRPr>
            </a:pPr>
            <a:r>
              <a:t>Pathophysiology</a:t>
            </a:r>
          </a:p>
        </p:txBody>
      </p:sp>
      <p:sp>
        <p:nvSpPr>
          <p:cNvPr id="4" name="TextBox 3"/>
          <p:cNvSpPr txBox="1"/>
          <p:nvPr/>
        </p:nvSpPr>
        <p:spPr>
          <a:xfrm>
            <a:off x="731520" y="1645920"/>
            <a:ext cx="5486400" cy="4572000"/>
          </a:xfrm>
          <a:prstGeom prst="rect">
            <a:avLst/>
          </a:prstGeom>
          <a:noFill/>
        </p:spPr>
        <p:txBody>
          <a:bodyPr wrap="square" lIns="0" rIns="0" tIns="0" bIns="0">
            <a:spAutoFit/>
          </a:bodyPr>
          <a:lstStyle/>
          <a:p>
            <a:pPr>
              <a:spcAft>
                <a:spcPts val="400"/>
              </a:spcAft>
              <a:defRPr sz="2000">
                <a:solidFill>
                  <a:srgbClr val="3C3C3C"/>
                </a:solidFill>
                <a:latin typeface="Arial"/>
              </a:defRPr>
            </a:pPr>
            <a:r>
              <a:t>1. Bone remodeling: Bones are constantly remodeling, in which old bone is broken down and replaced by new bone tissue.</a:t>
            </a:r>
          </a:p>
          <a:p>
            <a:pPr>
              <a:spcAft>
                <a:spcPts val="400"/>
              </a:spcAft>
              <a:defRPr sz="2000">
                <a:solidFill>
                  <a:srgbClr val="3C3C3C"/>
                </a:solidFill>
                <a:latin typeface="Arial"/>
              </a:defRPr>
            </a:pPr>
            <a:r>
              <a:t>2. Remodeling imbalance: There is an imbalance between bone resorption (breakdown) and bone production in osteoporosis, resulting in a net loss of bone mass.</a:t>
            </a:r>
          </a:p>
          <a:p>
            <a:pPr>
              <a:spcAft>
                <a:spcPts val="400"/>
              </a:spcAft>
              <a:defRPr sz="2000" b="1">
                <a:solidFill>
                  <a:srgbClr val="C0392B"/>
                </a:solidFill>
                <a:latin typeface="Arial"/>
              </a:defRPr>
            </a:pPr>
            <a:r>
              <a:t>3. Increased bone resorption: Osteoclast activity is increased, resulting in excessive bone resorption.</a:t>
            </a:r>
          </a:p>
          <a:p>
            <a:pPr>
              <a:spcAft>
                <a:spcPts val="400"/>
              </a:spcAft>
              <a:defRPr sz="2000">
                <a:solidFill>
                  <a:srgbClr val="3C3C3C"/>
                </a:solidFill>
                <a:latin typeface="Arial"/>
              </a:defRPr>
            </a:pPr>
            <a:r>
              <a:t>4. Reduced bone production: Osteoblasts, which are responsible for bone production, are unable to successfully manufacture new bone tissue.</a:t>
            </a:r>
          </a:p>
          <a:p>
            <a:pPr>
              <a:spcAft>
                <a:spcPts val="400"/>
              </a:spcAft>
              <a:defRPr sz="2000">
                <a:solidFill>
                  <a:srgbClr val="3C3C3C"/>
                </a:solidFill>
                <a:latin typeface="Arial"/>
              </a:defRPr>
            </a:pPr>
            <a:r>
              <a:t>5. As a result of the microarchitectural changes, the bone becomes porous, fragile, and prone to fractures.</a:t>
            </a:r>
          </a:p>
        </p:txBody>
      </p:sp>
      <p:pic>
        <p:nvPicPr>
          <p:cNvPr id="5" name="Picture 4" descr="bone_remodeling.png"/>
          <p:cNvPicPr>
            <a:picLocks noChangeAspect="1"/>
          </p:cNvPicPr>
          <p:nvPr/>
        </p:nvPicPr>
        <p:blipFill>
          <a:blip r:embed="rId2"/>
          <a:stretch>
            <a:fillRect/>
          </a:stretch>
        </p:blipFill>
        <p:spPr>
          <a:xfrm>
            <a:off x="6492240" y="1645920"/>
            <a:ext cx="4937760" cy="448056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228600"/>
            <a:ext cx="10698480" cy="365760"/>
          </a:xfrm>
          <a:prstGeom prst="rect">
            <a:avLst/>
          </a:prstGeom>
          <a:noFill/>
        </p:spPr>
        <p:txBody>
          <a:bodyPr wrap="square" tIns="0" bIns="0" lIns="0" rIns="0">
            <a:spAutoFit/>
          </a:bodyPr>
          <a:lstStyle/>
          <a:p>
            <a:pPr>
              <a:defRPr sz="1400" b="1">
                <a:solidFill>
                  <a:srgbClr val="228B8B"/>
                </a:solidFill>
                <a:latin typeface="Arial"/>
              </a:defRPr>
            </a:pPr>
            <a:r>
              <a:t>OSTEOPOROSIS</a:t>
            </a:r>
          </a:p>
        </p:txBody>
      </p:sp>
      <p:sp>
        <p:nvSpPr>
          <p:cNvPr id="3" name="TextBox 2"/>
          <p:cNvSpPr txBox="1"/>
          <p:nvPr/>
        </p:nvSpPr>
        <p:spPr>
          <a:xfrm>
            <a:off x="731520" y="548640"/>
            <a:ext cx="10698480" cy="914400"/>
          </a:xfrm>
          <a:prstGeom prst="rect">
            <a:avLst/>
          </a:prstGeom>
          <a:noFill/>
        </p:spPr>
        <p:txBody>
          <a:bodyPr wrap="square" tIns="0" bIns="0" lIns="0" rIns="0">
            <a:spAutoFit/>
          </a:bodyPr>
          <a:lstStyle/>
          <a:p>
            <a:pPr>
              <a:defRPr sz="4000" b="1">
                <a:solidFill>
                  <a:srgbClr val="162639"/>
                </a:solidFill>
                <a:latin typeface="Georgia"/>
              </a:defRPr>
            </a:pPr>
            <a:r>
              <a:t>Clinical Manifestations</a:t>
            </a:r>
          </a:p>
        </p:txBody>
      </p:sp>
      <p:sp>
        <p:nvSpPr>
          <p:cNvPr id="4" name="TextBox 3"/>
          <p:cNvSpPr txBox="1"/>
          <p:nvPr/>
        </p:nvSpPr>
        <p:spPr>
          <a:xfrm>
            <a:off x="731520" y="1645920"/>
            <a:ext cx="5486400" cy="4572000"/>
          </a:xfrm>
          <a:prstGeom prst="rect">
            <a:avLst/>
          </a:prstGeom>
          <a:noFill/>
        </p:spPr>
        <p:txBody>
          <a:bodyPr wrap="square" lIns="0" rIns="0" tIns="0" bIns="0">
            <a:spAutoFit/>
          </a:bodyPr>
          <a:lstStyle/>
          <a:p>
            <a:pPr>
              <a:spcAft>
                <a:spcPts val="600"/>
              </a:spcAft>
              <a:defRPr sz="2400" b="1">
                <a:solidFill>
                  <a:srgbClr val="C0392B"/>
                </a:solidFill>
                <a:latin typeface="Arial"/>
              </a:defRPr>
            </a:pPr>
            <a:r>
              <a:t>1. Osteoporosis is frequently asymptomatic until a fracture occurs. Fractures are most typically found in the spine, hip, and wrist, although they can also occur in other bones.</a:t>
            </a:r>
          </a:p>
          <a:p>
            <a:pPr>
              <a:spcAft>
                <a:spcPts val="600"/>
              </a:spcAft>
              <a:defRPr sz="2400">
                <a:solidFill>
                  <a:srgbClr val="3C3C3C"/>
                </a:solidFill>
                <a:latin typeface="Arial"/>
              </a:defRPr>
            </a:pPr>
            <a:r>
              <a:t>2. Gradual decrease of height caused by spinal compression fractures.</a:t>
            </a:r>
          </a:p>
          <a:p>
            <a:pPr>
              <a:spcAft>
                <a:spcPts val="600"/>
              </a:spcAft>
              <a:defRPr sz="2400">
                <a:solidFill>
                  <a:srgbClr val="3C3C3C"/>
                </a:solidFill>
                <a:latin typeface="Arial"/>
              </a:defRPr>
            </a:pPr>
            <a:r>
              <a:t>3. Chronic back pain: Spinal fractures can cause chronic back pain.</a:t>
            </a:r>
          </a:p>
          <a:p>
            <a:pPr>
              <a:spcAft>
                <a:spcPts val="600"/>
              </a:spcAft>
              <a:defRPr sz="2400" b="1">
                <a:solidFill>
                  <a:srgbClr val="C0392B"/>
                </a:solidFill>
                <a:latin typeface="Arial"/>
              </a:defRPr>
            </a:pPr>
            <a:r>
              <a:t>4. Vertebral fractures can result in a forward curve of the spine (kyphosis) and a stooped posture.</a:t>
            </a:r>
          </a:p>
        </p:txBody>
      </p:sp>
      <p:pic>
        <p:nvPicPr>
          <p:cNvPr id="5" name="Picture 4" descr="osteoporosis_spine.png"/>
          <p:cNvPicPr>
            <a:picLocks noChangeAspect="1"/>
          </p:cNvPicPr>
          <p:nvPr/>
        </p:nvPicPr>
        <p:blipFill>
          <a:blip r:embed="rId2"/>
          <a:stretch>
            <a:fillRect/>
          </a:stretch>
        </p:blipFill>
        <p:spPr>
          <a:xfrm>
            <a:off x="6492240" y="1645920"/>
            <a:ext cx="4937760" cy="448056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228600"/>
            <a:ext cx="10698480" cy="365760"/>
          </a:xfrm>
          <a:prstGeom prst="rect">
            <a:avLst/>
          </a:prstGeom>
          <a:noFill/>
        </p:spPr>
        <p:txBody>
          <a:bodyPr wrap="square" tIns="0" bIns="0" lIns="0" rIns="0">
            <a:spAutoFit/>
          </a:bodyPr>
          <a:lstStyle/>
          <a:p>
            <a:pPr>
              <a:defRPr sz="1400" b="1">
                <a:solidFill>
                  <a:srgbClr val="228B8B"/>
                </a:solidFill>
                <a:latin typeface="Arial"/>
              </a:defRPr>
            </a:pPr>
            <a:r>
              <a:t>OSTEOPOROSIS</a:t>
            </a:r>
          </a:p>
        </p:txBody>
      </p:sp>
      <p:sp>
        <p:nvSpPr>
          <p:cNvPr id="3" name="TextBox 2"/>
          <p:cNvSpPr txBox="1"/>
          <p:nvPr/>
        </p:nvSpPr>
        <p:spPr>
          <a:xfrm>
            <a:off x="731520" y="548640"/>
            <a:ext cx="10698480" cy="914400"/>
          </a:xfrm>
          <a:prstGeom prst="rect">
            <a:avLst/>
          </a:prstGeom>
          <a:noFill/>
        </p:spPr>
        <p:txBody>
          <a:bodyPr wrap="square" tIns="0" bIns="0" lIns="0" rIns="0">
            <a:spAutoFit/>
          </a:bodyPr>
          <a:lstStyle/>
          <a:p>
            <a:pPr>
              <a:defRPr sz="4000" b="1">
                <a:solidFill>
                  <a:srgbClr val="162639"/>
                </a:solidFill>
                <a:latin typeface="Georgia"/>
              </a:defRPr>
            </a:pPr>
            <a:r>
              <a:t>Diagnostic Tests</a:t>
            </a:r>
          </a:p>
        </p:txBody>
      </p:sp>
      <p:sp>
        <p:nvSpPr>
          <p:cNvPr id="4" name="TextBox 3"/>
          <p:cNvSpPr txBox="1"/>
          <p:nvPr/>
        </p:nvSpPr>
        <p:spPr>
          <a:xfrm>
            <a:off x="731520" y="1645920"/>
            <a:ext cx="5486400" cy="4572000"/>
          </a:xfrm>
          <a:prstGeom prst="rect">
            <a:avLst/>
          </a:prstGeom>
          <a:noFill/>
        </p:spPr>
        <p:txBody>
          <a:bodyPr wrap="square" lIns="0" rIns="0" tIns="0" bIns="0">
            <a:spAutoFit/>
          </a:bodyPr>
          <a:lstStyle/>
          <a:p>
            <a:pPr>
              <a:spcAft>
                <a:spcPts val="600"/>
              </a:spcAft>
              <a:defRPr sz="2400" b="1">
                <a:solidFill>
                  <a:srgbClr val="C0392B"/>
                </a:solidFill>
                <a:latin typeface="Arial"/>
              </a:defRPr>
            </a:pPr>
            <a:r>
              <a:t>1. DXA analyzes bone mineral density (BMD) and helps diag-Pro osteoporosis and assess fracture risk.</a:t>
            </a:r>
          </a:p>
          <a:p>
            <a:pPr>
              <a:spcAft>
                <a:spcPts val="600"/>
              </a:spcAft>
              <a:defRPr sz="2400">
                <a:solidFill>
                  <a:srgbClr val="3C3C3C"/>
                </a:solidFill>
                <a:latin typeface="Arial"/>
              </a:defRPr>
            </a:pPr>
            <a:r>
              <a:t>2. Fracture risk assessment: Tools such as FRAX quantify the likelihood of a major osteoporotic fracture during a given time period based on a variety of risk variables.</a:t>
            </a:r>
          </a:p>
          <a:p>
            <a:pPr>
              <a:spcAft>
                <a:spcPts val="600"/>
              </a:spcAft>
              <a:defRPr sz="2400">
                <a:solidFill>
                  <a:srgbClr val="3C3C3C"/>
                </a:solidFill>
                <a:latin typeface="Arial"/>
              </a:defRPr>
            </a:pPr>
            <a:r>
              <a:t>3. Blood tests can analyze calcium and vitamin D levels, as well as underlying medical disorders that contribute to osteoporosis.</a:t>
            </a:r>
          </a:p>
        </p:txBody>
      </p:sp>
      <p:pic>
        <p:nvPicPr>
          <p:cNvPr id="5" name="Picture 4" descr="osteoporosis_bone.png"/>
          <p:cNvPicPr>
            <a:picLocks noChangeAspect="1"/>
          </p:cNvPicPr>
          <p:nvPr/>
        </p:nvPicPr>
        <p:blipFill>
          <a:blip r:embed="rId2"/>
          <a:stretch>
            <a:fillRect/>
          </a:stretch>
        </p:blipFill>
        <p:spPr>
          <a:xfrm>
            <a:off x="6492240" y="1645920"/>
            <a:ext cx="4937760" cy="448056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228600"/>
            <a:ext cx="10698480" cy="365760"/>
          </a:xfrm>
          <a:prstGeom prst="rect">
            <a:avLst/>
          </a:prstGeom>
          <a:noFill/>
        </p:spPr>
        <p:txBody>
          <a:bodyPr wrap="square" tIns="0" bIns="0" lIns="0" rIns="0">
            <a:spAutoFit/>
          </a:bodyPr>
          <a:lstStyle/>
          <a:p>
            <a:pPr>
              <a:defRPr sz="1400" b="1">
                <a:solidFill>
                  <a:srgbClr val="228B8B"/>
                </a:solidFill>
                <a:latin typeface="Arial"/>
              </a:defRPr>
            </a:pPr>
            <a:r>
              <a:t>OSTEOPOROSIS</a:t>
            </a:r>
          </a:p>
        </p:txBody>
      </p:sp>
      <p:sp>
        <p:nvSpPr>
          <p:cNvPr id="3" name="TextBox 2"/>
          <p:cNvSpPr txBox="1"/>
          <p:nvPr/>
        </p:nvSpPr>
        <p:spPr>
          <a:xfrm>
            <a:off x="731520" y="548640"/>
            <a:ext cx="10698480" cy="914400"/>
          </a:xfrm>
          <a:prstGeom prst="rect">
            <a:avLst/>
          </a:prstGeom>
          <a:noFill/>
        </p:spPr>
        <p:txBody>
          <a:bodyPr wrap="square" tIns="0" bIns="0" lIns="0" rIns="0">
            <a:spAutoFit/>
          </a:bodyPr>
          <a:lstStyle/>
          <a:p>
            <a:pPr>
              <a:defRPr sz="4000" b="1">
                <a:solidFill>
                  <a:srgbClr val="162639"/>
                </a:solidFill>
                <a:latin typeface="Georgia"/>
              </a:defRPr>
            </a:pPr>
            <a:r>
              <a:t>Medical &amp; Surgical Management</a:t>
            </a:r>
          </a:p>
        </p:txBody>
      </p:sp>
      <p:sp>
        <p:nvSpPr>
          <p:cNvPr id="4" name="TextBox 3"/>
          <p:cNvSpPr txBox="1"/>
          <p:nvPr/>
        </p:nvSpPr>
        <p:spPr>
          <a:xfrm>
            <a:off x="731520" y="1645920"/>
            <a:ext cx="5486400" cy="4572000"/>
          </a:xfrm>
          <a:prstGeom prst="rect">
            <a:avLst/>
          </a:prstGeom>
          <a:noFill/>
        </p:spPr>
        <p:txBody>
          <a:bodyPr wrap="square" lIns="0" rIns="0" tIns="0" bIns="0">
            <a:spAutoFit/>
          </a:bodyPr>
          <a:lstStyle/>
          <a:p>
            <a:pPr>
              <a:spcAft>
                <a:spcPts val="400"/>
              </a:spcAft>
              <a:defRPr sz="2000" b="1">
                <a:solidFill>
                  <a:srgbClr val="162639"/>
                </a:solidFill>
                <a:latin typeface="Arial"/>
              </a:defRPr>
            </a:pPr>
            <a:r>
              <a:t>Medical Management:</a:t>
            </a:r>
          </a:p>
          <a:p>
            <a:pPr lvl="1">
              <a:spcAft>
                <a:spcPts val="400"/>
              </a:spcAft>
              <a:defRPr sz="1600">
                <a:solidFill>
                  <a:srgbClr val="3C3C3C"/>
                </a:solidFill>
                <a:latin typeface="Arial"/>
              </a:defRPr>
            </a:pPr>
            <a:r>
              <a:t>- 1. Encourage regular weight-bearing exercise, a balanced diet rich in calcium and vitamin D, and abstinence from smoking and excessive alcohol consumption.</a:t>
            </a:r>
          </a:p>
          <a:p>
            <a:pPr lvl="1">
              <a:spcAft>
                <a:spcPts val="400"/>
              </a:spcAft>
              <a:defRPr sz="1600">
                <a:solidFill>
                  <a:srgbClr val="3C3C3C"/>
                </a:solidFill>
                <a:latin typeface="Arial"/>
              </a:defRPr>
            </a:pPr>
            <a:r>
              <a:t>- 2. To prevent bone loss, raise bone density, and minimize fracture risk; medications such as bisphosphonates, selective estrogen receptor modulators (SERMs), denosumab, teri-paratide, or abaloparatide may be administered.</a:t>
            </a:r>
          </a:p>
          <a:p>
            <a:pPr lvl="1">
              <a:spcAft>
                <a:spcPts val="400"/>
              </a:spcAft>
              <a:defRPr sz="1600">
                <a:solidFill>
                  <a:srgbClr val="3C3C3C"/>
                </a:solidFill>
                <a:latin typeface="Arial"/>
              </a:defRPr>
            </a:pPr>
            <a:r>
              <a:t>- 3. Fall prevention: Implement fall prevention measures such as home safety modifications and balance exercises.</a:t>
            </a:r>
          </a:p>
          <a:p>
            <a:pPr>
              <a:spcAft>
                <a:spcPts val="400"/>
              </a:spcAft>
              <a:defRPr sz="2000" b="1">
                <a:solidFill>
                  <a:srgbClr val="C0392B"/>
                </a:solidFill>
                <a:latin typeface="Arial"/>
              </a:defRPr>
            </a:pPr>
            <a:r>
              <a:t>Surgical Management:</a:t>
            </a:r>
          </a:p>
          <a:p>
            <a:pPr lvl="1">
              <a:spcAft>
                <a:spcPts val="400"/>
              </a:spcAft>
              <a:defRPr sz="1600">
                <a:solidFill>
                  <a:srgbClr val="3C3C3C"/>
                </a:solidFill>
                <a:latin typeface="Arial"/>
              </a:defRPr>
            </a:pPr>
            <a:r>
              <a:t>- 1. Vertebroplasty and kyphoplasty are procedures that use cement or inflatable balloons to fix spine fractures.</a:t>
            </a:r>
          </a:p>
          <a:p>
            <a:pPr lvl="1">
              <a:spcAft>
                <a:spcPts val="400"/>
              </a:spcAft>
              <a:defRPr sz="1600">
                <a:solidFill>
                  <a:srgbClr val="3C3C3C"/>
                </a:solidFill>
                <a:latin typeface="Arial"/>
              </a:defRPr>
            </a:pPr>
            <a:r>
              <a:t>- 2. Joint replacement surgery: Joint replacement surgery may be considered if osteoporosis-related fractures severely impair the hip or knee joints.</a:t>
            </a:r>
          </a:p>
        </p:txBody>
      </p:sp>
      <p:pic>
        <p:nvPicPr>
          <p:cNvPr id="5" name="Picture 4" descr="metabolic_bone_overview.png"/>
          <p:cNvPicPr>
            <a:picLocks noChangeAspect="1"/>
          </p:cNvPicPr>
          <p:nvPr/>
        </p:nvPicPr>
        <p:blipFill>
          <a:blip r:embed="rId2"/>
          <a:stretch>
            <a:fillRect/>
          </a:stretch>
        </p:blipFill>
        <p:spPr>
          <a:xfrm>
            <a:off x="6492240" y="1645920"/>
            <a:ext cx="4937760" cy="448056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228600"/>
            <a:ext cx="10698480" cy="365760"/>
          </a:xfrm>
          <a:prstGeom prst="rect">
            <a:avLst/>
          </a:prstGeom>
          <a:noFill/>
        </p:spPr>
        <p:txBody>
          <a:bodyPr wrap="square" tIns="0" bIns="0" lIns="0" rIns="0">
            <a:spAutoFit/>
          </a:bodyPr>
          <a:lstStyle/>
          <a:p>
            <a:pPr>
              <a:defRPr sz="1400" b="1">
                <a:solidFill>
                  <a:srgbClr val="228B8B"/>
                </a:solidFill>
                <a:latin typeface="Arial"/>
              </a:defRPr>
            </a:pPr>
            <a:r>
              <a:t>OSTEOPOROSIS: NURSING</a:t>
            </a:r>
          </a:p>
        </p:txBody>
      </p:sp>
      <p:sp>
        <p:nvSpPr>
          <p:cNvPr id="3" name="TextBox 2"/>
          <p:cNvSpPr txBox="1"/>
          <p:nvPr/>
        </p:nvSpPr>
        <p:spPr>
          <a:xfrm>
            <a:off x="731520" y="548640"/>
            <a:ext cx="10698480" cy="914400"/>
          </a:xfrm>
          <a:prstGeom prst="rect">
            <a:avLst/>
          </a:prstGeom>
          <a:noFill/>
        </p:spPr>
        <p:txBody>
          <a:bodyPr wrap="square" tIns="0" bIns="0" lIns="0" rIns="0">
            <a:spAutoFit/>
          </a:bodyPr>
          <a:lstStyle/>
          <a:p>
            <a:pPr>
              <a:defRPr sz="4000" b="1">
                <a:solidFill>
                  <a:srgbClr val="162639"/>
                </a:solidFill>
                <a:latin typeface="Georgia"/>
              </a:defRPr>
            </a:pPr>
            <a:r>
              <a:t>Education &amp; Nutritional Support</a:t>
            </a:r>
          </a:p>
        </p:txBody>
      </p:sp>
      <p:sp>
        <p:nvSpPr>
          <p:cNvPr id="4" name="TextBox 3"/>
          <p:cNvSpPr txBox="1"/>
          <p:nvPr/>
        </p:nvSpPr>
        <p:spPr>
          <a:xfrm>
            <a:off x="731520" y="1645920"/>
            <a:ext cx="5486400" cy="4572000"/>
          </a:xfrm>
          <a:prstGeom prst="rect">
            <a:avLst/>
          </a:prstGeom>
          <a:noFill/>
        </p:spPr>
        <p:txBody>
          <a:bodyPr wrap="square" lIns="0" rIns="0" tIns="0" bIns="0">
            <a:spAutoFit/>
          </a:bodyPr>
          <a:lstStyle/>
          <a:p>
            <a:pPr>
              <a:spcAft>
                <a:spcPts val="400"/>
              </a:spcAft>
              <a:defRPr sz="2000" b="1">
                <a:solidFill>
                  <a:srgbClr val="162639"/>
                </a:solidFill>
                <a:latin typeface="Arial"/>
              </a:defRPr>
            </a:pPr>
            <a:r>
              <a:t>Education:</a:t>
            </a:r>
          </a:p>
          <a:p>
            <a:pPr lvl="1">
              <a:spcAft>
                <a:spcPts val="400"/>
              </a:spcAft>
              <a:defRPr sz="1600">
                <a:solidFill>
                  <a:srgbClr val="3C3C3C"/>
                </a:solidFill>
                <a:latin typeface="Arial"/>
              </a:defRPr>
            </a:pPr>
            <a:r>
              <a:t>- 1. Provide comprehensive education about osteoporosis, including its causes, risk factors, prevention strategies, and management.</a:t>
            </a:r>
          </a:p>
          <a:p>
            <a:pPr lvl="1">
              <a:spcAft>
                <a:spcPts val="400"/>
              </a:spcAft>
              <a:defRPr sz="1600">
                <a:solidFill>
                  <a:srgbClr val="3C3C3C"/>
                </a:solidFill>
                <a:latin typeface="Arial"/>
              </a:defRPr>
            </a:pPr>
            <a:r>
              <a:t>- 2. Teach patients the benefits of a calcium- and vitamin D-rich diet for bone health.</a:t>
            </a:r>
          </a:p>
          <a:p>
            <a:pPr lvl="1">
              <a:spcAft>
                <a:spcPts val="400"/>
              </a:spcAft>
              <a:defRPr sz="1600">
                <a:solidFill>
                  <a:srgbClr val="3C3C3C"/>
                </a:solidFill>
                <a:latin typeface="Arial"/>
              </a:defRPr>
            </a:pPr>
            <a:r>
              <a:t>- 3. Patients should be educated on weight-bearing activities, bal-ance exercises, and fall prevention measures.</a:t>
            </a:r>
          </a:p>
          <a:p>
            <a:pPr lvl="1">
              <a:spcAft>
                <a:spcPts val="400"/>
              </a:spcAft>
              <a:defRPr sz="1600" b="1">
                <a:solidFill>
                  <a:srgbClr val="C0392B"/>
                </a:solidFill>
                <a:latin typeface="Arial"/>
              </a:defRPr>
            </a:pPr>
            <a:r>
              <a:t>- 4. Stress the need of drug adherence as well as the potential side effects of osteoporosis treatments.</a:t>
            </a:r>
          </a:p>
          <a:p>
            <a:pPr lvl="1">
              <a:spcAft>
                <a:spcPts val="400"/>
              </a:spcAft>
              <a:defRPr sz="1600">
                <a:solidFill>
                  <a:srgbClr val="3C3C3C"/>
                </a:solidFill>
                <a:latin typeface="Arial"/>
              </a:defRPr>
            </a:pPr>
            <a:r>
              <a:t>- 5. Provide resources for osteoporosis support groups, educa-tional materials, and community events.</a:t>
            </a:r>
          </a:p>
          <a:p>
            <a:pPr>
              <a:spcAft>
                <a:spcPts val="400"/>
              </a:spcAft>
              <a:defRPr sz="2000" b="1">
                <a:solidFill>
                  <a:srgbClr val="C0392B"/>
                </a:solidFill>
                <a:latin typeface="Arial"/>
              </a:defRPr>
            </a:pPr>
            <a:r>
              <a:t>Nutritional Support:</a:t>
            </a:r>
          </a:p>
          <a:p>
            <a:pPr lvl="1">
              <a:spcAft>
                <a:spcPts val="400"/>
              </a:spcAft>
              <a:defRPr sz="1600">
                <a:solidFill>
                  <a:srgbClr val="3C3C3C"/>
                </a:solidFill>
                <a:latin typeface="Arial"/>
              </a:defRPr>
            </a:pPr>
            <a:r>
              <a:t>- 1. Work with dietitians to create a specific diet plan that focuses on calcium- and vitamin D-rich foods.</a:t>
            </a:r>
          </a:p>
          <a:p>
            <a:pPr lvl="1">
              <a:spcAft>
                <a:spcPts val="400"/>
              </a:spcAft>
              <a:defRPr sz="1600">
                <a:solidFill>
                  <a:srgbClr val="3C3C3C"/>
                </a:solidFill>
                <a:latin typeface="Arial"/>
              </a:defRPr>
            </a:pPr>
            <a:r>
              <a:t>- 2. Educate patients on calcium-rich foods such as dairy prod-ucts, leafy green vegetables, and fortified meals.</a:t>
            </a:r>
          </a:p>
          <a:p>
            <a:pPr lvl="1">
              <a:spcAft>
                <a:spcPts val="400"/>
              </a:spcAft>
              <a:defRPr sz="1600">
                <a:solidFill>
                  <a:srgbClr val="3C3C3C"/>
                </a:solidFill>
                <a:latin typeface="Arial"/>
              </a:defRPr>
            </a:pPr>
            <a:r>
              <a:t>- 3. Discuss how vitamin D and sunshine exposure affect calcium absorption.</a:t>
            </a:r>
          </a:p>
          <a:p>
            <a:pPr lvl="1">
              <a:spcAft>
                <a:spcPts val="400"/>
              </a:spcAft>
              <a:defRPr sz="1600">
                <a:solidFill>
                  <a:srgbClr val="3C3C3C"/>
                </a:solidFill>
                <a:latin typeface="Arial"/>
              </a:defRPr>
            </a:pPr>
            <a:r>
              <a:t>- 4. Assess patients' nutritional condition and, if necessary, sug-gest for supplementation.</a:t>
            </a:r>
          </a:p>
        </p:txBody>
      </p:sp>
      <p:pic>
        <p:nvPicPr>
          <p:cNvPr id="5" name="Picture 4" descr="nursing_care_icon.png"/>
          <p:cNvPicPr>
            <a:picLocks noChangeAspect="1"/>
          </p:cNvPicPr>
          <p:nvPr/>
        </p:nvPicPr>
        <p:blipFill>
          <a:blip r:embed="rId2"/>
          <a:stretch>
            <a:fillRect/>
          </a:stretch>
        </p:blipFill>
        <p:spPr>
          <a:xfrm>
            <a:off x="6492240" y="1645920"/>
            <a:ext cx="4937760" cy="448056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228600"/>
            <a:ext cx="10698480" cy="365760"/>
          </a:xfrm>
          <a:prstGeom prst="rect">
            <a:avLst/>
          </a:prstGeom>
          <a:noFill/>
        </p:spPr>
        <p:txBody>
          <a:bodyPr wrap="square" tIns="0" bIns="0" lIns="0" rIns="0">
            <a:spAutoFit/>
          </a:bodyPr>
          <a:lstStyle/>
          <a:p>
            <a:pPr>
              <a:defRPr sz="1400" b="1">
                <a:solidFill>
                  <a:srgbClr val="228B8B"/>
                </a:solidFill>
                <a:latin typeface="Arial"/>
              </a:defRPr>
            </a:pPr>
            <a:r>
              <a:t>OSTEOPOROSIS: NURSING</a:t>
            </a:r>
          </a:p>
        </p:txBody>
      </p:sp>
      <p:sp>
        <p:nvSpPr>
          <p:cNvPr id="3" name="TextBox 2"/>
          <p:cNvSpPr txBox="1"/>
          <p:nvPr/>
        </p:nvSpPr>
        <p:spPr>
          <a:xfrm>
            <a:off x="731520" y="548640"/>
            <a:ext cx="10698480" cy="914400"/>
          </a:xfrm>
          <a:prstGeom prst="rect">
            <a:avLst/>
          </a:prstGeom>
          <a:noFill/>
        </p:spPr>
        <p:txBody>
          <a:bodyPr wrap="square" tIns="0" bIns="0" lIns="0" rIns="0">
            <a:spAutoFit/>
          </a:bodyPr>
          <a:lstStyle/>
          <a:p>
            <a:pPr>
              <a:defRPr sz="4000" b="1">
                <a:solidFill>
                  <a:srgbClr val="162639"/>
                </a:solidFill>
                <a:latin typeface="Georgia"/>
              </a:defRPr>
            </a:pPr>
            <a:r>
              <a:t>Exercise Promotion</a:t>
            </a:r>
          </a:p>
        </p:txBody>
      </p:sp>
      <p:sp>
        <p:nvSpPr>
          <p:cNvPr id="4" name="TextBox 3"/>
          <p:cNvSpPr txBox="1"/>
          <p:nvPr/>
        </p:nvSpPr>
        <p:spPr>
          <a:xfrm>
            <a:off x="731520" y="1645920"/>
            <a:ext cx="5486400" cy="4572000"/>
          </a:xfrm>
          <a:prstGeom prst="rect">
            <a:avLst/>
          </a:prstGeom>
          <a:noFill/>
        </p:spPr>
        <p:txBody>
          <a:bodyPr wrap="square" lIns="0" rIns="0" tIns="0" bIns="0">
            <a:spAutoFit/>
          </a:bodyPr>
          <a:lstStyle/>
          <a:p>
            <a:pPr>
              <a:spcAft>
                <a:spcPts val="400"/>
              </a:spcAft>
              <a:defRPr sz="2000" b="1">
                <a:solidFill>
                  <a:srgbClr val="162639"/>
                </a:solidFill>
                <a:latin typeface="Arial"/>
              </a:defRPr>
            </a:pPr>
            <a:r>
              <a:t>Exercise:</a:t>
            </a:r>
          </a:p>
          <a:p>
            <a:pPr lvl="1">
              <a:spcAft>
                <a:spcPts val="400"/>
              </a:spcAft>
              <a:defRPr sz="1600">
                <a:solidFill>
                  <a:srgbClr val="3C3C3C"/>
                </a:solidFill>
                <a:latin typeface="Arial"/>
              </a:defRPr>
            </a:pPr>
            <a:r>
              <a:t>- 1. Encourage patients to participate in weight-bearing exercises such as walking, dancing, or stair climbing to enhance bone strength.</a:t>
            </a:r>
          </a:p>
          <a:p>
            <a:pPr lvl="1">
              <a:spcAft>
                <a:spcPts val="400"/>
              </a:spcAft>
              <a:defRPr sz="1600">
                <a:solidFill>
                  <a:srgbClr val="3C3C3C"/>
                </a:solidFill>
                <a:latin typeface="Arial"/>
              </a:defRPr>
            </a:pPr>
            <a:r>
              <a:t>- 2. Give instructions on suitable exercise practices, as well as the frequency and duration of exercise sessions.</a:t>
            </a:r>
          </a:p>
          <a:p>
            <a:pPr lvl="1">
              <a:spcAft>
                <a:spcPts val="400"/>
              </a:spcAft>
              <a:defRPr sz="1600">
                <a:solidFill>
                  <a:srgbClr val="3C3C3C"/>
                </a:solidFill>
                <a:latin typeface="Arial"/>
              </a:defRPr>
            </a:pPr>
            <a:r>
              <a:t>- 3. Collaborate with physical therapists to create tailored exer-cise programs depending on the talents and limitations of the patients.</a:t>
            </a:r>
          </a:p>
          <a:p>
            <a:pPr lvl="1">
              <a:spcAft>
                <a:spcPts val="400"/>
              </a:spcAft>
              <a:defRPr sz="1600" b="1">
                <a:solidFill>
                  <a:srgbClr val="C0392B"/>
                </a:solidFill>
                <a:latin typeface="Arial"/>
              </a:defRPr>
            </a:pPr>
            <a:r>
              <a:t>- 4. Stress the need for regular physical activity in maintaining bone health and preventing falls.</a:t>
            </a:r>
          </a:p>
        </p:txBody>
      </p:sp>
      <p:pic>
        <p:nvPicPr>
          <p:cNvPr id="5" name="Picture 4" descr="osteoporosis_spine.png"/>
          <p:cNvPicPr>
            <a:picLocks noChangeAspect="1"/>
          </p:cNvPicPr>
          <p:nvPr/>
        </p:nvPicPr>
        <p:blipFill>
          <a:blip r:embed="rId2"/>
          <a:stretch>
            <a:fillRect/>
          </a:stretch>
        </p:blipFill>
        <p:spPr>
          <a:xfrm>
            <a:off x="6492240" y="1645920"/>
            <a:ext cx="4937760" cy="448056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228600"/>
            <a:ext cx="10698480" cy="365760"/>
          </a:xfrm>
          <a:prstGeom prst="rect">
            <a:avLst/>
          </a:prstGeom>
          <a:noFill/>
        </p:spPr>
        <p:txBody>
          <a:bodyPr wrap="square" tIns="0" bIns="0" lIns="0" rIns="0">
            <a:spAutoFit/>
          </a:bodyPr>
          <a:lstStyle/>
          <a:p>
            <a:pPr>
              <a:defRPr sz="1400" b="1">
                <a:solidFill>
                  <a:srgbClr val="228B8B"/>
                </a:solidFill>
                <a:latin typeface="Arial"/>
              </a:defRPr>
            </a:pPr>
            <a:r>
              <a:t>OSTEOPOROSIS: NURSING</a:t>
            </a:r>
          </a:p>
        </p:txBody>
      </p:sp>
      <p:sp>
        <p:nvSpPr>
          <p:cNvPr id="3" name="TextBox 2"/>
          <p:cNvSpPr txBox="1"/>
          <p:nvPr/>
        </p:nvSpPr>
        <p:spPr>
          <a:xfrm>
            <a:off x="731520" y="548640"/>
            <a:ext cx="10698480" cy="914400"/>
          </a:xfrm>
          <a:prstGeom prst="rect">
            <a:avLst/>
          </a:prstGeom>
          <a:noFill/>
        </p:spPr>
        <p:txBody>
          <a:bodyPr wrap="square" tIns="0" bIns="0" lIns="0" rIns="0">
            <a:spAutoFit/>
          </a:bodyPr>
          <a:lstStyle/>
          <a:p>
            <a:pPr>
              <a:defRPr sz="4000" b="1">
                <a:solidFill>
                  <a:srgbClr val="162639"/>
                </a:solidFill>
                <a:latin typeface="Georgia"/>
              </a:defRPr>
            </a:pPr>
            <a:r>
              <a:t>Fall &amp; Medication Management</a:t>
            </a:r>
          </a:p>
        </p:txBody>
      </p:sp>
      <p:sp>
        <p:nvSpPr>
          <p:cNvPr id="4" name="TextBox 3"/>
          <p:cNvSpPr txBox="1"/>
          <p:nvPr/>
        </p:nvSpPr>
        <p:spPr>
          <a:xfrm>
            <a:off x="731520" y="1645920"/>
            <a:ext cx="5486400" cy="4572000"/>
          </a:xfrm>
          <a:prstGeom prst="rect">
            <a:avLst/>
          </a:prstGeom>
          <a:noFill/>
        </p:spPr>
        <p:txBody>
          <a:bodyPr wrap="square" lIns="0" rIns="0" tIns="0" bIns="0">
            <a:spAutoFit/>
          </a:bodyPr>
          <a:lstStyle/>
          <a:p>
            <a:pPr>
              <a:spcAft>
                <a:spcPts val="400"/>
              </a:spcAft>
              <a:defRPr sz="2000" b="1">
                <a:solidFill>
                  <a:srgbClr val="162639"/>
                </a:solidFill>
                <a:latin typeface="Arial"/>
              </a:defRPr>
            </a:pPr>
            <a:r>
              <a:t>Fall Prevention:</a:t>
            </a:r>
          </a:p>
          <a:p>
            <a:pPr lvl="1">
              <a:spcAft>
                <a:spcPts val="400"/>
              </a:spcAft>
              <a:defRPr sz="1600">
                <a:solidFill>
                  <a:srgbClr val="3C3C3C"/>
                </a:solidFill>
                <a:latin typeface="Arial"/>
              </a:defRPr>
            </a:pPr>
            <a:r>
              <a:t>- 1. Evaluate the patient's living settings for potential risks and provide recommendations for changes to ensure his or her safety.</a:t>
            </a:r>
          </a:p>
          <a:p>
            <a:pPr lvl="1">
              <a:spcAft>
                <a:spcPts val="400"/>
              </a:spcAft>
              <a:defRPr sz="1600">
                <a:solidFill>
                  <a:srgbClr val="3C3C3C"/>
                </a:solidFill>
                <a:latin typeface="Arial"/>
              </a:defRPr>
            </a:pPr>
            <a:r>
              <a:t>- 2. Patients should be educated on fall prevention techniques such as reducing tripping hazards, using assistive equipment, and wearing suitable footwear.</a:t>
            </a:r>
          </a:p>
          <a:p>
            <a:pPr lvl="1">
              <a:spcAft>
                <a:spcPts val="400"/>
              </a:spcAft>
              <a:defRPr sz="1600">
                <a:solidFill>
                  <a:srgbClr val="3C3C3C"/>
                </a:solidFill>
                <a:latin typeface="Arial"/>
              </a:defRPr>
            </a:pPr>
            <a:r>
              <a:t>- 3. Encourage the installation of grab bars and the use of nonslip mats or rugs in bathrooms.</a:t>
            </a:r>
          </a:p>
          <a:p>
            <a:pPr lvl="1">
              <a:spcAft>
                <a:spcPts val="400"/>
              </a:spcAft>
              <a:defRPr sz="1600">
                <a:solidFill>
                  <a:srgbClr val="3C3C3C"/>
                </a:solidFill>
                <a:latin typeface="Arial"/>
              </a:defRPr>
            </a:pPr>
            <a:r>
              <a:t>- 4. Teach patients skills for increasing balance and lowering the chance of falling, such as tai chi or excellent posture.</a:t>
            </a:r>
          </a:p>
          <a:p>
            <a:pPr>
              <a:spcAft>
                <a:spcPts val="400"/>
              </a:spcAft>
              <a:defRPr sz="2000" b="1">
                <a:solidFill>
                  <a:srgbClr val="C0392B"/>
                </a:solidFill>
                <a:latin typeface="Arial"/>
              </a:defRPr>
            </a:pPr>
            <a:r>
              <a:t>Medication Management:</a:t>
            </a:r>
          </a:p>
          <a:p>
            <a:pPr lvl="1">
              <a:spcAft>
                <a:spcPts val="400"/>
              </a:spcAft>
              <a:defRPr sz="1600">
                <a:solidFill>
                  <a:srgbClr val="3C3C3C"/>
                </a:solidFill>
                <a:latin typeface="Arial"/>
              </a:defRPr>
            </a:pPr>
            <a:r>
              <a:t>- 1. Educate patients on the purpose, dosage, administration, and potential side effects of their osteoporosis drugs.</a:t>
            </a:r>
          </a:p>
          <a:p>
            <a:pPr lvl="1">
              <a:spcAft>
                <a:spcPts val="400"/>
              </a:spcAft>
              <a:defRPr sz="1600">
                <a:solidFill>
                  <a:srgbClr val="3C3C3C"/>
                </a:solidFill>
                <a:latin typeface="Arial"/>
              </a:defRPr>
            </a:pPr>
            <a:r>
              <a:t>- 2. Insist on drug adherence and timely follow-up with health care providers.</a:t>
            </a:r>
          </a:p>
          <a:p>
            <a:pPr lvl="1">
              <a:spcAft>
                <a:spcPts val="400"/>
              </a:spcAft>
              <a:defRPr sz="1600">
                <a:solidFill>
                  <a:srgbClr val="3C3C3C"/>
                </a:solidFill>
                <a:latin typeface="Arial"/>
              </a:defRPr>
            </a:pPr>
            <a:r>
              <a:t>- 3. Inform patients about potential drug interactions and the sig-nificance of alerting their health care professionals about all medications they are taking.</a:t>
            </a:r>
          </a:p>
          <a:p>
            <a:pPr lvl="1">
              <a:spcAft>
                <a:spcPts val="400"/>
              </a:spcAft>
              <a:defRPr sz="1600">
                <a:solidFill>
                  <a:srgbClr val="3C3C3C"/>
                </a:solidFill>
                <a:latin typeface="Arial"/>
              </a:defRPr>
            </a:pPr>
            <a:r>
              <a:t>- 4. Patients should be monitored for pharmaceutical side effects and their response to treatment, and any concerns should be reported to the health care team.</a:t>
            </a:r>
          </a:p>
        </p:txBody>
      </p:sp>
      <p:pic>
        <p:nvPicPr>
          <p:cNvPr id="5" name="Picture 4" descr="nursing_care_icon.png"/>
          <p:cNvPicPr>
            <a:picLocks noChangeAspect="1"/>
          </p:cNvPicPr>
          <p:nvPr/>
        </p:nvPicPr>
        <p:blipFill>
          <a:blip r:embed="rId2"/>
          <a:stretch>
            <a:fillRect/>
          </a:stretch>
        </p:blipFill>
        <p:spPr>
          <a:xfrm>
            <a:off x="6492240" y="1645920"/>
            <a:ext cx="4937760" cy="448056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228600"/>
            <a:ext cx="10698480" cy="365760"/>
          </a:xfrm>
          <a:prstGeom prst="rect">
            <a:avLst/>
          </a:prstGeom>
          <a:noFill/>
        </p:spPr>
        <p:txBody>
          <a:bodyPr wrap="square" tIns="0" bIns="0" lIns="0" rIns="0">
            <a:spAutoFit/>
          </a:bodyPr>
          <a:lstStyle/>
          <a:p>
            <a:pPr>
              <a:defRPr sz="1400" b="1">
                <a:solidFill>
                  <a:srgbClr val="228B8B"/>
                </a:solidFill>
                <a:latin typeface="Arial"/>
              </a:defRPr>
            </a:pPr>
            <a:r>
              <a:t>OSTEOPOROSIS: NURSING</a:t>
            </a:r>
          </a:p>
        </p:txBody>
      </p:sp>
      <p:sp>
        <p:nvSpPr>
          <p:cNvPr id="3" name="TextBox 2"/>
          <p:cNvSpPr txBox="1"/>
          <p:nvPr/>
        </p:nvSpPr>
        <p:spPr>
          <a:xfrm>
            <a:off x="731520" y="548640"/>
            <a:ext cx="10698480" cy="914400"/>
          </a:xfrm>
          <a:prstGeom prst="rect">
            <a:avLst/>
          </a:prstGeom>
          <a:noFill/>
        </p:spPr>
        <p:txBody>
          <a:bodyPr wrap="square" tIns="0" bIns="0" lIns="0" rIns="0">
            <a:spAutoFit/>
          </a:bodyPr>
          <a:lstStyle/>
          <a:p>
            <a:pPr>
              <a:defRPr sz="4000" b="1">
                <a:solidFill>
                  <a:srgbClr val="162639"/>
                </a:solidFill>
                <a:latin typeface="Georgia"/>
              </a:defRPr>
            </a:pPr>
            <a:r>
              <a:t>Counseling &amp; Emotional Support</a:t>
            </a:r>
          </a:p>
        </p:txBody>
      </p:sp>
      <p:sp>
        <p:nvSpPr>
          <p:cNvPr id="4" name="TextBox 3"/>
          <p:cNvSpPr txBox="1"/>
          <p:nvPr/>
        </p:nvSpPr>
        <p:spPr>
          <a:xfrm>
            <a:off x="731520" y="1645920"/>
            <a:ext cx="5486400" cy="4572000"/>
          </a:xfrm>
          <a:prstGeom prst="rect">
            <a:avLst/>
          </a:prstGeom>
          <a:noFill/>
        </p:spPr>
        <p:txBody>
          <a:bodyPr wrap="square" lIns="0" rIns="0" tIns="0" bIns="0">
            <a:spAutoFit/>
          </a:bodyPr>
          <a:lstStyle/>
          <a:p>
            <a:pPr>
              <a:spcAft>
                <a:spcPts val="600"/>
              </a:spcAft>
              <a:defRPr sz="2400" b="1">
                <a:solidFill>
                  <a:srgbClr val="162639"/>
                </a:solidFill>
                <a:latin typeface="Arial"/>
              </a:defRPr>
            </a:pPr>
            <a:r>
              <a:t>Counseling and Emotional Support:</a:t>
            </a:r>
          </a:p>
          <a:p>
            <a:pPr lvl="1">
              <a:spcAft>
                <a:spcPts val="600"/>
              </a:spcAft>
              <a:defRPr sz="2000">
                <a:solidFill>
                  <a:srgbClr val="3C3C3C"/>
                </a:solidFill>
                <a:latin typeface="Arial"/>
              </a:defRPr>
            </a:pPr>
            <a:r>
              <a:t>- 1. Provide emotional support and counseling to patients to address their worries, concerns, and emotional impact of osteoporosis.</a:t>
            </a:r>
          </a:p>
          <a:p>
            <a:pPr lvl="1">
              <a:spcAft>
                <a:spcPts val="600"/>
              </a:spcAft>
              <a:defRPr sz="2000" b="1">
                <a:solidFill>
                  <a:srgbClr val="C0392B"/>
                </a:solidFill>
                <a:latin typeface="Arial"/>
              </a:defRPr>
            </a:pPr>
            <a:r>
              <a:t>- 2. Encourage patients to talk about their feelings and aid them in developing coping techniques.</a:t>
            </a:r>
          </a:p>
          <a:p>
            <a:pPr lvl="1">
              <a:spcAft>
                <a:spcPts val="600"/>
              </a:spcAft>
              <a:defRPr sz="2000">
                <a:solidFill>
                  <a:srgbClr val="3C3C3C"/>
                </a:solidFill>
                <a:latin typeface="Arial"/>
              </a:defRPr>
            </a:pPr>
            <a:r>
              <a:t>- 3. Facilitate access to further psychological assistance through support groups, counseling services, or community resources.</a:t>
            </a:r>
          </a:p>
        </p:txBody>
      </p:sp>
      <p:pic>
        <p:nvPicPr>
          <p:cNvPr id="5" name="Picture 4" descr="osteoporosis_bone.png"/>
          <p:cNvPicPr>
            <a:picLocks noChangeAspect="1"/>
          </p:cNvPicPr>
          <p:nvPr/>
        </p:nvPicPr>
        <p:blipFill>
          <a:blip r:embed="rId2"/>
          <a:stretch>
            <a:fillRect/>
          </a:stretch>
        </p:blipFill>
        <p:spPr>
          <a:xfrm>
            <a:off x="6492240" y="1645920"/>
            <a:ext cx="4937760" cy="448056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228600"/>
            <a:ext cx="10698480" cy="365760"/>
          </a:xfrm>
          <a:prstGeom prst="rect">
            <a:avLst/>
          </a:prstGeom>
          <a:noFill/>
        </p:spPr>
        <p:txBody>
          <a:bodyPr wrap="square" tIns="0" bIns="0" lIns="0" rIns="0">
            <a:spAutoFit/>
          </a:bodyPr>
          <a:lstStyle/>
          <a:p>
            <a:pPr>
              <a:defRPr sz="1400" b="1">
                <a:solidFill>
                  <a:srgbClr val="228B8B"/>
                </a:solidFill>
                <a:latin typeface="Arial"/>
              </a:defRPr>
            </a:pPr>
            <a:r>
              <a:t>OSTEOMALACIA</a:t>
            </a:r>
          </a:p>
        </p:txBody>
      </p:sp>
      <p:sp>
        <p:nvSpPr>
          <p:cNvPr id="3" name="TextBox 2"/>
          <p:cNvSpPr txBox="1"/>
          <p:nvPr/>
        </p:nvSpPr>
        <p:spPr>
          <a:xfrm>
            <a:off x="731520" y="548640"/>
            <a:ext cx="10698480" cy="914400"/>
          </a:xfrm>
          <a:prstGeom prst="rect">
            <a:avLst/>
          </a:prstGeom>
          <a:noFill/>
        </p:spPr>
        <p:txBody>
          <a:bodyPr wrap="square" tIns="0" bIns="0" lIns="0" rIns="0">
            <a:spAutoFit/>
          </a:bodyPr>
          <a:lstStyle/>
          <a:p>
            <a:pPr>
              <a:defRPr sz="4000" b="1">
                <a:solidFill>
                  <a:srgbClr val="162639"/>
                </a:solidFill>
                <a:latin typeface="Georgia"/>
              </a:defRPr>
            </a:pPr>
            <a:r>
              <a:t>Definition &amp; Etiology</a:t>
            </a:r>
          </a:p>
        </p:txBody>
      </p:sp>
      <p:sp>
        <p:nvSpPr>
          <p:cNvPr id="4" name="TextBox 3"/>
          <p:cNvSpPr txBox="1"/>
          <p:nvPr/>
        </p:nvSpPr>
        <p:spPr>
          <a:xfrm>
            <a:off x="731520" y="1645920"/>
            <a:ext cx="5486400" cy="4572000"/>
          </a:xfrm>
          <a:prstGeom prst="rect">
            <a:avLst/>
          </a:prstGeom>
          <a:noFill/>
        </p:spPr>
        <p:txBody>
          <a:bodyPr wrap="square" lIns="0" rIns="0" tIns="0" bIns="0">
            <a:spAutoFit/>
          </a:bodyPr>
          <a:lstStyle/>
          <a:p>
            <a:pPr>
              <a:spcAft>
                <a:spcPts val="400"/>
              </a:spcAft>
              <a:defRPr sz="2000" b="1">
                <a:solidFill>
                  <a:srgbClr val="162639"/>
                </a:solidFill>
                <a:latin typeface="Arial"/>
              </a:defRPr>
            </a:pPr>
            <a:r>
              <a:t>Definition:</a:t>
            </a:r>
          </a:p>
          <a:p>
            <a:pPr lvl="1">
              <a:spcAft>
                <a:spcPts val="400"/>
              </a:spcAft>
              <a:defRPr sz="1600" b="1">
                <a:solidFill>
                  <a:srgbClr val="C0392B"/>
                </a:solidFill>
                <a:latin typeface="Arial"/>
              </a:defRPr>
            </a:pPr>
            <a:r>
              <a:t>- Osteomalacia is a bone softening and weakening condition caused by poor mineralization of the bone matrix. It is primarily caused by a lack of vitamin D or malabsorption.</a:t>
            </a:r>
          </a:p>
          <a:p>
            <a:pPr>
              <a:spcAft>
                <a:spcPts val="400"/>
              </a:spcAft>
              <a:defRPr sz="2000" b="1">
                <a:solidFill>
                  <a:srgbClr val="162639"/>
                </a:solidFill>
                <a:latin typeface="Arial"/>
              </a:defRPr>
            </a:pPr>
            <a:r>
              <a:t>Etiology:</a:t>
            </a:r>
          </a:p>
          <a:p>
            <a:pPr lvl="1">
              <a:spcAft>
                <a:spcPts val="400"/>
              </a:spcAft>
              <a:defRPr sz="1600">
                <a:solidFill>
                  <a:srgbClr val="3C3C3C"/>
                </a:solidFill>
                <a:latin typeface="Arial"/>
              </a:defRPr>
            </a:pPr>
            <a:r>
              <a:t>- 1. Vitamin D deficiency: Inadequate intake of vitamin D through diet or limited exposure to sunshine, both of which are required for vitamin D production in the skin.</a:t>
            </a:r>
          </a:p>
          <a:p>
            <a:pPr lvl="1">
              <a:spcAft>
                <a:spcPts val="400"/>
              </a:spcAft>
              <a:defRPr sz="1600">
                <a:solidFill>
                  <a:srgbClr val="3C3C3C"/>
                </a:solidFill>
                <a:latin typeface="Arial"/>
              </a:defRPr>
            </a:pPr>
            <a:r>
              <a:t>- 2. Conditions that impede vitamin D and calcium absorption. such as celiac disease, inflammatory bowel disease, or gastric bypass surgery, are examples of malabsorption.</a:t>
            </a:r>
          </a:p>
          <a:p>
            <a:pPr lvl="1">
              <a:spcAft>
                <a:spcPts val="400"/>
              </a:spcAft>
              <a:defRPr sz="1600">
                <a:solidFill>
                  <a:srgbClr val="3C3C3C"/>
                </a:solidFill>
                <a:latin typeface="Arial"/>
              </a:defRPr>
            </a:pPr>
            <a:r>
              <a:t>- 3. Medications: Certain drugs, such as anticonvulsants and ght cocorticoids (glucocorticoids), can interfere with vitamin D metabolism over time.</a:t>
            </a:r>
          </a:p>
          <a:p>
            <a:pPr lvl="1">
              <a:spcAft>
                <a:spcPts val="400"/>
              </a:spcAft>
              <a:defRPr sz="1600">
                <a:solidFill>
                  <a:srgbClr val="3C3C3C"/>
                </a:solidFill>
                <a:latin typeface="Arial"/>
              </a:defRPr>
            </a:pPr>
            <a:r>
              <a:t>- 4. Renal dysfunction: Chronic renal illness can decrease vitamin D activation and calcium absorption.</a:t>
            </a:r>
          </a:p>
        </p:txBody>
      </p:sp>
      <p:pic>
        <p:nvPicPr>
          <p:cNvPr id="5" name="Picture 4" descr="osteomalacia_legs.png"/>
          <p:cNvPicPr>
            <a:picLocks noChangeAspect="1"/>
          </p:cNvPicPr>
          <p:nvPr/>
        </p:nvPicPr>
        <p:blipFill>
          <a:blip r:embed="rId2"/>
          <a:stretch>
            <a:fillRect/>
          </a:stretch>
        </p:blipFill>
        <p:spPr>
          <a:xfrm>
            <a:off x="6492240" y="1645920"/>
            <a:ext cx="4937760" cy="448056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228600"/>
            <a:ext cx="10698480" cy="365760"/>
          </a:xfrm>
          <a:prstGeom prst="rect">
            <a:avLst/>
          </a:prstGeom>
          <a:noFill/>
        </p:spPr>
        <p:txBody>
          <a:bodyPr wrap="square" tIns="0" bIns="0" lIns="0" rIns="0">
            <a:spAutoFit/>
          </a:bodyPr>
          <a:lstStyle/>
          <a:p>
            <a:pPr>
              <a:defRPr sz="1400" b="1">
                <a:solidFill>
                  <a:srgbClr val="228B8B"/>
                </a:solidFill>
                <a:latin typeface="Arial"/>
              </a:defRPr>
            </a:pPr>
            <a:r>
              <a:t>OSTEOMALACIA</a:t>
            </a:r>
          </a:p>
        </p:txBody>
      </p:sp>
      <p:sp>
        <p:nvSpPr>
          <p:cNvPr id="3" name="TextBox 2"/>
          <p:cNvSpPr txBox="1"/>
          <p:nvPr/>
        </p:nvSpPr>
        <p:spPr>
          <a:xfrm>
            <a:off x="731520" y="548640"/>
            <a:ext cx="10698480" cy="914400"/>
          </a:xfrm>
          <a:prstGeom prst="rect">
            <a:avLst/>
          </a:prstGeom>
          <a:noFill/>
        </p:spPr>
        <p:txBody>
          <a:bodyPr wrap="square" tIns="0" bIns="0" lIns="0" rIns="0">
            <a:spAutoFit/>
          </a:bodyPr>
          <a:lstStyle/>
          <a:p>
            <a:pPr>
              <a:defRPr sz="4000" b="1">
                <a:solidFill>
                  <a:srgbClr val="162639"/>
                </a:solidFill>
                <a:latin typeface="Georgia"/>
              </a:defRPr>
            </a:pPr>
            <a:r>
              <a:t>Pathophysiology</a:t>
            </a:r>
          </a:p>
        </p:txBody>
      </p:sp>
      <p:sp>
        <p:nvSpPr>
          <p:cNvPr id="4" name="TextBox 3"/>
          <p:cNvSpPr txBox="1"/>
          <p:nvPr/>
        </p:nvSpPr>
        <p:spPr>
          <a:xfrm>
            <a:off x="731520" y="1645920"/>
            <a:ext cx="5486400" cy="4572000"/>
          </a:xfrm>
          <a:prstGeom prst="rect">
            <a:avLst/>
          </a:prstGeom>
          <a:noFill/>
        </p:spPr>
        <p:txBody>
          <a:bodyPr wrap="square" lIns="0" rIns="0" tIns="0" bIns="0">
            <a:spAutoFit/>
          </a:bodyPr>
          <a:lstStyle/>
          <a:p>
            <a:pPr>
              <a:spcAft>
                <a:spcPts val="400"/>
              </a:spcAft>
              <a:defRPr sz="2000">
                <a:solidFill>
                  <a:srgbClr val="3C3C3C"/>
                </a:solidFill>
                <a:latin typeface="Arial"/>
              </a:defRPr>
            </a:pPr>
            <a:r>
              <a:t>1. Vitamin D metabolism: Vitamin D is converted in the kidneys to its active form (calcitriol), which is required for calcium absorption from the intestines.</a:t>
            </a:r>
          </a:p>
          <a:p>
            <a:pPr>
              <a:spcAft>
                <a:spcPts val="400"/>
              </a:spcAft>
              <a:defRPr sz="2000">
                <a:solidFill>
                  <a:srgbClr val="3C3C3C"/>
                </a:solidFill>
                <a:latin typeface="Arial"/>
              </a:defRPr>
            </a:pPr>
            <a:r>
              <a:t>2. Calcium homeostasis: Adequate quantities of vitamin D and calcium are required for the body to sustain calcium homeostasis.</a:t>
            </a:r>
          </a:p>
          <a:p>
            <a:pPr>
              <a:spcAft>
                <a:spcPts val="400"/>
              </a:spcAft>
              <a:defRPr sz="2000" b="1">
                <a:solidFill>
                  <a:srgbClr val="C0392B"/>
                </a:solidFill>
                <a:latin typeface="Arial"/>
              </a:defRPr>
            </a:pPr>
            <a:r>
              <a:t>3. Impaired mineralization: Vitamin D insufficiency or malabsorption reduces dietary calcium absorption, resulting in low serum calcium levels.</a:t>
            </a:r>
          </a:p>
          <a:p>
            <a:pPr>
              <a:spcAft>
                <a:spcPts val="400"/>
              </a:spcAft>
              <a:defRPr sz="2000">
                <a:solidFill>
                  <a:srgbClr val="3C3C3C"/>
                </a:solidFill>
                <a:latin typeface="Arial"/>
              </a:defRPr>
            </a:pPr>
            <a:r>
              <a:t>4. Secondary hyperparathyroidism occurs when low calcium levels encourage the release of parathyroid hormone (PTH), resulting in enhanced bone resorption and calcium mobilization from bones.</a:t>
            </a:r>
          </a:p>
          <a:p>
            <a:pPr>
              <a:spcAft>
                <a:spcPts val="400"/>
              </a:spcAft>
              <a:defRPr sz="2000" b="1">
                <a:solidFill>
                  <a:srgbClr val="C0392B"/>
                </a:solidFill>
                <a:latin typeface="Arial"/>
              </a:defRPr>
            </a:pPr>
            <a:r>
              <a:t>5. Inadequate mineralization of the bone matrix results in the accumulation of unmineralized osteoid, resulting in weaker and soft bones.</a:t>
            </a:r>
          </a:p>
        </p:txBody>
      </p:sp>
      <p:pic>
        <p:nvPicPr>
          <p:cNvPr id="5" name="Picture 4" descr="bone_matrix_structure.png"/>
          <p:cNvPicPr>
            <a:picLocks noChangeAspect="1"/>
          </p:cNvPicPr>
          <p:nvPr/>
        </p:nvPicPr>
        <p:blipFill>
          <a:blip r:embed="rId2"/>
          <a:stretch>
            <a:fillRect/>
          </a:stretch>
        </p:blipFill>
        <p:spPr>
          <a:xfrm>
            <a:off x="6492240" y="1645920"/>
            <a:ext cx="4937760" cy="448056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228600"/>
            <a:ext cx="10698480" cy="365760"/>
          </a:xfrm>
          <a:prstGeom prst="rect">
            <a:avLst/>
          </a:prstGeom>
          <a:noFill/>
        </p:spPr>
        <p:txBody>
          <a:bodyPr wrap="square" tIns="0" bIns="0" lIns="0" rIns="0">
            <a:spAutoFit/>
          </a:bodyPr>
          <a:lstStyle/>
          <a:p>
            <a:pPr>
              <a:defRPr sz="1400" b="1">
                <a:solidFill>
                  <a:srgbClr val="228B8B"/>
                </a:solidFill>
                <a:latin typeface="Arial"/>
              </a:defRPr>
            </a:pPr>
            <a:r>
              <a:t>OSTEOMALACIA</a:t>
            </a:r>
          </a:p>
        </p:txBody>
      </p:sp>
      <p:sp>
        <p:nvSpPr>
          <p:cNvPr id="3" name="TextBox 2"/>
          <p:cNvSpPr txBox="1"/>
          <p:nvPr/>
        </p:nvSpPr>
        <p:spPr>
          <a:xfrm>
            <a:off x="731520" y="548640"/>
            <a:ext cx="10698480" cy="914400"/>
          </a:xfrm>
          <a:prstGeom prst="rect">
            <a:avLst/>
          </a:prstGeom>
          <a:noFill/>
        </p:spPr>
        <p:txBody>
          <a:bodyPr wrap="square" tIns="0" bIns="0" lIns="0" rIns="0">
            <a:spAutoFit/>
          </a:bodyPr>
          <a:lstStyle/>
          <a:p>
            <a:pPr>
              <a:defRPr sz="4000" b="1">
                <a:solidFill>
                  <a:srgbClr val="162639"/>
                </a:solidFill>
                <a:latin typeface="Georgia"/>
              </a:defRPr>
            </a:pPr>
            <a:r>
              <a:t>Clinical Manifestations</a:t>
            </a:r>
          </a:p>
        </p:txBody>
      </p:sp>
      <p:sp>
        <p:nvSpPr>
          <p:cNvPr id="4" name="TextBox 3"/>
          <p:cNvSpPr txBox="1"/>
          <p:nvPr/>
        </p:nvSpPr>
        <p:spPr>
          <a:xfrm>
            <a:off x="731520" y="1645920"/>
            <a:ext cx="5486400" cy="4572000"/>
          </a:xfrm>
          <a:prstGeom prst="rect">
            <a:avLst/>
          </a:prstGeom>
          <a:noFill/>
        </p:spPr>
        <p:txBody>
          <a:bodyPr wrap="square" lIns="0" rIns="0" tIns="0" bIns="0">
            <a:spAutoFit/>
          </a:bodyPr>
          <a:lstStyle/>
          <a:p>
            <a:pPr>
              <a:spcAft>
                <a:spcPts val="400"/>
              </a:spcAft>
              <a:defRPr sz="2000">
                <a:solidFill>
                  <a:srgbClr val="3C3C3C"/>
                </a:solidFill>
                <a:latin typeface="Arial"/>
              </a:defRPr>
            </a:pPr>
            <a:r>
              <a:t>1. Dull, agonizing bone pain, especially in the hips, lower back. and legs.</a:t>
            </a:r>
          </a:p>
          <a:p>
            <a:pPr>
              <a:spcAft>
                <a:spcPts val="400"/>
              </a:spcAft>
              <a:defRPr sz="2000">
                <a:solidFill>
                  <a:srgbClr val="3C3C3C"/>
                </a:solidFill>
                <a:latin typeface="Arial"/>
              </a:defRPr>
            </a:pPr>
            <a:r>
              <a:t>2. Muscle weakness: Fatigue and generalized muscle weakness.</a:t>
            </a:r>
          </a:p>
          <a:p>
            <a:pPr>
              <a:spcAft>
                <a:spcPts val="400"/>
              </a:spcAft>
              <a:defRPr sz="2000" b="1">
                <a:solidFill>
                  <a:srgbClr val="C0392B"/>
                </a:solidFill>
                <a:latin typeface="Arial"/>
              </a:defRPr>
            </a:pPr>
            <a:r>
              <a:t>3. Skeletal deformities include leg bowing, kyphosis (excessive curvature of the upper spine), and short stature.</a:t>
            </a:r>
          </a:p>
          <a:p>
            <a:pPr>
              <a:spcAft>
                <a:spcPts val="400"/>
              </a:spcAft>
              <a:defRPr sz="2000">
                <a:solidFill>
                  <a:srgbClr val="3C3C3C"/>
                </a:solidFill>
                <a:latin typeface="Arial"/>
              </a:defRPr>
            </a:pPr>
            <a:r>
              <a:t>4. Fracture vulnerability: Increased vulnerability to fractures, particularly in weight-bearing bones.</a:t>
            </a:r>
          </a:p>
          <a:p>
            <a:pPr>
              <a:spcAft>
                <a:spcPts val="400"/>
              </a:spcAft>
              <a:defRPr sz="2000" b="1">
                <a:solidFill>
                  <a:srgbClr val="C0392B"/>
                </a:solidFill>
                <a:latin typeface="Arial"/>
              </a:defRPr>
            </a:pPr>
            <a:r>
              <a:t>5. Walking difficulties: Gait irregularities and difficulties doing daily activities as a result of discomfort and muscle weakness.</a:t>
            </a:r>
          </a:p>
        </p:txBody>
      </p:sp>
      <p:pic>
        <p:nvPicPr>
          <p:cNvPr id="5" name="Picture 4" descr="osteomalacia_legs.png"/>
          <p:cNvPicPr>
            <a:picLocks noChangeAspect="1"/>
          </p:cNvPicPr>
          <p:nvPr/>
        </p:nvPicPr>
        <p:blipFill>
          <a:blip r:embed="rId2"/>
          <a:stretch>
            <a:fillRect/>
          </a:stretch>
        </p:blipFill>
        <p:spPr>
          <a:xfrm>
            <a:off x="6492240" y="1645920"/>
            <a:ext cx="4937760" cy="448056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228600"/>
            <a:ext cx="10698480" cy="365760"/>
          </a:xfrm>
          <a:prstGeom prst="rect">
            <a:avLst/>
          </a:prstGeom>
          <a:noFill/>
        </p:spPr>
        <p:txBody>
          <a:bodyPr wrap="square" tIns="0" bIns="0" lIns="0" rIns="0">
            <a:spAutoFit/>
          </a:bodyPr>
          <a:lstStyle/>
          <a:p>
            <a:pPr>
              <a:defRPr sz="1400" b="1">
                <a:solidFill>
                  <a:srgbClr val="228B8B"/>
                </a:solidFill>
                <a:latin typeface="Arial"/>
              </a:defRPr>
            </a:pPr>
            <a:r>
              <a:t>OSTEOMALACIA</a:t>
            </a:r>
          </a:p>
        </p:txBody>
      </p:sp>
      <p:sp>
        <p:nvSpPr>
          <p:cNvPr id="3" name="TextBox 2"/>
          <p:cNvSpPr txBox="1"/>
          <p:nvPr/>
        </p:nvSpPr>
        <p:spPr>
          <a:xfrm>
            <a:off x="731520" y="548640"/>
            <a:ext cx="10698480" cy="914400"/>
          </a:xfrm>
          <a:prstGeom prst="rect">
            <a:avLst/>
          </a:prstGeom>
          <a:noFill/>
        </p:spPr>
        <p:txBody>
          <a:bodyPr wrap="square" tIns="0" bIns="0" lIns="0" rIns="0">
            <a:spAutoFit/>
          </a:bodyPr>
          <a:lstStyle/>
          <a:p>
            <a:pPr>
              <a:defRPr sz="4000" b="1">
                <a:solidFill>
                  <a:srgbClr val="162639"/>
                </a:solidFill>
                <a:latin typeface="Georgia"/>
              </a:defRPr>
            </a:pPr>
            <a:r>
              <a:t>Diagnostic Tests &amp; Imaging</a:t>
            </a:r>
          </a:p>
        </p:txBody>
      </p:sp>
      <p:sp>
        <p:nvSpPr>
          <p:cNvPr id="4" name="TextBox 3"/>
          <p:cNvSpPr txBox="1"/>
          <p:nvPr/>
        </p:nvSpPr>
        <p:spPr>
          <a:xfrm>
            <a:off x="731520" y="1645920"/>
            <a:ext cx="5486400" cy="4572000"/>
          </a:xfrm>
          <a:prstGeom prst="rect">
            <a:avLst/>
          </a:prstGeom>
          <a:noFill/>
        </p:spPr>
        <p:txBody>
          <a:bodyPr wrap="square" lIns="0" rIns="0" tIns="0" bIns="0">
            <a:spAutoFit/>
          </a:bodyPr>
          <a:lstStyle/>
          <a:p>
            <a:pPr>
              <a:spcAft>
                <a:spcPts val="400"/>
              </a:spcAft>
              <a:defRPr sz="2000" b="1">
                <a:solidFill>
                  <a:srgbClr val="162639"/>
                </a:solidFill>
                <a:latin typeface="Arial"/>
              </a:defRPr>
            </a:pPr>
            <a:r>
              <a:t>Diagnostic Tests:</a:t>
            </a:r>
          </a:p>
          <a:p>
            <a:pPr lvl="1">
              <a:spcAft>
                <a:spcPts val="400"/>
              </a:spcAft>
              <a:defRPr sz="1600">
                <a:solidFill>
                  <a:srgbClr val="3C3C3C"/>
                </a:solidFill>
                <a:latin typeface="Arial"/>
              </a:defRPr>
            </a:pPr>
            <a:r>
              <a:t>- 1. Serum calcium and phosphorus levels: Low serum calcium and phosphate levels.</a:t>
            </a:r>
          </a:p>
          <a:p>
            <a:pPr lvl="1">
              <a:spcAft>
                <a:spcPts val="400"/>
              </a:spcAft>
              <a:defRPr sz="1600" b="1">
                <a:solidFill>
                  <a:srgbClr val="C0392B"/>
                </a:solidFill>
                <a:latin typeface="Arial"/>
              </a:defRPr>
            </a:pPr>
            <a:r>
              <a:t>- 2. Elevated levels of ALP due to accelerated bone turnover.</a:t>
            </a:r>
          </a:p>
          <a:p>
            <a:pPr lvl="1">
              <a:spcAft>
                <a:spcPts val="400"/>
              </a:spcAft>
              <a:defRPr sz="1600">
                <a:solidFill>
                  <a:srgbClr val="3C3C3C"/>
                </a:solidFill>
                <a:latin typeface="Arial"/>
              </a:defRPr>
            </a:pPr>
            <a:r>
              <a:t>- 3. 25-Hydroxyvitamin D: Low 25-hydroxyvitamin D levels indicate vitamin D insufficiency.</a:t>
            </a:r>
          </a:p>
          <a:p>
            <a:pPr lvl="1">
              <a:spcAft>
                <a:spcPts val="400"/>
              </a:spcAft>
              <a:defRPr sz="1600">
                <a:solidFill>
                  <a:srgbClr val="3C3C3C"/>
                </a:solidFill>
                <a:latin typeface="Arial"/>
              </a:defRPr>
            </a:pPr>
            <a:r>
              <a:t>- 4. PTH: Elevated PTH levels as a result of secondary hyperparathyroidism.</a:t>
            </a:r>
          </a:p>
          <a:p>
            <a:pPr>
              <a:spcAft>
                <a:spcPts val="400"/>
              </a:spcAft>
              <a:defRPr sz="2000" b="1">
                <a:solidFill>
                  <a:srgbClr val="C0392B"/>
                </a:solidFill>
                <a:latin typeface="Arial"/>
              </a:defRPr>
            </a:pPr>
            <a:r>
              <a:t>Imaging:</a:t>
            </a:r>
          </a:p>
          <a:p>
            <a:pPr lvl="1">
              <a:spcAft>
                <a:spcPts val="400"/>
              </a:spcAft>
              <a:defRPr sz="1600">
                <a:solidFill>
                  <a:srgbClr val="3C3C3C"/>
                </a:solidFill>
                <a:latin typeface="Arial"/>
              </a:defRPr>
            </a:pPr>
            <a:r>
              <a:t>- 1. X-rays may reveal pseudo fractures or Looser zones (radiolu-cent lines) in the bones.</a:t>
            </a:r>
          </a:p>
          <a:p>
            <a:pPr lvl="1">
              <a:spcAft>
                <a:spcPts val="400"/>
              </a:spcAft>
              <a:defRPr sz="1600">
                <a:solidFill>
                  <a:srgbClr val="3C3C3C"/>
                </a:solidFill>
                <a:latin typeface="Arial"/>
              </a:defRPr>
            </a:pPr>
            <a:r>
              <a:t>- 2. DXA: Assesses the severity of osteomalacia by measuring BMD.</a:t>
            </a:r>
          </a:p>
        </p:txBody>
      </p:sp>
      <p:pic>
        <p:nvPicPr>
          <p:cNvPr id="5" name="Picture 4" descr="vit_d_metabolism.png"/>
          <p:cNvPicPr>
            <a:picLocks noChangeAspect="1"/>
          </p:cNvPicPr>
          <p:nvPr/>
        </p:nvPicPr>
        <p:blipFill>
          <a:blip r:embed="rId2"/>
          <a:stretch>
            <a:fillRect/>
          </a:stretch>
        </p:blipFill>
        <p:spPr>
          <a:xfrm>
            <a:off x="6492240" y="1645920"/>
            <a:ext cx="4937760" cy="448056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228600"/>
            <a:ext cx="10698480" cy="365760"/>
          </a:xfrm>
          <a:prstGeom prst="rect">
            <a:avLst/>
          </a:prstGeom>
          <a:noFill/>
        </p:spPr>
        <p:txBody>
          <a:bodyPr wrap="square" tIns="0" bIns="0" lIns="0" rIns="0">
            <a:spAutoFit/>
          </a:bodyPr>
          <a:lstStyle/>
          <a:p>
            <a:pPr>
              <a:defRPr sz="1400" b="1">
                <a:solidFill>
                  <a:srgbClr val="228B8B"/>
                </a:solidFill>
                <a:latin typeface="Arial"/>
              </a:defRPr>
            </a:pPr>
            <a:r>
              <a:t>OSTEOMALACIA</a:t>
            </a:r>
          </a:p>
        </p:txBody>
      </p:sp>
      <p:sp>
        <p:nvSpPr>
          <p:cNvPr id="3" name="TextBox 2"/>
          <p:cNvSpPr txBox="1"/>
          <p:nvPr/>
        </p:nvSpPr>
        <p:spPr>
          <a:xfrm>
            <a:off x="731520" y="548640"/>
            <a:ext cx="10698480" cy="914400"/>
          </a:xfrm>
          <a:prstGeom prst="rect">
            <a:avLst/>
          </a:prstGeom>
          <a:noFill/>
        </p:spPr>
        <p:txBody>
          <a:bodyPr wrap="square" tIns="0" bIns="0" lIns="0" rIns="0">
            <a:spAutoFit/>
          </a:bodyPr>
          <a:lstStyle/>
          <a:p>
            <a:pPr>
              <a:defRPr sz="4000" b="1">
                <a:solidFill>
                  <a:srgbClr val="162639"/>
                </a:solidFill>
                <a:latin typeface="Georgia"/>
              </a:defRPr>
            </a:pPr>
            <a:r>
              <a:t>Medical &amp; Surgical Management</a:t>
            </a:r>
          </a:p>
        </p:txBody>
      </p:sp>
      <p:sp>
        <p:nvSpPr>
          <p:cNvPr id="4" name="TextBox 3"/>
          <p:cNvSpPr txBox="1"/>
          <p:nvPr/>
        </p:nvSpPr>
        <p:spPr>
          <a:xfrm>
            <a:off x="731520" y="1645920"/>
            <a:ext cx="5486400" cy="4572000"/>
          </a:xfrm>
          <a:prstGeom prst="rect">
            <a:avLst/>
          </a:prstGeom>
          <a:noFill/>
        </p:spPr>
        <p:txBody>
          <a:bodyPr wrap="square" lIns="0" rIns="0" tIns="0" bIns="0">
            <a:spAutoFit/>
          </a:bodyPr>
          <a:lstStyle/>
          <a:p>
            <a:pPr>
              <a:spcAft>
                <a:spcPts val="400"/>
              </a:spcAft>
              <a:defRPr sz="2000" b="1">
                <a:solidFill>
                  <a:srgbClr val="162639"/>
                </a:solidFill>
                <a:latin typeface="Arial"/>
              </a:defRPr>
            </a:pPr>
            <a:r>
              <a:t>Medical Management:</a:t>
            </a:r>
          </a:p>
          <a:p>
            <a:pPr lvl="1">
              <a:spcAft>
                <a:spcPts val="400"/>
              </a:spcAft>
              <a:defRPr sz="1600" b="1">
                <a:solidFill>
                  <a:srgbClr val="C0392B"/>
                </a:solidFill>
                <a:latin typeface="Arial"/>
              </a:defRPr>
            </a:pPr>
            <a:r>
              <a:t>- 1. Oral vitamin D supplementation is used to treat vitamin D insufficiency or malabsorption.</a:t>
            </a:r>
          </a:p>
          <a:p>
            <a:pPr lvl="1">
              <a:spcAft>
                <a:spcPts val="400"/>
              </a:spcAft>
              <a:defRPr sz="1600">
                <a:solidFill>
                  <a:srgbClr val="3C3C3C"/>
                </a:solidFill>
                <a:latin typeface="Arial"/>
              </a:defRPr>
            </a:pPr>
            <a:r>
              <a:t>- 2. Oral calcium supplements are used to guarantee appropriate calcium intake.</a:t>
            </a:r>
          </a:p>
          <a:p>
            <a:pPr lvl="1">
              <a:spcAft>
                <a:spcPts val="400"/>
              </a:spcAft>
              <a:defRPr sz="1600">
                <a:solidFill>
                  <a:srgbClr val="3C3C3C"/>
                </a:solidFill>
                <a:latin typeface="Arial"/>
              </a:defRPr>
            </a:pPr>
            <a:r>
              <a:t>- 3. Treatment of underlying disorders that contribute to vitamin D deficiency or malabsorption.</a:t>
            </a:r>
          </a:p>
          <a:p>
            <a:pPr lvl="1">
              <a:spcAft>
                <a:spcPts val="400"/>
              </a:spcAft>
              <a:defRPr sz="1600">
                <a:solidFill>
                  <a:srgbClr val="3C3C3C"/>
                </a:solidFill>
                <a:latin typeface="Arial"/>
              </a:defRPr>
            </a:pPr>
            <a:r>
              <a:t>- 4. Changing drugs that may cause vitamin D deficiency or interfere with calcium absorption; use of analgesics.</a:t>
            </a:r>
          </a:p>
          <a:p>
            <a:pPr>
              <a:spcAft>
                <a:spcPts val="400"/>
              </a:spcAft>
              <a:defRPr sz="2000" b="1">
                <a:solidFill>
                  <a:srgbClr val="C0392B"/>
                </a:solidFill>
                <a:latin typeface="Arial"/>
              </a:defRPr>
            </a:pPr>
            <a:r>
              <a:t>Surgical Management (Determined by complication severity):</a:t>
            </a:r>
          </a:p>
          <a:p>
            <a:pPr lvl="1">
              <a:spcAft>
                <a:spcPts val="400"/>
              </a:spcAft>
              <a:defRPr sz="1600">
                <a:solidFill>
                  <a:srgbClr val="3C3C3C"/>
                </a:solidFill>
                <a:latin typeface="Arial"/>
              </a:defRPr>
            </a:pPr>
            <a:r>
              <a:t>- 1. Fracture repair: The surgical repair of fractures is performed in order to facilitate adequate healing and stability (plates, screws, or rods).</a:t>
            </a:r>
          </a:p>
          <a:p>
            <a:pPr lvl="1">
              <a:spcAft>
                <a:spcPts val="400"/>
              </a:spcAft>
              <a:defRPr sz="1600">
                <a:solidFill>
                  <a:srgbClr val="3C3C3C"/>
                </a:solidFill>
                <a:latin typeface="Arial"/>
              </a:defRPr>
            </a:pPr>
            <a:r>
              <a:t>- 2. Correction of skeletal deformities: Realignment techniques (osteotomy, joint replacement, or spinal fusion).</a:t>
            </a:r>
          </a:p>
        </p:txBody>
      </p:sp>
      <p:pic>
        <p:nvPicPr>
          <p:cNvPr id="5" name="Picture 4" descr="osteomalacia_legs.png"/>
          <p:cNvPicPr>
            <a:picLocks noChangeAspect="1"/>
          </p:cNvPicPr>
          <p:nvPr/>
        </p:nvPicPr>
        <p:blipFill>
          <a:blip r:embed="rId2"/>
          <a:stretch>
            <a:fillRect/>
          </a:stretch>
        </p:blipFill>
        <p:spPr>
          <a:xfrm>
            <a:off x="6492240" y="1645920"/>
            <a:ext cx="4937760" cy="448056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228600"/>
            <a:ext cx="10698480" cy="365760"/>
          </a:xfrm>
          <a:prstGeom prst="rect">
            <a:avLst/>
          </a:prstGeom>
          <a:noFill/>
        </p:spPr>
        <p:txBody>
          <a:bodyPr wrap="square" tIns="0" bIns="0" lIns="0" rIns="0">
            <a:spAutoFit/>
          </a:bodyPr>
          <a:lstStyle/>
          <a:p>
            <a:pPr>
              <a:defRPr sz="1400" b="1">
                <a:solidFill>
                  <a:srgbClr val="228B8B"/>
                </a:solidFill>
                <a:latin typeface="Arial"/>
              </a:defRPr>
            </a:pPr>
            <a:r>
              <a:t>OSTEOMALACIA: NURSING</a:t>
            </a:r>
          </a:p>
        </p:txBody>
      </p:sp>
      <p:sp>
        <p:nvSpPr>
          <p:cNvPr id="3" name="TextBox 2"/>
          <p:cNvSpPr txBox="1"/>
          <p:nvPr/>
        </p:nvSpPr>
        <p:spPr>
          <a:xfrm>
            <a:off x="731520" y="548640"/>
            <a:ext cx="10698480" cy="914400"/>
          </a:xfrm>
          <a:prstGeom prst="rect">
            <a:avLst/>
          </a:prstGeom>
          <a:noFill/>
        </p:spPr>
        <p:txBody>
          <a:bodyPr wrap="square" tIns="0" bIns="0" lIns="0" rIns="0">
            <a:spAutoFit/>
          </a:bodyPr>
          <a:lstStyle/>
          <a:p>
            <a:pPr>
              <a:defRPr sz="4000" b="1">
                <a:solidFill>
                  <a:srgbClr val="162639"/>
                </a:solidFill>
                <a:latin typeface="Georgia"/>
              </a:defRPr>
            </a:pPr>
            <a:r>
              <a:t>Education &amp; Nutritional Support</a:t>
            </a:r>
          </a:p>
        </p:txBody>
      </p:sp>
      <p:sp>
        <p:nvSpPr>
          <p:cNvPr id="4" name="TextBox 3"/>
          <p:cNvSpPr txBox="1"/>
          <p:nvPr/>
        </p:nvSpPr>
        <p:spPr>
          <a:xfrm>
            <a:off x="731520" y="1645920"/>
            <a:ext cx="5486400" cy="4572000"/>
          </a:xfrm>
          <a:prstGeom prst="rect">
            <a:avLst/>
          </a:prstGeom>
          <a:noFill/>
        </p:spPr>
        <p:txBody>
          <a:bodyPr wrap="square" lIns="0" rIns="0" tIns="0" bIns="0">
            <a:spAutoFit/>
          </a:bodyPr>
          <a:lstStyle/>
          <a:p>
            <a:pPr>
              <a:spcAft>
                <a:spcPts val="400"/>
              </a:spcAft>
              <a:defRPr sz="2000" b="1">
                <a:solidFill>
                  <a:srgbClr val="162639"/>
                </a:solidFill>
                <a:latin typeface="Arial"/>
              </a:defRPr>
            </a:pPr>
            <a:r>
              <a:t>Education:</a:t>
            </a:r>
          </a:p>
          <a:p>
            <a:pPr lvl="1">
              <a:spcAft>
                <a:spcPts val="400"/>
              </a:spcAft>
              <a:defRPr sz="1600">
                <a:solidFill>
                  <a:srgbClr val="3C3C3C"/>
                </a:solidFill>
                <a:latin typeface="Arial"/>
              </a:defRPr>
            </a:pPr>
            <a:r>
              <a:t>- 1. Provide patients and their families with thorough information regarding osteomalacia, its causes, and the importance of vitamin D and calcium in bone health.</a:t>
            </a:r>
          </a:p>
          <a:p>
            <a:pPr lvl="1">
              <a:spcAft>
                <a:spcPts val="400"/>
              </a:spcAft>
              <a:defRPr sz="1600">
                <a:solidFill>
                  <a:srgbClr val="3C3C3C"/>
                </a:solidFill>
                <a:latin typeface="Arial"/>
              </a:defRPr>
            </a:pPr>
            <a:r>
              <a:t>- 2. Stress the importance of getting enough sunlight, eating vitamin D-rich foods (such as fatty fish and fortified dairy products), and eating calcium-rich foods.</a:t>
            </a:r>
          </a:p>
          <a:p>
            <a:pPr lvl="1">
              <a:spcAft>
                <a:spcPts val="400"/>
              </a:spcAft>
              <a:defRPr sz="1600">
                <a:solidFill>
                  <a:srgbClr val="3C3C3C"/>
                </a:solidFill>
                <a:latin typeface="Arial"/>
              </a:defRPr>
            </a:pPr>
            <a:r>
              <a:t>- 3. Educate patients on the vitamin D and calcium supplements they have been prescribed, including dosage, administration, and any side effects.</a:t>
            </a:r>
          </a:p>
          <a:p>
            <a:pPr lvl="1">
              <a:spcAft>
                <a:spcPts val="400"/>
              </a:spcAft>
              <a:defRPr sz="1600">
                <a:solidFill>
                  <a:srgbClr val="3C3C3C"/>
                </a:solidFill>
                <a:latin typeface="Arial"/>
              </a:defRPr>
            </a:pPr>
            <a:r>
              <a:t>- 4. Discuss with your health care professional the significance of drug adherence and regular follow-up.</a:t>
            </a:r>
          </a:p>
          <a:p>
            <a:pPr>
              <a:spcAft>
                <a:spcPts val="400"/>
              </a:spcAft>
              <a:defRPr sz="2000" b="1">
                <a:solidFill>
                  <a:srgbClr val="C0392B"/>
                </a:solidFill>
                <a:latin typeface="Arial"/>
              </a:defRPr>
            </a:pPr>
            <a:r>
              <a:t>Nutritional Support:</a:t>
            </a:r>
          </a:p>
          <a:p>
            <a:pPr lvl="1">
              <a:spcAft>
                <a:spcPts val="400"/>
              </a:spcAft>
              <a:defRPr sz="1600">
                <a:solidFill>
                  <a:srgbClr val="3C3C3C"/>
                </a:solidFill>
                <a:latin typeface="Arial"/>
              </a:defRPr>
            </a:pPr>
            <a:r>
              <a:t>- 1. Work with dietitians to create tailored vitamin D- and calcium-rich dietary programs.</a:t>
            </a:r>
          </a:p>
          <a:p>
            <a:pPr lvl="1">
              <a:spcAft>
                <a:spcPts val="400"/>
              </a:spcAft>
              <a:defRPr sz="1600">
                <a:solidFill>
                  <a:srgbClr val="3C3C3C"/>
                </a:solidFill>
                <a:latin typeface="Arial"/>
              </a:defRPr>
            </a:pPr>
            <a:r>
              <a:t>- 2. Ensure that patients have access to suitable dietary resources and that they are educated on the food sources of these nutrients.</a:t>
            </a:r>
          </a:p>
          <a:p>
            <a:pPr lvl="1">
              <a:spcAft>
                <a:spcPts val="400"/>
              </a:spcAft>
              <a:defRPr sz="1600">
                <a:solidFill>
                  <a:srgbClr val="3C3C3C"/>
                </a:solidFill>
                <a:latin typeface="Arial"/>
              </a:defRPr>
            </a:pPr>
            <a:r>
              <a:t>- 3. Monitor patients' nutritional status and, if necessary, recommend them for nutritional counseling or supplements.</a:t>
            </a:r>
          </a:p>
        </p:txBody>
      </p:sp>
      <p:pic>
        <p:nvPicPr>
          <p:cNvPr id="5" name="Picture 4" descr="nursing_care_icon.png"/>
          <p:cNvPicPr>
            <a:picLocks noChangeAspect="1"/>
          </p:cNvPicPr>
          <p:nvPr/>
        </p:nvPicPr>
        <p:blipFill>
          <a:blip r:embed="rId2"/>
          <a:stretch>
            <a:fillRect/>
          </a:stretch>
        </p:blipFill>
        <p:spPr>
          <a:xfrm>
            <a:off x="6492240" y="1645920"/>
            <a:ext cx="4937760" cy="448056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228600"/>
            <a:ext cx="10698480" cy="365760"/>
          </a:xfrm>
          <a:prstGeom prst="rect">
            <a:avLst/>
          </a:prstGeom>
          <a:noFill/>
        </p:spPr>
        <p:txBody>
          <a:bodyPr wrap="square" tIns="0" bIns="0" lIns="0" rIns="0">
            <a:spAutoFit/>
          </a:bodyPr>
          <a:lstStyle/>
          <a:p>
            <a:pPr>
              <a:defRPr sz="1400" b="1">
                <a:solidFill>
                  <a:srgbClr val="228B8B"/>
                </a:solidFill>
                <a:latin typeface="Arial"/>
              </a:defRPr>
            </a:pPr>
            <a:r>
              <a:t>OSTEOMALACIA: NURSING</a:t>
            </a:r>
          </a:p>
        </p:txBody>
      </p:sp>
      <p:sp>
        <p:nvSpPr>
          <p:cNvPr id="3" name="TextBox 2"/>
          <p:cNvSpPr txBox="1"/>
          <p:nvPr/>
        </p:nvSpPr>
        <p:spPr>
          <a:xfrm>
            <a:off x="731520" y="548640"/>
            <a:ext cx="10698480" cy="914400"/>
          </a:xfrm>
          <a:prstGeom prst="rect">
            <a:avLst/>
          </a:prstGeom>
          <a:noFill/>
        </p:spPr>
        <p:txBody>
          <a:bodyPr wrap="square" tIns="0" bIns="0" lIns="0" rIns="0">
            <a:spAutoFit/>
          </a:bodyPr>
          <a:lstStyle/>
          <a:p>
            <a:pPr>
              <a:defRPr sz="4000" b="1">
                <a:solidFill>
                  <a:srgbClr val="162639"/>
                </a:solidFill>
                <a:latin typeface="Georgia"/>
              </a:defRPr>
            </a:pPr>
            <a:r>
              <a:t>Medication &amp; Pain Management</a:t>
            </a:r>
          </a:p>
        </p:txBody>
      </p:sp>
      <p:sp>
        <p:nvSpPr>
          <p:cNvPr id="4" name="TextBox 3"/>
          <p:cNvSpPr txBox="1"/>
          <p:nvPr/>
        </p:nvSpPr>
        <p:spPr>
          <a:xfrm>
            <a:off x="731520" y="1645920"/>
            <a:ext cx="5486400" cy="4572000"/>
          </a:xfrm>
          <a:prstGeom prst="rect">
            <a:avLst/>
          </a:prstGeom>
          <a:noFill/>
        </p:spPr>
        <p:txBody>
          <a:bodyPr wrap="square" lIns="0" rIns="0" tIns="0" bIns="0">
            <a:spAutoFit/>
          </a:bodyPr>
          <a:lstStyle/>
          <a:p>
            <a:pPr>
              <a:spcAft>
                <a:spcPts val="400"/>
              </a:spcAft>
              <a:defRPr sz="2000" b="1">
                <a:solidFill>
                  <a:srgbClr val="162639"/>
                </a:solidFill>
                <a:latin typeface="Arial"/>
              </a:defRPr>
            </a:pPr>
            <a:r>
              <a:t>Medication Management:</a:t>
            </a:r>
          </a:p>
          <a:p>
            <a:pPr lvl="1">
              <a:spcAft>
                <a:spcPts val="400"/>
              </a:spcAft>
              <a:defRPr sz="1600">
                <a:solidFill>
                  <a:srgbClr val="3C3C3C"/>
                </a:solidFill>
                <a:latin typeface="Arial"/>
              </a:defRPr>
            </a:pPr>
            <a:r>
              <a:t>- 1. Inform patients about the purpose, dosage, administration. and potential side effects of their vitamin D and calcium supplements.</a:t>
            </a:r>
          </a:p>
          <a:p>
            <a:pPr lvl="1">
              <a:spcAft>
                <a:spcPts val="400"/>
              </a:spcAft>
              <a:defRPr sz="1600">
                <a:solidFill>
                  <a:srgbClr val="3C3C3C"/>
                </a:solidFill>
                <a:latin typeface="Arial"/>
              </a:defRPr>
            </a:pPr>
            <a:r>
              <a:t>- 2. Stress the necessity of taking medications as prescribed and taking supplements on a regular basis.</a:t>
            </a:r>
          </a:p>
          <a:p>
            <a:pPr lvl="1">
              <a:spcAft>
                <a:spcPts val="400"/>
              </a:spcAft>
              <a:defRPr sz="1600">
                <a:solidFill>
                  <a:srgbClr val="3C3C3C"/>
                </a:solidFill>
                <a:latin typeface="Arial"/>
              </a:defRPr>
            </a:pPr>
            <a:r>
              <a:t>- 3. Monitor patients for pharmaceutical adverse effects and intervene as needed, or report concerns to the health care team.</a:t>
            </a:r>
          </a:p>
          <a:p>
            <a:pPr lvl="1">
              <a:spcAft>
                <a:spcPts val="400"/>
              </a:spcAft>
              <a:defRPr sz="1600">
                <a:solidFill>
                  <a:srgbClr val="3C3C3C"/>
                </a:solidFill>
                <a:latin typeface="Arial"/>
              </a:defRPr>
            </a:pPr>
            <a:r>
              <a:t>- 4. Teach patients about medication administration time and any food or drug interactions to be cautious of.</a:t>
            </a:r>
          </a:p>
          <a:p>
            <a:pPr>
              <a:spcAft>
                <a:spcPts val="400"/>
              </a:spcAft>
              <a:defRPr sz="2000" b="1">
                <a:solidFill>
                  <a:srgbClr val="C0392B"/>
                </a:solidFill>
                <a:latin typeface="Arial"/>
              </a:defRPr>
            </a:pPr>
            <a:r>
              <a:t>Pain Management:</a:t>
            </a:r>
          </a:p>
          <a:p>
            <a:pPr lvl="1">
              <a:spcAft>
                <a:spcPts val="400"/>
              </a:spcAft>
              <a:defRPr sz="1600">
                <a:solidFill>
                  <a:srgbClr val="3C3C3C"/>
                </a:solidFill>
                <a:latin typeface="Arial"/>
              </a:defRPr>
            </a:pPr>
            <a:r>
              <a:t>- 1. Using suitable pain assessment instruments, assess and monitor patients' pain levels on a regular basis.</a:t>
            </a:r>
          </a:p>
          <a:p>
            <a:pPr lvl="1">
              <a:spcAft>
                <a:spcPts val="400"/>
              </a:spcAft>
              <a:defRPr sz="1600">
                <a:solidFill>
                  <a:srgbClr val="3C3C3C"/>
                </a:solidFill>
                <a:latin typeface="Arial"/>
              </a:defRPr>
            </a:pPr>
            <a:r>
              <a:t>- 2. Administer pain drugs as directed and assess their effectiveness.</a:t>
            </a:r>
          </a:p>
          <a:p>
            <a:pPr lvl="1">
              <a:spcAft>
                <a:spcPts val="400"/>
              </a:spcAft>
              <a:defRPr sz="1600">
                <a:solidFill>
                  <a:srgbClr val="3C3C3C"/>
                </a:solidFill>
                <a:latin typeface="Arial"/>
              </a:defRPr>
            </a:pPr>
            <a:r>
              <a:t>- 3. As needed, use nonpharmacologic pain management approaches such as heat or cold therapy, guided visualization, or relaxation exercises.</a:t>
            </a:r>
          </a:p>
          <a:p>
            <a:pPr lvl="1">
              <a:spcAft>
                <a:spcPts val="400"/>
              </a:spcAft>
              <a:defRPr sz="1600">
                <a:solidFill>
                  <a:srgbClr val="3C3C3C"/>
                </a:solidFill>
                <a:latin typeface="Arial"/>
              </a:defRPr>
            </a:pPr>
            <a:r>
              <a:t>- 4. Adjust pain management strategies in collaboration with the health care team based on unique patient needs.</a:t>
            </a:r>
          </a:p>
        </p:txBody>
      </p:sp>
      <p:pic>
        <p:nvPicPr>
          <p:cNvPr id="5" name="Picture 4" descr="vit_d_metabolism.png"/>
          <p:cNvPicPr>
            <a:picLocks noChangeAspect="1"/>
          </p:cNvPicPr>
          <p:nvPr/>
        </p:nvPicPr>
        <p:blipFill>
          <a:blip r:embed="rId2"/>
          <a:stretch>
            <a:fillRect/>
          </a:stretch>
        </p:blipFill>
        <p:spPr>
          <a:xfrm>
            <a:off x="6492240" y="1645920"/>
            <a:ext cx="4937760" cy="448056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228600"/>
            <a:ext cx="10698480" cy="365760"/>
          </a:xfrm>
          <a:prstGeom prst="rect">
            <a:avLst/>
          </a:prstGeom>
          <a:noFill/>
        </p:spPr>
        <p:txBody>
          <a:bodyPr wrap="square" tIns="0" bIns="0" lIns="0" rIns="0">
            <a:spAutoFit/>
          </a:bodyPr>
          <a:lstStyle/>
          <a:p>
            <a:pPr>
              <a:defRPr sz="1400" b="1">
                <a:solidFill>
                  <a:srgbClr val="228B8B"/>
                </a:solidFill>
                <a:latin typeface="Arial"/>
              </a:defRPr>
            </a:pPr>
            <a:r>
              <a:t>OSTEOMALACIA: NURSING</a:t>
            </a:r>
          </a:p>
        </p:txBody>
      </p:sp>
      <p:sp>
        <p:nvSpPr>
          <p:cNvPr id="3" name="TextBox 2"/>
          <p:cNvSpPr txBox="1"/>
          <p:nvPr/>
        </p:nvSpPr>
        <p:spPr>
          <a:xfrm>
            <a:off x="731520" y="548640"/>
            <a:ext cx="10698480" cy="914400"/>
          </a:xfrm>
          <a:prstGeom prst="rect">
            <a:avLst/>
          </a:prstGeom>
          <a:noFill/>
        </p:spPr>
        <p:txBody>
          <a:bodyPr wrap="square" tIns="0" bIns="0" lIns="0" rIns="0">
            <a:spAutoFit/>
          </a:bodyPr>
          <a:lstStyle/>
          <a:p>
            <a:pPr>
              <a:defRPr sz="4000" b="1">
                <a:solidFill>
                  <a:srgbClr val="162639"/>
                </a:solidFill>
                <a:latin typeface="Georgia"/>
              </a:defRPr>
            </a:pPr>
            <a:r>
              <a:t>Mobility &amp; Emotional Support</a:t>
            </a:r>
          </a:p>
        </p:txBody>
      </p:sp>
      <p:sp>
        <p:nvSpPr>
          <p:cNvPr id="4" name="TextBox 3"/>
          <p:cNvSpPr txBox="1"/>
          <p:nvPr/>
        </p:nvSpPr>
        <p:spPr>
          <a:xfrm>
            <a:off x="731520" y="1645920"/>
            <a:ext cx="5486400" cy="4572000"/>
          </a:xfrm>
          <a:prstGeom prst="rect">
            <a:avLst/>
          </a:prstGeom>
          <a:noFill/>
        </p:spPr>
        <p:txBody>
          <a:bodyPr wrap="square" lIns="0" rIns="0" tIns="0" bIns="0">
            <a:spAutoFit/>
          </a:bodyPr>
          <a:lstStyle/>
          <a:p>
            <a:pPr>
              <a:spcAft>
                <a:spcPts val="400"/>
              </a:spcAft>
              <a:defRPr sz="2000" b="1">
                <a:solidFill>
                  <a:srgbClr val="162639"/>
                </a:solidFill>
                <a:latin typeface="Arial"/>
              </a:defRPr>
            </a:pPr>
            <a:r>
              <a:t>Shift Mobility Interventions:</a:t>
            </a:r>
          </a:p>
          <a:p>
            <a:pPr lvl="1">
              <a:spcAft>
                <a:spcPts val="400"/>
              </a:spcAft>
              <a:defRPr sz="1600">
                <a:solidFill>
                  <a:srgbClr val="3C3C3C"/>
                </a:solidFill>
                <a:latin typeface="Arial"/>
              </a:defRPr>
            </a:pPr>
            <a:r>
              <a:t>- 1. Evaluate patients' mobility and offer aid and support as needed.</a:t>
            </a:r>
          </a:p>
          <a:p>
            <a:pPr lvl="1">
              <a:spcAft>
                <a:spcPts val="400"/>
              </a:spcAft>
              <a:defRPr sz="1600">
                <a:solidFill>
                  <a:srgbClr val="3C3C3C"/>
                </a:solidFill>
                <a:latin typeface="Arial"/>
              </a:defRPr>
            </a:pPr>
            <a:r>
              <a:t>- 2. Develop tailored exercise routines with physical therapists to improve muscle strength, balance, and mobility.</a:t>
            </a:r>
          </a:p>
          <a:p>
            <a:pPr lvl="1">
              <a:spcAft>
                <a:spcPts val="400"/>
              </a:spcAft>
              <a:defRPr sz="1600">
                <a:solidFill>
                  <a:srgbClr val="3C3C3C"/>
                </a:solidFill>
                <a:latin typeface="Arial"/>
              </a:defRPr>
            </a:pPr>
            <a:r>
              <a:t>- 3. Educate patients on the benefits of regular physical activity and instruct them on safe exercise routines.</a:t>
            </a:r>
          </a:p>
          <a:p>
            <a:pPr lvl="1">
              <a:spcAft>
                <a:spcPts val="400"/>
              </a:spcAft>
              <a:defRPr sz="1600">
                <a:solidFill>
                  <a:srgbClr val="3C3C3C"/>
                </a:solidFill>
                <a:latin typeface="Arial"/>
              </a:defRPr>
            </a:pPr>
            <a:r>
              <a:t>- 4. Assist patients in getting essential assistance aids, such as canes or walkers, to promote safe mobility.</a:t>
            </a:r>
          </a:p>
          <a:p>
            <a:pPr>
              <a:spcAft>
                <a:spcPts val="400"/>
              </a:spcAft>
              <a:defRPr sz="2000" b="1">
                <a:solidFill>
                  <a:srgbClr val="C0392B"/>
                </a:solidFill>
                <a:latin typeface="Arial"/>
              </a:defRPr>
            </a:pPr>
            <a:r>
              <a:t>Counseling and Emotional Support:</a:t>
            </a:r>
          </a:p>
          <a:p>
            <a:pPr lvl="1">
              <a:spcAft>
                <a:spcPts val="400"/>
              </a:spcAft>
              <a:defRPr sz="1600">
                <a:solidFill>
                  <a:srgbClr val="3C3C3C"/>
                </a:solidFill>
                <a:latin typeface="Arial"/>
              </a:defRPr>
            </a:pPr>
            <a:r>
              <a:t>- 1. Patients facing pain, functional restrictions, or emotional anguish because of their condition should get emotional support and empathic care.</a:t>
            </a:r>
          </a:p>
          <a:p>
            <a:pPr lvl="1">
              <a:spcAft>
                <a:spcPts val="400"/>
              </a:spcAft>
              <a:defRPr sz="1600" b="1">
                <a:solidFill>
                  <a:srgbClr val="C0392B"/>
                </a:solidFill>
                <a:latin typeface="Arial"/>
              </a:defRPr>
            </a:pPr>
            <a:r>
              <a:t>- 2. To address patients' anxieties and fears, encourage open conversation and active listening.</a:t>
            </a:r>
          </a:p>
          <a:p>
            <a:pPr lvl="1">
              <a:spcAft>
                <a:spcPts val="400"/>
              </a:spcAft>
              <a:defRPr sz="1600">
                <a:solidFill>
                  <a:srgbClr val="3C3C3C"/>
                </a:solidFill>
                <a:latin typeface="Arial"/>
              </a:defRPr>
            </a:pPr>
            <a:r>
              <a:t>- 3. To provide further emotional support, refer patients to suitable options such as support groups or counseling services.</a:t>
            </a:r>
          </a:p>
        </p:txBody>
      </p:sp>
      <p:pic>
        <p:nvPicPr>
          <p:cNvPr id="5" name="Picture 4" descr="nursing_care_icon.png"/>
          <p:cNvPicPr>
            <a:picLocks noChangeAspect="1"/>
          </p:cNvPicPr>
          <p:nvPr/>
        </p:nvPicPr>
        <p:blipFill>
          <a:blip r:embed="rId2"/>
          <a:stretch>
            <a:fillRect/>
          </a:stretch>
        </p:blipFill>
        <p:spPr>
          <a:xfrm>
            <a:off x="6492240" y="1645920"/>
            <a:ext cx="4937760" cy="448056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228600"/>
            <a:ext cx="10698480" cy="365760"/>
          </a:xfrm>
          <a:prstGeom prst="rect">
            <a:avLst/>
          </a:prstGeom>
          <a:noFill/>
        </p:spPr>
        <p:txBody>
          <a:bodyPr wrap="square" tIns="0" bIns="0" lIns="0" rIns="0">
            <a:spAutoFit/>
          </a:bodyPr>
          <a:lstStyle/>
          <a:p>
            <a:pPr>
              <a:defRPr sz="1400" b="1">
                <a:solidFill>
                  <a:srgbClr val="228B8B"/>
                </a:solidFill>
                <a:latin typeface="Arial"/>
              </a:defRPr>
            </a:pPr>
            <a:r>
              <a:t>PAGET'S DISEASE</a:t>
            </a:r>
          </a:p>
        </p:txBody>
      </p:sp>
      <p:sp>
        <p:nvSpPr>
          <p:cNvPr id="3" name="TextBox 2"/>
          <p:cNvSpPr txBox="1"/>
          <p:nvPr/>
        </p:nvSpPr>
        <p:spPr>
          <a:xfrm>
            <a:off x="731520" y="548640"/>
            <a:ext cx="10698480" cy="914400"/>
          </a:xfrm>
          <a:prstGeom prst="rect">
            <a:avLst/>
          </a:prstGeom>
          <a:noFill/>
        </p:spPr>
        <p:txBody>
          <a:bodyPr wrap="square" tIns="0" bIns="0" lIns="0" rIns="0">
            <a:spAutoFit/>
          </a:bodyPr>
          <a:lstStyle/>
          <a:p>
            <a:pPr>
              <a:defRPr sz="4000" b="1">
                <a:solidFill>
                  <a:srgbClr val="162639"/>
                </a:solidFill>
                <a:latin typeface="Georgia"/>
              </a:defRPr>
            </a:pPr>
            <a:r>
              <a:t>Definition &amp; Etiology</a:t>
            </a:r>
          </a:p>
        </p:txBody>
      </p:sp>
      <p:sp>
        <p:nvSpPr>
          <p:cNvPr id="4" name="TextBox 3"/>
          <p:cNvSpPr txBox="1"/>
          <p:nvPr/>
        </p:nvSpPr>
        <p:spPr>
          <a:xfrm>
            <a:off x="731520" y="1645920"/>
            <a:ext cx="5486400" cy="4572000"/>
          </a:xfrm>
          <a:prstGeom prst="rect">
            <a:avLst/>
          </a:prstGeom>
          <a:noFill/>
        </p:spPr>
        <p:txBody>
          <a:bodyPr wrap="square" lIns="0" rIns="0" tIns="0" bIns="0">
            <a:spAutoFit/>
          </a:bodyPr>
          <a:lstStyle/>
          <a:p>
            <a:pPr>
              <a:spcAft>
                <a:spcPts val="400"/>
              </a:spcAft>
              <a:defRPr sz="2000" b="1">
                <a:solidFill>
                  <a:srgbClr val="162639"/>
                </a:solidFill>
                <a:latin typeface="Arial"/>
              </a:defRPr>
            </a:pPr>
            <a:r>
              <a:t>Definition:</a:t>
            </a:r>
          </a:p>
          <a:p>
            <a:pPr lvl="1">
              <a:spcAft>
                <a:spcPts val="400"/>
              </a:spcAft>
              <a:defRPr sz="1600" b="1">
                <a:solidFill>
                  <a:srgbClr val="C0392B"/>
                </a:solidFill>
                <a:latin typeface="Arial"/>
              </a:defRPr>
            </a:pPr>
            <a:r>
              <a:t>- Paget's disease of the bone is a skeletal disorder resulting from excessive osteoclast activity, affecting the long bones, pelvis, lumbar vertebrae, and the skull predominantly.</a:t>
            </a:r>
          </a:p>
          <a:p>
            <a:pPr>
              <a:spcAft>
                <a:spcPts val="400"/>
              </a:spcAft>
              <a:defRPr sz="2000" b="1">
                <a:solidFill>
                  <a:srgbClr val="162639"/>
                </a:solidFill>
                <a:latin typeface="Arial"/>
              </a:defRPr>
            </a:pPr>
            <a:r>
              <a:t>Etiology &amp; Epidemiology:</a:t>
            </a:r>
          </a:p>
          <a:p>
            <a:pPr lvl="1">
              <a:spcAft>
                <a:spcPts val="400"/>
              </a:spcAft>
              <a:defRPr sz="1600">
                <a:solidFill>
                  <a:srgbClr val="3C3C3C"/>
                </a:solidFill>
                <a:latin typeface="Arial"/>
              </a:defRPr>
            </a:pPr>
            <a:r>
              <a:t>- 1. The cause of this disease is unknown, although there is evidence of familial tendency (25% to 40% have at least one affected relative).</a:t>
            </a:r>
          </a:p>
          <a:p>
            <a:pPr lvl="1">
              <a:spcAft>
                <a:spcPts val="400"/>
              </a:spcAft>
              <a:defRPr sz="1600">
                <a:solidFill>
                  <a:srgbClr val="3C3C3C"/>
                </a:solidFill>
                <a:latin typeface="Arial"/>
              </a:defRPr>
            </a:pPr>
            <a:r>
              <a:t>- 2. More common in men than in women.</a:t>
            </a:r>
          </a:p>
          <a:p>
            <a:pPr lvl="1">
              <a:spcAft>
                <a:spcPts val="400"/>
              </a:spcAft>
              <a:defRPr sz="1600" b="1">
                <a:solidFill>
                  <a:srgbClr val="C0392B"/>
                </a:solidFill>
                <a:latin typeface="Arial"/>
              </a:defRPr>
            </a:pPr>
            <a:r>
              <a:t>- 3. Rare before age 40 and increases as age does-12% after age 80.</a:t>
            </a:r>
          </a:p>
          <a:p>
            <a:pPr lvl="1">
              <a:spcAft>
                <a:spcPts val="400"/>
              </a:spcAft>
              <a:defRPr sz="1600">
                <a:solidFill>
                  <a:srgbClr val="3C3C3C"/>
                </a:solidFill>
                <a:latin typeface="Arial"/>
              </a:defRPr>
            </a:pPr>
            <a:r>
              <a:t>- 4. May be caused by infection from blood-borne viruses. After acute viremia osteoclasts become chronically infected, stimulating octeoclastic proliferation.</a:t>
            </a:r>
          </a:p>
        </p:txBody>
      </p:sp>
      <p:pic>
        <p:nvPicPr>
          <p:cNvPr id="5" name="Picture 4" descr="pagets_bone.png"/>
          <p:cNvPicPr>
            <a:picLocks noChangeAspect="1"/>
          </p:cNvPicPr>
          <p:nvPr/>
        </p:nvPicPr>
        <p:blipFill>
          <a:blip r:embed="rId2"/>
          <a:stretch>
            <a:fillRect/>
          </a:stretch>
        </p:blipFill>
        <p:spPr>
          <a:xfrm>
            <a:off x="6492240" y="1645920"/>
            <a:ext cx="4937760" cy="448056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228600"/>
            <a:ext cx="10698480" cy="365760"/>
          </a:xfrm>
          <a:prstGeom prst="rect">
            <a:avLst/>
          </a:prstGeom>
          <a:noFill/>
        </p:spPr>
        <p:txBody>
          <a:bodyPr wrap="square" tIns="0" bIns="0" lIns="0" rIns="0">
            <a:spAutoFit/>
          </a:bodyPr>
          <a:lstStyle/>
          <a:p>
            <a:pPr>
              <a:defRPr sz="1400" b="1">
                <a:solidFill>
                  <a:srgbClr val="228B8B"/>
                </a:solidFill>
                <a:latin typeface="Arial"/>
              </a:defRPr>
            </a:pPr>
            <a:r>
              <a:t>PAGET'S DISEASE</a:t>
            </a:r>
          </a:p>
        </p:txBody>
      </p:sp>
      <p:sp>
        <p:nvSpPr>
          <p:cNvPr id="3" name="TextBox 2"/>
          <p:cNvSpPr txBox="1"/>
          <p:nvPr/>
        </p:nvSpPr>
        <p:spPr>
          <a:xfrm>
            <a:off x="731520" y="548640"/>
            <a:ext cx="10698480" cy="914400"/>
          </a:xfrm>
          <a:prstGeom prst="rect">
            <a:avLst/>
          </a:prstGeom>
          <a:noFill/>
        </p:spPr>
        <p:txBody>
          <a:bodyPr wrap="square" tIns="0" bIns="0" lIns="0" rIns="0">
            <a:spAutoFit/>
          </a:bodyPr>
          <a:lstStyle/>
          <a:p>
            <a:pPr>
              <a:defRPr sz="4000" b="1">
                <a:solidFill>
                  <a:srgbClr val="162639"/>
                </a:solidFill>
                <a:latin typeface="Georgia"/>
              </a:defRPr>
            </a:pPr>
            <a:r>
              <a:t>Pathophysiology</a:t>
            </a:r>
          </a:p>
        </p:txBody>
      </p:sp>
      <p:sp>
        <p:nvSpPr>
          <p:cNvPr id="4" name="TextBox 3"/>
          <p:cNvSpPr txBox="1"/>
          <p:nvPr/>
        </p:nvSpPr>
        <p:spPr>
          <a:xfrm>
            <a:off x="731520" y="1645920"/>
            <a:ext cx="5486400" cy="4572000"/>
          </a:xfrm>
          <a:prstGeom prst="rect">
            <a:avLst/>
          </a:prstGeom>
          <a:noFill/>
        </p:spPr>
        <p:txBody>
          <a:bodyPr wrap="square" lIns="0" rIns="0" tIns="0" bIns="0">
            <a:spAutoFit/>
          </a:bodyPr>
          <a:lstStyle/>
          <a:p>
            <a:pPr>
              <a:spcAft>
                <a:spcPts val="600"/>
              </a:spcAft>
              <a:defRPr sz="2400" b="1">
                <a:solidFill>
                  <a:srgbClr val="162639"/>
                </a:solidFill>
                <a:latin typeface="Arial"/>
              </a:defRPr>
            </a:pPr>
            <a:r>
              <a:t>Pathophysiology of Paget's Disease:</a:t>
            </a:r>
          </a:p>
          <a:p>
            <a:pPr lvl="1">
              <a:spcAft>
                <a:spcPts val="600"/>
              </a:spcAft>
              <a:defRPr sz="2000">
                <a:solidFill>
                  <a:srgbClr val="3C3C3C"/>
                </a:solidFill>
                <a:latin typeface="Arial"/>
              </a:defRPr>
            </a:pPr>
            <a:r>
              <a:t>- Paget's disease of the bone is a skeletal disorder resulting from excessive osteoclast activity.</a:t>
            </a:r>
          </a:p>
          <a:p>
            <a:pPr lvl="1">
              <a:spcAft>
                <a:spcPts val="600"/>
              </a:spcAft>
              <a:defRPr sz="2000">
                <a:solidFill>
                  <a:srgbClr val="3C3C3C"/>
                </a:solidFill>
                <a:latin typeface="Arial"/>
              </a:defRPr>
            </a:pPr>
            <a:r>
              <a:t>- Infection from blood-borne viruses may cause this disorder.</a:t>
            </a:r>
          </a:p>
          <a:p>
            <a:pPr lvl="1">
              <a:spcAft>
                <a:spcPts val="600"/>
              </a:spcAft>
              <a:defRPr sz="2000" b="1">
                <a:solidFill>
                  <a:srgbClr val="C0392B"/>
                </a:solidFill>
                <a:latin typeface="Arial"/>
              </a:defRPr>
            </a:pPr>
            <a:r>
              <a:t>- After acute viremia, osteoclasts become chronically infected.</a:t>
            </a:r>
          </a:p>
          <a:p>
            <a:pPr lvl="1">
              <a:spcAft>
                <a:spcPts val="600"/>
              </a:spcAft>
              <a:defRPr sz="2000">
                <a:solidFill>
                  <a:srgbClr val="3C3C3C"/>
                </a:solidFill>
                <a:latin typeface="Arial"/>
              </a:defRPr>
            </a:pPr>
            <a:r>
              <a:t>- This chronic infection stimulates osteoclastic proliferation, affecting the long bones, pelvis, lumbar vertebrae, and the skull predominantly.</a:t>
            </a:r>
          </a:p>
        </p:txBody>
      </p:sp>
      <p:pic>
        <p:nvPicPr>
          <p:cNvPr id="5" name="Picture 4" descr="bone_remodeling.png"/>
          <p:cNvPicPr>
            <a:picLocks noChangeAspect="1"/>
          </p:cNvPicPr>
          <p:nvPr/>
        </p:nvPicPr>
        <p:blipFill>
          <a:blip r:embed="rId2"/>
          <a:stretch>
            <a:fillRect/>
          </a:stretch>
        </p:blipFill>
        <p:spPr>
          <a:xfrm>
            <a:off x="6492240" y="1645920"/>
            <a:ext cx="4937760" cy="448056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228600"/>
            <a:ext cx="10698480" cy="365760"/>
          </a:xfrm>
          <a:prstGeom prst="rect">
            <a:avLst/>
          </a:prstGeom>
          <a:noFill/>
        </p:spPr>
        <p:txBody>
          <a:bodyPr wrap="square" tIns="0" bIns="0" lIns="0" rIns="0">
            <a:spAutoFit/>
          </a:bodyPr>
          <a:lstStyle/>
          <a:p>
            <a:pPr>
              <a:defRPr sz="1400" b="1">
                <a:solidFill>
                  <a:srgbClr val="228B8B"/>
                </a:solidFill>
                <a:latin typeface="Arial"/>
              </a:defRPr>
            </a:pPr>
            <a:r>
              <a:t>PAGET'S DISEASE</a:t>
            </a:r>
          </a:p>
        </p:txBody>
      </p:sp>
      <p:sp>
        <p:nvSpPr>
          <p:cNvPr id="3" name="TextBox 2"/>
          <p:cNvSpPr txBox="1"/>
          <p:nvPr/>
        </p:nvSpPr>
        <p:spPr>
          <a:xfrm>
            <a:off x="731520" y="548640"/>
            <a:ext cx="10698480" cy="914400"/>
          </a:xfrm>
          <a:prstGeom prst="rect">
            <a:avLst/>
          </a:prstGeom>
          <a:noFill/>
        </p:spPr>
        <p:txBody>
          <a:bodyPr wrap="square" tIns="0" bIns="0" lIns="0" rIns="0">
            <a:spAutoFit/>
          </a:bodyPr>
          <a:lstStyle/>
          <a:p>
            <a:pPr>
              <a:defRPr sz="4000" b="1">
                <a:solidFill>
                  <a:srgbClr val="162639"/>
                </a:solidFill>
                <a:latin typeface="Georgia"/>
              </a:defRPr>
            </a:pPr>
            <a:r>
              <a:t>Clinical Manifestations</a:t>
            </a:r>
          </a:p>
        </p:txBody>
      </p:sp>
      <p:sp>
        <p:nvSpPr>
          <p:cNvPr id="4" name="TextBox 3"/>
          <p:cNvSpPr txBox="1"/>
          <p:nvPr/>
        </p:nvSpPr>
        <p:spPr>
          <a:xfrm>
            <a:off x="731520" y="1645920"/>
            <a:ext cx="5486400" cy="4572000"/>
          </a:xfrm>
          <a:prstGeom prst="rect">
            <a:avLst/>
          </a:prstGeom>
          <a:noFill/>
        </p:spPr>
        <p:txBody>
          <a:bodyPr wrap="square" lIns="0" rIns="0" tIns="0" bIns="0">
            <a:spAutoFit/>
          </a:bodyPr>
          <a:lstStyle/>
          <a:p>
            <a:pPr>
              <a:spcAft>
                <a:spcPts val="400"/>
              </a:spcAft>
              <a:defRPr sz="2000">
                <a:solidFill>
                  <a:srgbClr val="3C3C3C"/>
                </a:solidFill>
                <a:latin typeface="Arial"/>
              </a:defRPr>
            </a:pPr>
            <a:r>
              <a:t>1. Generally asymptomatic.</a:t>
            </a:r>
          </a:p>
          <a:p>
            <a:pPr>
              <a:spcAft>
                <a:spcPts val="400"/>
              </a:spcAft>
              <a:defRPr sz="2000">
                <a:solidFill>
                  <a:srgbClr val="3C3C3C"/>
                </a:solidFill>
                <a:latin typeface="Arial"/>
              </a:defRPr>
            </a:pPr>
            <a:r>
              <a:t>2. Most common symptoms are pain and predisposition to fracture.</a:t>
            </a:r>
          </a:p>
          <a:p>
            <a:pPr>
              <a:spcAft>
                <a:spcPts val="400"/>
              </a:spcAft>
              <a:defRPr sz="2000" b="1">
                <a:solidFill>
                  <a:srgbClr val="C0392B"/>
                </a:solidFill>
                <a:latin typeface="Arial"/>
              </a:defRPr>
            </a:pPr>
            <a:r>
              <a:t>3. Pagetic lesions can lead to OA, joint destruction, spinal deformity.</a:t>
            </a:r>
          </a:p>
          <a:p>
            <a:pPr>
              <a:spcAft>
                <a:spcPts val="400"/>
              </a:spcAft>
              <a:defRPr sz="2000">
                <a:solidFill>
                  <a:srgbClr val="3C3C3C"/>
                </a:solidFill>
                <a:latin typeface="Arial"/>
              </a:defRPr>
            </a:pPr>
            <a:r>
              <a:t>4. Decrease in hearing, tinnitus, and vertigo as a tent of abnormality.</a:t>
            </a:r>
          </a:p>
          <a:p>
            <a:pPr>
              <a:spcAft>
                <a:spcPts val="400"/>
              </a:spcAft>
              <a:defRPr sz="2000">
                <a:solidFill>
                  <a:srgbClr val="3C3C3C"/>
                </a:solidFill>
                <a:latin typeface="Arial"/>
              </a:defRPr>
            </a:pPr>
            <a:r>
              <a:t>5. Waddling gait due to abnormality of pelvis.</a:t>
            </a:r>
          </a:p>
          <a:p>
            <a:pPr>
              <a:spcAft>
                <a:spcPts val="400"/>
              </a:spcAft>
              <a:defRPr sz="2000" b="1">
                <a:solidFill>
                  <a:srgbClr val="C0392B"/>
                </a:solidFill>
                <a:latin typeface="Arial"/>
              </a:defRPr>
            </a:pPr>
            <a:r>
              <a:t>6. Radiculopathy and nerve palsies due to effects from de vertebral column.</a:t>
            </a:r>
          </a:p>
          <a:p>
            <a:pPr>
              <a:spcAft>
                <a:spcPts val="400"/>
              </a:spcAft>
              <a:defRPr sz="2000">
                <a:solidFill>
                  <a:srgbClr val="3C3C3C"/>
                </a:solidFill>
                <a:latin typeface="Arial"/>
              </a:defRPr>
            </a:pPr>
            <a:r>
              <a:t>7. Rarely, heart failure and other cardiovascular effects increased blood supply over abnormal bone.</a:t>
            </a:r>
          </a:p>
          <a:p>
            <a:pPr>
              <a:spcAft>
                <a:spcPts val="400"/>
              </a:spcAft>
              <a:defRPr sz="2000">
                <a:solidFill>
                  <a:srgbClr val="3C3C3C"/>
                </a:solidFill>
                <a:latin typeface="Arial"/>
              </a:defRPr>
            </a:pPr>
            <a:r>
              <a:t>8. Malignant bone tumors occur in 5% to 10%</a:t>
            </a:r>
          </a:p>
        </p:txBody>
      </p:sp>
      <p:pic>
        <p:nvPicPr>
          <p:cNvPr id="5" name="Picture 4" descr="pagets_skull.png"/>
          <p:cNvPicPr>
            <a:picLocks noChangeAspect="1"/>
          </p:cNvPicPr>
          <p:nvPr/>
        </p:nvPicPr>
        <p:blipFill>
          <a:blip r:embed="rId2"/>
          <a:stretch>
            <a:fillRect/>
          </a:stretch>
        </p:blipFill>
        <p:spPr>
          <a:xfrm>
            <a:off x="6492240" y="1645920"/>
            <a:ext cx="4937760" cy="448056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228600"/>
            <a:ext cx="10698480" cy="365760"/>
          </a:xfrm>
          <a:prstGeom prst="rect">
            <a:avLst/>
          </a:prstGeom>
          <a:noFill/>
        </p:spPr>
        <p:txBody>
          <a:bodyPr wrap="square" tIns="0" bIns="0" lIns="0" rIns="0">
            <a:spAutoFit/>
          </a:bodyPr>
          <a:lstStyle/>
          <a:p>
            <a:pPr>
              <a:defRPr sz="1400" b="1">
                <a:solidFill>
                  <a:srgbClr val="228B8B"/>
                </a:solidFill>
                <a:latin typeface="Arial"/>
              </a:defRPr>
            </a:pPr>
            <a:r>
              <a:t>PAGET'S DISEASE</a:t>
            </a:r>
          </a:p>
        </p:txBody>
      </p:sp>
      <p:sp>
        <p:nvSpPr>
          <p:cNvPr id="3" name="TextBox 2"/>
          <p:cNvSpPr txBox="1"/>
          <p:nvPr/>
        </p:nvSpPr>
        <p:spPr>
          <a:xfrm>
            <a:off x="731520" y="548640"/>
            <a:ext cx="10698480" cy="914400"/>
          </a:xfrm>
          <a:prstGeom prst="rect">
            <a:avLst/>
          </a:prstGeom>
          <a:noFill/>
        </p:spPr>
        <p:txBody>
          <a:bodyPr wrap="square" tIns="0" bIns="0" lIns="0" rIns="0">
            <a:spAutoFit/>
          </a:bodyPr>
          <a:lstStyle/>
          <a:p>
            <a:pPr>
              <a:defRPr sz="4000" b="1">
                <a:solidFill>
                  <a:srgbClr val="162639"/>
                </a:solidFill>
                <a:latin typeface="Georgia"/>
              </a:defRPr>
            </a:pPr>
            <a:r>
              <a:t>Diagnostic Evaluation</a:t>
            </a:r>
          </a:p>
        </p:txBody>
      </p:sp>
      <p:sp>
        <p:nvSpPr>
          <p:cNvPr id="4" name="TextBox 3"/>
          <p:cNvSpPr txBox="1"/>
          <p:nvPr/>
        </p:nvSpPr>
        <p:spPr>
          <a:xfrm>
            <a:off x="731520" y="1645920"/>
            <a:ext cx="5486400" cy="4572000"/>
          </a:xfrm>
          <a:prstGeom prst="rect">
            <a:avLst/>
          </a:prstGeom>
          <a:noFill/>
        </p:spPr>
        <p:txBody>
          <a:bodyPr wrap="square" lIns="0" rIns="0" tIns="0" bIns="0">
            <a:spAutoFit/>
          </a:bodyPr>
          <a:lstStyle/>
          <a:p>
            <a:pPr>
              <a:spcAft>
                <a:spcPts val="600"/>
              </a:spcAft>
              <a:defRPr sz="2400" b="1">
                <a:solidFill>
                  <a:srgbClr val="C0392B"/>
                </a:solidFill>
                <a:latin typeface="Arial"/>
              </a:defRPr>
            </a:pPr>
            <a:r>
              <a:t>1. Elevated serum ALP and urine hydroxypro-line.</a:t>
            </a:r>
          </a:p>
          <a:p>
            <a:pPr>
              <a:spcAft>
                <a:spcPts val="600"/>
              </a:spcAft>
              <a:defRPr sz="2400">
                <a:solidFill>
                  <a:srgbClr val="3C3C3C"/>
                </a:solidFill>
                <a:latin typeface="Arial"/>
              </a:defRPr>
            </a:pPr>
            <a:r>
              <a:t>2. Serum calcium, phosphorus, and albumin levels usually normal.</a:t>
            </a:r>
          </a:p>
          <a:p>
            <a:pPr>
              <a:spcAft>
                <a:spcPts val="600"/>
              </a:spcAft>
              <a:defRPr sz="2400">
                <a:solidFill>
                  <a:srgbClr val="3C3C3C"/>
                </a:solidFill>
                <a:latin typeface="Arial"/>
              </a:defRPr>
            </a:pPr>
            <a:r>
              <a:t>3. Generally confirmed with radiologic examinations showing characteristic abnormalities.</a:t>
            </a:r>
          </a:p>
          <a:p>
            <a:pPr>
              <a:spcAft>
                <a:spcPts val="600"/>
              </a:spcAft>
              <a:defRPr sz="2400">
                <a:solidFill>
                  <a:srgbClr val="3C3C3C"/>
                </a:solidFill>
                <a:latin typeface="Arial"/>
              </a:defRPr>
            </a:pPr>
            <a:r>
              <a:t>4. Bone scans can evaluate rapid bone turnover.</a:t>
            </a:r>
          </a:p>
          <a:p>
            <a:pPr>
              <a:spcAft>
                <a:spcPts val="600"/>
              </a:spcAft>
              <a:defRPr sz="2400">
                <a:solidFill>
                  <a:srgbClr val="3C3C3C"/>
                </a:solidFill>
                <a:latin typeface="Arial"/>
              </a:defRPr>
            </a:pPr>
            <a:r>
              <a:t>5. Bone biopsy to differentiate from other conditions.</a:t>
            </a:r>
          </a:p>
        </p:txBody>
      </p:sp>
      <p:pic>
        <p:nvPicPr>
          <p:cNvPr id="5" name="Picture 4" descr="pagets_skull.png"/>
          <p:cNvPicPr>
            <a:picLocks noChangeAspect="1"/>
          </p:cNvPicPr>
          <p:nvPr/>
        </p:nvPicPr>
        <p:blipFill>
          <a:blip r:embed="rId2"/>
          <a:stretch>
            <a:fillRect/>
          </a:stretch>
        </p:blipFill>
        <p:spPr>
          <a:xfrm>
            <a:off x="6492240" y="1645920"/>
            <a:ext cx="4937760" cy="448056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228600"/>
            <a:ext cx="10698480" cy="365760"/>
          </a:xfrm>
          <a:prstGeom prst="rect">
            <a:avLst/>
          </a:prstGeom>
          <a:noFill/>
        </p:spPr>
        <p:txBody>
          <a:bodyPr wrap="square" tIns="0" bIns="0" lIns="0" rIns="0">
            <a:spAutoFit/>
          </a:bodyPr>
          <a:lstStyle/>
          <a:p>
            <a:pPr>
              <a:defRPr sz="1400" b="1">
                <a:solidFill>
                  <a:srgbClr val="228B8B"/>
                </a:solidFill>
                <a:latin typeface="Arial"/>
              </a:defRPr>
            </a:pPr>
            <a:r>
              <a:t>PAGET'S DISEASE</a:t>
            </a:r>
          </a:p>
        </p:txBody>
      </p:sp>
      <p:sp>
        <p:nvSpPr>
          <p:cNvPr id="3" name="TextBox 2"/>
          <p:cNvSpPr txBox="1"/>
          <p:nvPr/>
        </p:nvSpPr>
        <p:spPr>
          <a:xfrm>
            <a:off x="731520" y="548640"/>
            <a:ext cx="10698480" cy="914400"/>
          </a:xfrm>
          <a:prstGeom prst="rect">
            <a:avLst/>
          </a:prstGeom>
          <a:noFill/>
        </p:spPr>
        <p:txBody>
          <a:bodyPr wrap="square" tIns="0" bIns="0" lIns="0" rIns="0">
            <a:spAutoFit/>
          </a:bodyPr>
          <a:lstStyle/>
          <a:p>
            <a:pPr>
              <a:defRPr sz="4000" b="1">
                <a:solidFill>
                  <a:srgbClr val="162639"/>
                </a:solidFill>
                <a:latin typeface="Georgia"/>
              </a:defRPr>
            </a:pPr>
            <a:r>
              <a:t>Medical &amp; Surgical Management</a:t>
            </a:r>
          </a:p>
        </p:txBody>
      </p:sp>
      <p:sp>
        <p:nvSpPr>
          <p:cNvPr id="4" name="TextBox 3"/>
          <p:cNvSpPr txBox="1"/>
          <p:nvPr/>
        </p:nvSpPr>
        <p:spPr>
          <a:xfrm>
            <a:off x="731520" y="1645920"/>
            <a:ext cx="5486400" cy="4572000"/>
          </a:xfrm>
          <a:prstGeom prst="rect">
            <a:avLst/>
          </a:prstGeom>
          <a:noFill/>
        </p:spPr>
        <p:txBody>
          <a:bodyPr wrap="square" lIns="0" rIns="0" tIns="0" bIns="0">
            <a:spAutoFit/>
          </a:bodyPr>
          <a:lstStyle/>
          <a:p>
            <a:pPr>
              <a:spcAft>
                <a:spcPts val="400"/>
              </a:spcAft>
              <a:defRPr sz="2000" b="1">
                <a:solidFill>
                  <a:srgbClr val="162639"/>
                </a:solidFill>
                <a:latin typeface="Arial"/>
              </a:defRPr>
            </a:pPr>
            <a:r>
              <a:t>Medical Management:</a:t>
            </a:r>
          </a:p>
          <a:p>
            <a:pPr lvl="1">
              <a:spcAft>
                <a:spcPts val="400"/>
              </a:spcAft>
              <a:defRPr sz="1600">
                <a:solidFill>
                  <a:srgbClr val="3C3C3C"/>
                </a:solidFill>
                <a:latin typeface="Arial"/>
              </a:defRPr>
            </a:pPr>
            <a:r>
              <a:t>- 1. No treatment for asymptomatic Paget's.</a:t>
            </a:r>
          </a:p>
          <a:p>
            <a:pPr lvl="1">
              <a:spcAft>
                <a:spcPts val="400"/>
              </a:spcAft>
              <a:defRPr sz="1600">
                <a:solidFill>
                  <a:srgbClr val="3C3C3C"/>
                </a:solidFill>
                <a:latin typeface="Arial"/>
              </a:defRPr>
            </a:pPr>
            <a:r>
              <a:t>- 2. Pain management-NSAIDs, aspirin.</a:t>
            </a:r>
          </a:p>
          <a:p>
            <a:pPr lvl="1">
              <a:spcAft>
                <a:spcPts val="400"/>
              </a:spcAft>
              <a:defRPr sz="1600" b="1">
                <a:solidFill>
                  <a:srgbClr val="C0392B"/>
                </a:solidFill>
                <a:latin typeface="Arial"/>
              </a:defRPr>
            </a:pPr>
            <a:r>
              <a:t>- 3. Medications-calcitonin is the main medication used to suppress bone turnover, reduce pain, and prevent progression.</a:t>
            </a:r>
          </a:p>
          <a:p>
            <a:pPr lvl="1">
              <a:spcAft>
                <a:spcPts val="400"/>
              </a:spcAft>
              <a:defRPr sz="1600">
                <a:solidFill>
                  <a:srgbClr val="3C3C3C"/>
                </a:solidFill>
                <a:latin typeface="Arial"/>
              </a:defRPr>
            </a:pPr>
            <a:r>
              <a:t>- 4. Other medications used to block bone resorption: bisphosphonates etidronate disodium, alendronate, pamidronate. Risedronate, an antineoplastic agent, plicamycin.</a:t>
            </a:r>
          </a:p>
          <a:p>
            <a:pPr>
              <a:spcAft>
                <a:spcPts val="400"/>
              </a:spcAft>
              <a:defRPr sz="2000" b="1">
                <a:solidFill>
                  <a:srgbClr val="C0392B"/>
                </a:solidFill>
                <a:latin typeface="Arial"/>
              </a:defRPr>
            </a:pPr>
            <a:r>
              <a:t>Surgical Management:</a:t>
            </a:r>
          </a:p>
          <a:p>
            <a:pPr lvl="1">
              <a:spcAft>
                <a:spcPts val="400"/>
              </a:spcAft>
              <a:defRPr sz="1600">
                <a:solidFill>
                  <a:srgbClr val="3C3C3C"/>
                </a:solidFill>
                <a:latin typeface="Arial"/>
              </a:defRPr>
            </a:pPr>
            <a:r>
              <a:t>- 5. Tibial osteotomy done to realign knees and relieve pain.</a:t>
            </a:r>
          </a:p>
        </p:txBody>
      </p:sp>
      <p:pic>
        <p:nvPicPr>
          <p:cNvPr id="5" name="Picture 4" descr="pagets_bone.png"/>
          <p:cNvPicPr>
            <a:picLocks noChangeAspect="1"/>
          </p:cNvPicPr>
          <p:nvPr/>
        </p:nvPicPr>
        <p:blipFill>
          <a:blip r:embed="rId2"/>
          <a:stretch>
            <a:fillRect/>
          </a:stretch>
        </p:blipFill>
        <p:spPr>
          <a:xfrm>
            <a:off x="6492240" y="1645920"/>
            <a:ext cx="4937760" cy="448056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228600"/>
            <a:ext cx="10698480" cy="365760"/>
          </a:xfrm>
          <a:prstGeom prst="rect">
            <a:avLst/>
          </a:prstGeom>
          <a:noFill/>
        </p:spPr>
        <p:txBody>
          <a:bodyPr wrap="square" tIns="0" bIns="0" lIns="0" rIns="0">
            <a:spAutoFit/>
          </a:bodyPr>
          <a:lstStyle/>
          <a:p>
            <a:pPr>
              <a:defRPr sz="1400" b="1">
                <a:solidFill>
                  <a:srgbClr val="228B8B"/>
                </a:solidFill>
                <a:latin typeface="Arial"/>
              </a:defRPr>
            </a:pPr>
            <a:r>
              <a:t>PAGET'S DISEASE: NURSING</a:t>
            </a:r>
          </a:p>
        </p:txBody>
      </p:sp>
      <p:sp>
        <p:nvSpPr>
          <p:cNvPr id="3" name="TextBox 2"/>
          <p:cNvSpPr txBox="1"/>
          <p:nvPr/>
        </p:nvSpPr>
        <p:spPr>
          <a:xfrm>
            <a:off x="731520" y="548640"/>
            <a:ext cx="10698480" cy="914400"/>
          </a:xfrm>
          <a:prstGeom prst="rect">
            <a:avLst/>
          </a:prstGeom>
          <a:noFill/>
        </p:spPr>
        <p:txBody>
          <a:bodyPr wrap="square" tIns="0" bIns="0" lIns="0" rIns="0">
            <a:spAutoFit/>
          </a:bodyPr>
          <a:lstStyle/>
          <a:p>
            <a:pPr>
              <a:defRPr sz="4000" b="1">
                <a:solidFill>
                  <a:srgbClr val="162639"/>
                </a:solidFill>
                <a:latin typeface="Georgia"/>
              </a:defRPr>
            </a:pPr>
            <a:r>
              <a:t>Nursing Assessment</a:t>
            </a:r>
          </a:p>
        </p:txBody>
      </p:sp>
      <p:sp>
        <p:nvSpPr>
          <p:cNvPr id="4" name="TextBox 3"/>
          <p:cNvSpPr txBox="1"/>
          <p:nvPr/>
        </p:nvSpPr>
        <p:spPr>
          <a:xfrm>
            <a:off x="731520" y="1645920"/>
            <a:ext cx="5486400" cy="4572000"/>
          </a:xfrm>
          <a:prstGeom prst="rect">
            <a:avLst/>
          </a:prstGeom>
          <a:noFill/>
        </p:spPr>
        <p:txBody>
          <a:bodyPr wrap="square" lIns="0" rIns="0" tIns="0" bIns="0">
            <a:spAutoFit/>
          </a:bodyPr>
          <a:lstStyle/>
          <a:p>
            <a:pPr>
              <a:spcAft>
                <a:spcPts val="800"/>
              </a:spcAft>
              <a:defRPr sz="2800" b="1">
                <a:solidFill>
                  <a:srgbClr val="162639"/>
                </a:solidFill>
                <a:latin typeface="Arial"/>
              </a:defRPr>
            </a:pPr>
            <a:r>
              <a:t>Nursing Assessment Guidelines:</a:t>
            </a:r>
          </a:p>
          <a:p>
            <a:pPr lvl="1">
              <a:spcAft>
                <a:spcPts val="800"/>
              </a:spcAft>
              <a:defRPr sz="2300">
                <a:solidFill>
                  <a:srgbClr val="3C3C3C"/>
                </a:solidFill>
                <a:latin typeface="Arial"/>
              </a:defRPr>
            </a:pPr>
            <a:r>
              <a:t>- 1. Assess pain and functional ability.</a:t>
            </a:r>
          </a:p>
          <a:p>
            <a:pPr lvl="1">
              <a:spcAft>
                <a:spcPts val="800"/>
              </a:spcAft>
              <a:defRPr sz="2300">
                <a:solidFill>
                  <a:srgbClr val="3C3C3C"/>
                </a:solidFill>
                <a:latin typeface="Arial"/>
              </a:defRPr>
            </a:pPr>
            <a:r>
              <a:t>- 2. Observe for bowing (legs) or complaint that hats feel tight.</a:t>
            </a:r>
          </a:p>
          <a:p>
            <a:pPr lvl="1">
              <a:spcAft>
                <a:spcPts val="800"/>
              </a:spcAft>
              <a:defRPr sz="2300">
                <a:solidFill>
                  <a:srgbClr val="3C3C3C"/>
                </a:solidFill>
                <a:latin typeface="Arial"/>
              </a:defRPr>
            </a:pPr>
            <a:r>
              <a:t>- 3. Assess for cardiovascular complications.</a:t>
            </a:r>
          </a:p>
          <a:p>
            <a:pPr lvl="1">
              <a:spcAft>
                <a:spcPts val="800"/>
              </a:spcAft>
              <a:defRPr sz="2300" b="1">
                <a:solidFill>
                  <a:srgbClr val="C0392B"/>
                </a:solidFill>
                <a:latin typeface="Arial"/>
              </a:defRPr>
            </a:pPr>
            <a:r>
              <a:t>- 4. Assess for auditory symptoms: tinnitus, vertigo, and hearing loss.</a:t>
            </a:r>
          </a:p>
        </p:txBody>
      </p:sp>
      <p:pic>
        <p:nvPicPr>
          <p:cNvPr id="5" name="Picture 4" descr="pagets_skull.png"/>
          <p:cNvPicPr>
            <a:picLocks noChangeAspect="1"/>
          </p:cNvPicPr>
          <p:nvPr/>
        </p:nvPicPr>
        <p:blipFill>
          <a:blip r:embed="rId2"/>
          <a:stretch>
            <a:fillRect/>
          </a:stretch>
        </p:blipFill>
        <p:spPr>
          <a:xfrm>
            <a:off x="6492240" y="1645920"/>
            <a:ext cx="4937760" cy="448056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228600"/>
            <a:ext cx="10698480" cy="365760"/>
          </a:xfrm>
          <a:prstGeom prst="rect">
            <a:avLst/>
          </a:prstGeom>
          <a:noFill/>
        </p:spPr>
        <p:txBody>
          <a:bodyPr wrap="square" tIns="0" bIns="0" lIns="0" rIns="0">
            <a:spAutoFit/>
          </a:bodyPr>
          <a:lstStyle/>
          <a:p>
            <a:pPr>
              <a:defRPr sz="1400" b="1">
                <a:solidFill>
                  <a:srgbClr val="228B8B"/>
                </a:solidFill>
                <a:latin typeface="Arial"/>
              </a:defRPr>
            </a:pPr>
            <a:r>
              <a:t>PAGET'S DISEASE: NURSING</a:t>
            </a:r>
          </a:p>
        </p:txBody>
      </p:sp>
      <p:sp>
        <p:nvSpPr>
          <p:cNvPr id="3" name="TextBox 2"/>
          <p:cNvSpPr txBox="1"/>
          <p:nvPr/>
        </p:nvSpPr>
        <p:spPr>
          <a:xfrm>
            <a:off x="731520" y="548640"/>
            <a:ext cx="10698480" cy="914400"/>
          </a:xfrm>
          <a:prstGeom prst="rect">
            <a:avLst/>
          </a:prstGeom>
          <a:noFill/>
        </p:spPr>
        <p:txBody>
          <a:bodyPr wrap="square" tIns="0" bIns="0" lIns="0" rIns="0">
            <a:spAutoFit/>
          </a:bodyPr>
          <a:lstStyle/>
          <a:p>
            <a:pPr>
              <a:defRPr sz="4000" b="1">
                <a:solidFill>
                  <a:srgbClr val="162639"/>
                </a:solidFill>
                <a:latin typeface="Georgia"/>
              </a:defRPr>
            </a:pPr>
            <a:r>
              <a:t>Education &amp; Health Maintenance</a:t>
            </a:r>
          </a:p>
        </p:txBody>
      </p:sp>
      <p:sp>
        <p:nvSpPr>
          <p:cNvPr id="4" name="TextBox 3"/>
          <p:cNvSpPr txBox="1"/>
          <p:nvPr/>
        </p:nvSpPr>
        <p:spPr>
          <a:xfrm>
            <a:off x="731520" y="1645920"/>
            <a:ext cx="5486400" cy="4572000"/>
          </a:xfrm>
          <a:prstGeom prst="rect">
            <a:avLst/>
          </a:prstGeom>
          <a:noFill/>
        </p:spPr>
        <p:txBody>
          <a:bodyPr wrap="square" lIns="0" rIns="0" tIns="0" bIns="0">
            <a:spAutoFit/>
          </a:bodyPr>
          <a:lstStyle/>
          <a:p>
            <a:pPr>
              <a:spcAft>
                <a:spcPts val="400"/>
              </a:spcAft>
              <a:defRPr sz="2000" b="1">
                <a:solidFill>
                  <a:srgbClr val="162639"/>
                </a:solidFill>
                <a:latin typeface="Arial"/>
              </a:defRPr>
            </a:pPr>
            <a:r>
              <a:t>Patient Education and Health Maintenance:</a:t>
            </a:r>
          </a:p>
          <a:p>
            <a:pPr lvl="1">
              <a:spcAft>
                <a:spcPts val="400"/>
              </a:spcAft>
              <a:defRPr sz="1600">
                <a:solidFill>
                  <a:srgbClr val="3C3C3C"/>
                </a:solidFill>
                <a:latin typeface="Arial"/>
              </a:defRPr>
            </a:pPr>
            <a:r>
              <a:t>- 1. Teach safety measures in the home-removal of loose rugs and obstacles to prevent falls, good lighting.</a:t>
            </a:r>
          </a:p>
          <a:p>
            <a:pPr lvl="1">
              <a:spcAft>
                <a:spcPts val="400"/>
              </a:spcAft>
              <a:defRPr sz="1600">
                <a:solidFill>
                  <a:srgbClr val="3C3C3C"/>
                </a:solidFill>
                <a:latin typeface="Arial"/>
              </a:defRPr>
            </a:pPr>
            <a:r>
              <a:t>- 2. Provide education about the disease process and medication treatment.</a:t>
            </a:r>
          </a:p>
          <a:p>
            <a:pPr lvl="1">
              <a:spcAft>
                <a:spcPts val="400"/>
              </a:spcAft>
              <a:defRPr sz="1600">
                <a:solidFill>
                  <a:srgbClr val="3C3C3C"/>
                </a:solidFill>
                <a:latin typeface="Arial"/>
              </a:defRPr>
            </a:pPr>
            <a:r>
              <a:t>- 3. Make sure that patient knows how to use mobility aids.</a:t>
            </a:r>
          </a:p>
          <a:p>
            <a:pPr lvl="1">
              <a:spcAft>
                <a:spcPts val="400"/>
              </a:spcAft>
              <a:defRPr sz="1600">
                <a:solidFill>
                  <a:srgbClr val="3C3C3C"/>
                </a:solidFill>
                <a:latin typeface="Arial"/>
              </a:defRPr>
            </a:pPr>
            <a:r>
              <a:t>- 4. Initiate home care referral, as indicated.</a:t>
            </a:r>
          </a:p>
          <a:p>
            <a:pPr lvl="1">
              <a:spcAft>
                <a:spcPts val="400"/>
              </a:spcAft>
              <a:defRPr sz="1600">
                <a:solidFill>
                  <a:srgbClr val="3C3C3C"/>
                </a:solidFill>
                <a:latin typeface="Arial"/>
              </a:defRPr>
            </a:pPr>
            <a:r>
              <a:t>- 5. Provide information about The Paget Foundation (www. paget.org).</a:t>
            </a:r>
          </a:p>
          <a:p>
            <a:pPr lvl="1">
              <a:spcAft>
                <a:spcPts val="400"/>
              </a:spcAft>
              <a:defRPr sz="1600" b="1">
                <a:solidFill>
                  <a:srgbClr val="C0392B"/>
                </a:solidFill>
                <a:latin typeface="Arial"/>
              </a:defRPr>
            </a:pPr>
            <a:r>
              <a:t>- 6. Encourage follow-up for periodic hearing tests and bloodwork.</a:t>
            </a:r>
          </a:p>
        </p:txBody>
      </p:sp>
      <p:pic>
        <p:nvPicPr>
          <p:cNvPr id="5" name="Picture 4" descr="nursing_care_icon.png"/>
          <p:cNvPicPr>
            <a:picLocks noChangeAspect="1"/>
          </p:cNvPicPr>
          <p:nvPr/>
        </p:nvPicPr>
        <p:blipFill>
          <a:blip r:embed="rId2"/>
          <a:stretch>
            <a:fillRect/>
          </a:stretch>
        </p:blipFill>
        <p:spPr>
          <a:xfrm>
            <a:off x="6492240" y="1645920"/>
            <a:ext cx="4937760" cy="448056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228600"/>
            <a:ext cx="10698480" cy="365760"/>
          </a:xfrm>
          <a:prstGeom prst="rect">
            <a:avLst/>
          </a:prstGeom>
          <a:noFill/>
        </p:spPr>
        <p:txBody>
          <a:bodyPr wrap="square" tIns="0" bIns="0" lIns="0" rIns="0">
            <a:spAutoFit/>
          </a:bodyPr>
          <a:lstStyle/>
          <a:p>
            <a:pPr>
              <a:defRPr sz="1400" b="1">
                <a:solidFill>
                  <a:srgbClr val="228B8B"/>
                </a:solidFill>
                <a:latin typeface="Arial"/>
              </a:defRPr>
            </a:pPr>
            <a:r>
              <a:t>RICKETS</a:t>
            </a:r>
          </a:p>
        </p:txBody>
      </p:sp>
      <p:sp>
        <p:nvSpPr>
          <p:cNvPr id="3" name="TextBox 2"/>
          <p:cNvSpPr txBox="1"/>
          <p:nvPr/>
        </p:nvSpPr>
        <p:spPr>
          <a:xfrm>
            <a:off x="731520" y="548640"/>
            <a:ext cx="10698480" cy="914400"/>
          </a:xfrm>
          <a:prstGeom prst="rect">
            <a:avLst/>
          </a:prstGeom>
          <a:noFill/>
        </p:spPr>
        <p:txBody>
          <a:bodyPr wrap="square" tIns="0" bIns="0" lIns="0" rIns="0">
            <a:spAutoFit/>
          </a:bodyPr>
          <a:lstStyle/>
          <a:p>
            <a:pPr>
              <a:defRPr sz="4000" b="1">
                <a:solidFill>
                  <a:srgbClr val="162639"/>
                </a:solidFill>
                <a:latin typeface="Georgia"/>
              </a:defRPr>
            </a:pPr>
            <a:r>
              <a:t>Introduction &amp; Etiology</a:t>
            </a:r>
          </a:p>
        </p:txBody>
      </p:sp>
      <p:sp>
        <p:nvSpPr>
          <p:cNvPr id="4" name="TextBox 3"/>
          <p:cNvSpPr txBox="1"/>
          <p:nvPr/>
        </p:nvSpPr>
        <p:spPr>
          <a:xfrm>
            <a:off x="731520" y="1645920"/>
            <a:ext cx="5486400" cy="4572000"/>
          </a:xfrm>
          <a:prstGeom prst="rect">
            <a:avLst/>
          </a:prstGeom>
          <a:noFill/>
        </p:spPr>
        <p:txBody>
          <a:bodyPr wrap="square" lIns="0" rIns="0" tIns="0" bIns="0">
            <a:spAutoFit/>
          </a:bodyPr>
          <a:lstStyle/>
          <a:p>
            <a:pPr>
              <a:spcAft>
                <a:spcPts val="400"/>
              </a:spcAft>
              <a:defRPr sz="2000" b="1">
                <a:solidFill>
                  <a:srgbClr val="162639"/>
                </a:solidFill>
                <a:latin typeface="Arial"/>
              </a:defRPr>
            </a:pPr>
            <a:r>
              <a:t>Definition:</a:t>
            </a:r>
          </a:p>
          <a:p>
            <a:pPr lvl="1">
              <a:spcAft>
                <a:spcPts val="400"/>
              </a:spcAft>
              <a:defRPr sz="1600" b="1">
                <a:solidFill>
                  <a:srgbClr val="C0392B"/>
                </a:solidFill>
                <a:latin typeface="Arial"/>
              </a:defRPr>
            </a:pPr>
            <a:r>
              <a:t>- Rickets, a disease of growing bone, occurs in children only before fusion of the epiphyses, and is due to unmineralized matrix at the growth plates.</a:t>
            </a:r>
          </a:p>
          <a:p>
            <a:pPr>
              <a:spcAft>
                <a:spcPts val="400"/>
              </a:spcAft>
              <a:defRPr sz="2000" b="1">
                <a:solidFill>
                  <a:srgbClr val="162639"/>
                </a:solidFill>
                <a:latin typeface="Arial"/>
              </a:defRPr>
            </a:pPr>
            <a:r>
              <a:t>Etiology:</a:t>
            </a:r>
          </a:p>
          <a:p>
            <a:pPr lvl="1">
              <a:spcAft>
                <a:spcPts val="400"/>
              </a:spcAft>
              <a:defRPr sz="1600">
                <a:solidFill>
                  <a:srgbClr val="3C3C3C"/>
                </a:solidFill>
                <a:latin typeface="Arial"/>
              </a:defRPr>
            </a:pPr>
            <a:r>
              <a:t>- Vitamin D disorders: nutritional, congenital, secondary, chronic renal failure, malabsorption.</a:t>
            </a:r>
          </a:p>
          <a:p>
            <a:pPr lvl="1">
              <a:spcAft>
                <a:spcPts val="400"/>
              </a:spcAft>
              <a:defRPr sz="1600">
                <a:solidFill>
                  <a:srgbClr val="3C3C3C"/>
                </a:solidFill>
                <a:latin typeface="Arial"/>
              </a:defRPr>
            </a:pPr>
            <a:r>
              <a:t>- Calcium deficiency: low intake, dietary inhibitors of calcium absorption, malabsorption, premature infants (rickets of prematurity).</a:t>
            </a:r>
          </a:p>
          <a:p>
            <a:pPr lvl="1">
              <a:spcAft>
                <a:spcPts val="400"/>
              </a:spcAft>
              <a:defRPr sz="1600">
                <a:solidFill>
                  <a:srgbClr val="3C3C3C"/>
                </a:solidFill>
                <a:latin typeface="Arial"/>
              </a:defRPr>
            </a:pPr>
            <a:r>
              <a:t>- Phosphorous deficiency: low intake, premature infants (rickets of prematurity), aluminum-containing antacids.</a:t>
            </a:r>
          </a:p>
          <a:p>
            <a:pPr lvl="1">
              <a:spcAft>
                <a:spcPts val="400"/>
              </a:spcAft>
              <a:defRPr sz="1600">
                <a:solidFill>
                  <a:srgbClr val="3C3C3C"/>
                </a:solidFill>
                <a:latin typeface="Arial"/>
              </a:defRPr>
            </a:pPr>
            <a:r>
              <a:t>- Renal losses: X-linked hypophosphatemic rickets, RTA.</a:t>
            </a:r>
          </a:p>
        </p:txBody>
      </p:sp>
      <p:pic>
        <p:nvPicPr>
          <p:cNvPr id="5" name="Picture 4" descr="rickets_skeletal.png"/>
          <p:cNvPicPr>
            <a:picLocks noChangeAspect="1"/>
          </p:cNvPicPr>
          <p:nvPr/>
        </p:nvPicPr>
        <p:blipFill>
          <a:blip r:embed="rId2"/>
          <a:stretch>
            <a:fillRect/>
          </a:stretch>
        </p:blipFill>
        <p:spPr>
          <a:xfrm>
            <a:off x="6492240" y="1645920"/>
            <a:ext cx="4937760" cy="448056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228600"/>
            <a:ext cx="10698480" cy="365760"/>
          </a:xfrm>
          <a:prstGeom prst="rect">
            <a:avLst/>
          </a:prstGeom>
          <a:noFill/>
        </p:spPr>
        <p:txBody>
          <a:bodyPr wrap="square" tIns="0" bIns="0" lIns="0" rIns="0">
            <a:spAutoFit/>
          </a:bodyPr>
          <a:lstStyle/>
          <a:p>
            <a:pPr>
              <a:defRPr sz="1400" b="1">
                <a:solidFill>
                  <a:srgbClr val="228B8B"/>
                </a:solidFill>
                <a:latin typeface="Arial"/>
              </a:defRPr>
            </a:pPr>
            <a:r>
              <a:t>RICKETS</a:t>
            </a:r>
          </a:p>
        </p:txBody>
      </p:sp>
      <p:sp>
        <p:nvSpPr>
          <p:cNvPr id="3" name="TextBox 2"/>
          <p:cNvSpPr txBox="1"/>
          <p:nvPr/>
        </p:nvSpPr>
        <p:spPr>
          <a:xfrm>
            <a:off x="731520" y="548640"/>
            <a:ext cx="10698480" cy="914400"/>
          </a:xfrm>
          <a:prstGeom prst="rect">
            <a:avLst/>
          </a:prstGeom>
          <a:noFill/>
        </p:spPr>
        <p:txBody>
          <a:bodyPr wrap="square" tIns="0" bIns="0" lIns="0" rIns="0">
            <a:spAutoFit/>
          </a:bodyPr>
          <a:lstStyle/>
          <a:p>
            <a:pPr>
              <a:defRPr sz="4000" b="1">
                <a:solidFill>
                  <a:srgbClr val="162639"/>
                </a:solidFill>
                <a:latin typeface="Georgia"/>
              </a:defRPr>
            </a:pPr>
            <a:r>
              <a:t>Pathophysiology &amp; Risk Factors</a:t>
            </a:r>
          </a:p>
        </p:txBody>
      </p:sp>
      <p:sp>
        <p:nvSpPr>
          <p:cNvPr id="4" name="TextBox 3"/>
          <p:cNvSpPr txBox="1"/>
          <p:nvPr/>
        </p:nvSpPr>
        <p:spPr>
          <a:xfrm>
            <a:off x="731520" y="1645920"/>
            <a:ext cx="5486400" cy="4572000"/>
          </a:xfrm>
          <a:prstGeom prst="rect">
            <a:avLst/>
          </a:prstGeom>
          <a:noFill/>
        </p:spPr>
        <p:txBody>
          <a:bodyPr wrap="square" lIns="0" rIns="0" tIns="0" bIns="0">
            <a:spAutoFit/>
          </a:bodyPr>
          <a:lstStyle/>
          <a:p>
            <a:pPr>
              <a:spcAft>
                <a:spcPts val="400"/>
              </a:spcAft>
              <a:defRPr sz="2000" b="1">
                <a:solidFill>
                  <a:srgbClr val="162639"/>
                </a:solidFill>
                <a:latin typeface="Arial"/>
              </a:defRPr>
            </a:pPr>
            <a:r>
              <a:t>Pathophysiology:</a:t>
            </a:r>
          </a:p>
          <a:p>
            <a:pPr lvl="1">
              <a:spcAft>
                <a:spcPts val="400"/>
              </a:spcAft>
              <a:defRPr sz="1600">
                <a:solidFill>
                  <a:srgbClr val="3C3C3C"/>
                </a:solidFill>
                <a:latin typeface="Arial"/>
              </a:defRPr>
            </a:pPr>
            <a:r>
              <a:t>- 1. Bone consists of a protein matrix called osteoid and a mineral phase, principally composed of calcium and phosphate.</a:t>
            </a:r>
          </a:p>
          <a:p>
            <a:pPr lvl="1">
              <a:spcAft>
                <a:spcPts val="400"/>
              </a:spcAft>
              <a:defRPr sz="1600">
                <a:solidFill>
                  <a:srgbClr val="3C3C3C"/>
                </a:solidFill>
                <a:latin typeface="Arial"/>
              </a:defRPr>
            </a:pPr>
            <a:r>
              <a:t>- 2. Rickets is a disease of growing bone that is caused by unmineralized matrix at the growth plates and occurs in children only before fusion of the epiphyses.</a:t>
            </a:r>
          </a:p>
          <a:p>
            <a:pPr lvl="1">
              <a:spcAft>
                <a:spcPts val="400"/>
              </a:spcAft>
              <a:defRPr sz="1600">
                <a:solidFill>
                  <a:srgbClr val="3C3C3C"/>
                </a:solidFill>
                <a:latin typeface="Arial"/>
              </a:defRPr>
            </a:pPr>
            <a:r>
              <a:t>- 3. Because growth plate cartilage and osteoid continue to expand but mineralization is inadequate, the growth plate thickens.</a:t>
            </a:r>
          </a:p>
          <a:p>
            <a:pPr lvl="1">
              <a:spcAft>
                <a:spcPts val="400"/>
              </a:spcAft>
              <a:defRPr sz="1600">
                <a:solidFill>
                  <a:srgbClr val="3C3C3C"/>
                </a:solidFill>
                <a:latin typeface="Arial"/>
              </a:defRPr>
            </a:pPr>
            <a:r>
              <a:t>- 4. There is also an increase in the circumference of the growth plate and the metaphysis, increasing bone width at the location of the growth plates and causing classic clinical manifestations, such as widening of the wrists and ankles.</a:t>
            </a:r>
          </a:p>
          <a:p>
            <a:pPr lvl="1">
              <a:spcAft>
                <a:spcPts val="400"/>
              </a:spcAft>
              <a:defRPr sz="1600" b="1">
                <a:solidFill>
                  <a:srgbClr val="C0392B"/>
                </a:solidFill>
                <a:latin typeface="Arial"/>
              </a:defRPr>
            </a:pPr>
            <a:r>
              <a:t>- 5. There is a general softening of the bones that causes them to bend easily when subject to forces such as weight bearing or muscle pull. This softening leads to a variety of bone deformities.</a:t>
            </a:r>
          </a:p>
          <a:p>
            <a:pPr>
              <a:spcAft>
                <a:spcPts val="400"/>
              </a:spcAft>
              <a:defRPr sz="2000" b="1">
                <a:solidFill>
                  <a:srgbClr val="C0392B"/>
                </a:solidFill>
                <a:latin typeface="Arial"/>
              </a:defRPr>
            </a:pPr>
            <a:r>
              <a:t>Nutritional Vitamin D Deficiency Risk Factors:</a:t>
            </a:r>
          </a:p>
          <a:p>
            <a:pPr lvl="1">
              <a:spcAft>
                <a:spcPts val="400"/>
              </a:spcAft>
              <a:defRPr sz="1600">
                <a:solidFill>
                  <a:srgbClr val="3C3C3C"/>
                </a:solidFill>
                <a:latin typeface="Arial"/>
              </a:defRPr>
            </a:pPr>
            <a:r>
              <a:t>- Living in northern latitudes; dark-skinned people; decreased exposure to sunlight, e.g. in some Asian children living in the UK.</a:t>
            </a:r>
          </a:p>
          <a:p>
            <a:pPr lvl="1">
              <a:spcAft>
                <a:spcPts val="400"/>
              </a:spcAft>
              <a:defRPr sz="1600">
                <a:solidFill>
                  <a:srgbClr val="3C3C3C"/>
                </a:solidFill>
                <a:latin typeface="Arial"/>
              </a:defRPr>
            </a:pPr>
            <a:r>
              <a:t>- Maternal vitamin D deficiency; diets low in calcium, phosphorus and vitamin D, e.g. exclusive breast-feeding into late infancy or toddlers on unsupervised 'dairy-free' diets.</a:t>
            </a:r>
          </a:p>
          <a:p>
            <a:pPr lvl="1">
              <a:spcAft>
                <a:spcPts val="400"/>
              </a:spcAft>
              <a:defRPr sz="1600">
                <a:solidFill>
                  <a:srgbClr val="3C3C3C"/>
                </a:solidFill>
                <a:latin typeface="Arial"/>
              </a:defRPr>
            </a:pPr>
            <a:r>
              <a:t>- Macrobiotic, strict vegan diets; high phytic acid diet, e.g. chapattis.</a:t>
            </a:r>
          </a:p>
          <a:p>
            <a:pPr lvl="1">
              <a:spcAft>
                <a:spcPts val="400"/>
              </a:spcAft>
              <a:defRPr sz="1600">
                <a:solidFill>
                  <a:srgbClr val="3C3C3C"/>
                </a:solidFill>
                <a:latin typeface="Arial"/>
              </a:defRPr>
            </a:pPr>
            <a:r>
              <a:t>- Prolonged parenteral nutrition in infancy with an inadequate supply of parenteral calcium and phosphate.</a:t>
            </a:r>
          </a:p>
        </p:txBody>
      </p:sp>
      <p:pic>
        <p:nvPicPr>
          <p:cNvPr id="5" name="Picture 4" descr="vit_d_metabolism.png"/>
          <p:cNvPicPr>
            <a:picLocks noChangeAspect="1"/>
          </p:cNvPicPr>
          <p:nvPr/>
        </p:nvPicPr>
        <p:blipFill>
          <a:blip r:embed="rId2"/>
          <a:stretch>
            <a:fillRect/>
          </a:stretch>
        </p:blipFill>
        <p:spPr>
          <a:xfrm>
            <a:off x="6492240" y="1645920"/>
            <a:ext cx="4937760" cy="448056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228600"/>
            <a:ext cx="10698480" cy="365760"/>
          </a:xfrm>
          <a:prstGeom prst="rect">
            <a:avLst/>
          </a:prstGeom>
          <a:noFill/>
        </p:spPr>
        <p:txBody>
          <a:bodyPr wrap="square" tIns="0" bIns="0" lIns="0" rIns="0">
            <a:spAutoFit/>
          </a:bodyPr>
          <a:lstStyle/>
          <a:p>
            <a:pPr>
              <a:defRPr sz="1400" b="1">
                <a:solidFill>
                  <a:srgbClr val="228B8B"/>
                </a:solidFill>
                <a:latin typeface="Arial"/>
              </a:defRPr>
            </a:pPr>
            <a:r>
              <a:t>RICKETS</a:t>
            </a:r>
          </a:p>
        </p:txBody>
      </p:sp>
      <p:sp>
        <p:nvSpPr>
          <p:cNvPr id="3" name="TextBox 2"/>
          <p:cNvSpPr txBox="1"/>
          <p:nvPr/>
        </p:nvSpPr>
        <p:spPr>
          <a:xfrm>
            <a:off x="731520" y="548640"/>
            <a:ext cx="10698480" cy="914400"/>
          </a:xfrm>
          <a:prstGeom prst="rect">
            <a:avLst/>
          </a:prstGeom>
          <a:noFill/>
        </p:spPr>
        <p:txBody>
          <a:bodyPr wrap="square" tIns="0" bIns="0" lIns="0" rIns="0">
            <a:spAutoFit/>
          </a:bodyPr>
          <a:lstStyle/>
          <a:p>
            <a:pPr>
              <a:defRPr sz="4000" b="1">
                <a:solidFill>
                  <a:srgbClr val="162639"/>
                </a:solidFill>
                <a:latin typeface="Georgia"/>
              </a:defRPr>
            </a:pPr>
            <a:r>
              <a:t>Clinical Signs: General, Head &amp; Chest</a:t>
            </a:r>
          </a:p>
        </p:txBody>
      </p:sp>
      <p:sp>
        <p:nvSpPr>
          <p:cNvPr id="4" name="TextBox 3"/>
          <p:cNvSpPr txBox="1"/>
          <p:nvPr/>
        </p:nvSpPr>
        <p:spPr>
          <a:xfrm>
            <a:off x="731520" y="1645920"/>
            <a:ext cx="5486400" cy="4572000"/>
          </a:xfrm>
          <a:prstGeom prst="rect">
            <a:avLst/>
          </a:prstGeom>
          <a:noFill/>
        </p:spPr>
        <p:txBody>
          <a:bodyPr wrap="square" lIns="0" rIns="0" tIns="0" bIns="0">
            <a:spAutoFit/>
          </a:bodyPr>
          <a:lstStyle/>
          <a:p>
            <a:pPr>
              <a:spcAft>
                <a:spcPts val="400"/>
              </a:spcAft>
              <a:defRPr sz="2000" b="1">
                <a:solidFill>
                  <a:srgbClr val="162639"/>
                </a:solidFill>
                <a:latin typeface="Arial"/>
              </a:defRPr>
            </a:pPr>
            <a:r>
              <a:t>General Signs:</a:t>
            </a:r>
          </a:p>
          <a:p>
            <a:pPr lvl="1">
              <a:spcAft>
                <a:spcPts val="400"/>
              </a:spcAft>
              <a:defRPr sz="1600">
                <a:solidFill>
                  <a:srgbClr val="3C3C3C"/>
                </a:solidFill>
                <a:latin typeface="Arial"/>
              </a:defRPr>
            </a:pPr>
            <a:r>
              <a:t>- Failure to thrive, listlessness, protruding abdomen, muscle weakness (especially proximal), fractures.</a:t>
            </a:r>
          </a:p>
          <a:p>
            <a:pPr>
              <a:spcAft>
                <a:spcPts val="400"/>
              </a:spcAft>
              <a:defRPr sz="2000" b="1">
                <a:solidFill>
                  <a:srgbClr val="C0392B"/>
                </a:solidFill>
                <a:latin typeface="Arial"/>
              </a:defRPr>
            </a:pPr>
            <a:r>
              <a:t>Head Signs:</a:t>
            </a:r>
          </a:p>
          <a:p>
            <a:pPr lvl="1">
              <a:spcAft>
                <a:spcPts val="400"/>
              </a:spcAft>
              <a:defRPr sz="1600">
                <a:solidFill>
                  <a:srgbClr val="3C3C3C"/>
                </a:solidFill>
                <a:latin typeface="Arial"/>
              </a:defRPr>
            </a:pPr>
            <a:r>
              <a:t>- Craniotabes (softening of the cranial bones and can be detected by applying pressure at the occiput or over the parietal bones. The sensation is similar to the feel of pressing into a Ping-Pong ball and then releasing).</a:t>
            </a:r>
          </a:p>
          <a:p>
            <a:pPr lvl="1">
              <a:spcAft>
                <a:spcPts val="400"/>
              </a:spcAft>
              <a:defRPr sz="1600">
                <a:solidFill>
                  <a:srgbClr val="3C3C3C"/>
                </a:solidFill>
                <a:latin typeface="Arial"/>
              </a:defRPr>
            </a:pPr>
            <a:r>
              <a:t>- Frontal bossing, delayed fontanel closure, delayed dentition; caries, craniosynostosis.</a:t>
            </a:r>
          </a:p>
          <a:p>
            <a:pPr>
              <a:spcAft>
                <a:spcPts val="400"/>
              </a:spcAft>
              <a:defRPr sz="2000" b="1">
                <a:solidFill>
                  <a:srgbClr val="162639"/>
                </a:solidFill>
                <a:latin typeface="Arial"/>
              </a:defRPr>
            </a:pPr>
            <a:r>
              <a:t>Chest Signs:</a:t>
            </a:r>
          </a:p>
          <a:p>
            <a:pPr lvl="1">
              <a:spcAft>
                <a:spcPts val="400"/>
              </a:spcAft>
              <a:defRPr sz="1600">
                <a:solidFill>
                  <a:srgbClr val="3C3C3C"/>
                </a:solidFill>
                <a:latin typeface="Arial"/>
              </a:defRPr>
            </a:pPr>
            <a:r>
              <a:t>- Rachitic rosary, Harrison groove, respiratory infections and atelectasis.</a:t>
            </a:r>
          </a:p>
        </p:txBody>
      </p:sp>
      <p:pic>
        <p:nvPicPr>
          <p:cNvPr id="5" name="Picture 4" descr="rickets_skeletal.png"/>
          <p:cNvPicPr>
            <a:picLocks noChangeAspect="1"/>
          </p:cNvPicPr>
          <p:nvPr/>
        </p:nvPicPr>
        <p:blipFill>
          <a:blip r:embed="rId2"/>
          <a:stretch>
            <a:fillRect/>
          </a:stretch>
        </p:blipFill>
        <p:spPr>
          <a:xfrm>
            <a:off x="6492240" y="1645920"/>
            <a:ext cx="4937760" cy="448056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228600"/>
            <a:ext cx="10698480" cy="365760"/>
          </a:xfrm>
          <a:prstGeom prst="rect">
            <a:avLst/>
          </a:prstGeom>
          <a:noFill/>
        </p:spPr>
        <p:txBody>
          <a:bodyPr wrap="square" tIns="0" bIns="0" lIns="0" rIns="0">
            <a:spAutoFit/>
          </a:bodyPr>
          <a:lstStyle/>
          <a:p>
            <a:pPr>
              <a:defRPr sz="1400" b="1">
                <a:solidFill>
                  <a:srgbClr val="228B8B"/>
                </a:solidFill>
                <a:latin typeface="Arial"/>
              </a:defRPr>
            </a:pPr>
            <a:r>
              <a:t>RICKETS</a:t>
            </a:r>
          </a:p>
        </p:txBody>
      </p:sp>
      <p:sp>
        <p:nvSpPr>
          <p:cNvPr id="3" name="TextBox 2"/>
          <p:cNvSpPr txBox="1"/>
          <p:nvPr/>
        </p:nvSpPr>
        <p:spPr>
          <a:xfrm>
            <a:off x="731520" y="548640"/>
            <a:ext cx="10698480" cy="914400"/>
          </a:xfrm>
          <a:prstGeom prst="rect">
            <a:avLst/>
          </a:prstGeom>
          <a:noFill/>
        </p:spPr>
        <p:txBody>
          <a:bodyPr wrap="square" tIns="0" bIns="0" lIns="0" rIns="0">
            <a:spAutoFit/>
          </a:bodyPr>
          <a:lstStyle/>
          <a:p>
            <a:pPr>
              <a:defRPr sz="4000" b="1">
                <a:solidFill>
                  <a:srgbClr val="162639"/>
                </a:solidFill>
                <a:latin typeface="Georgia"/>
              </a:defRPr>
            </a:pPr>
            <a:r>
              <a:t>Clinical Signs: Back &amp; Extremities</a:t>
            </a:r>
          </a:p>
        </p:txBody>
      </p:sp>
      <p:sp>
        <p:nvSpPr>
          <p:cNvPr id="4" name="TextBox 3"/>
          <p:cNvSpPr txBox="1"/>
          <p:nvPr/>
        </p:nvSpPr>
        <p:spPr>
          <a:xfrm>
            <a:off x="731520" y="1645920"/>
            <a:ext cx="5486400" cy="4572000"/>
          </a:xfrm>
          <a:prstGeom prst="rect">
            <a:avLst/>
          </a:prstGeom>
          <a:noFill/>
        </p:spPr>
        <p:txBody>
          <a:bodyPr wrap="square" lIns="0" rIns="0" tIns="0" bIns="0">
            <a:spAutoFit/>
          </a:bodyPr>
          <a:lstStyle/>
          <a:p>
            <a:pPr>
              <a:spcAft>
                <a:spcPts val="600"/>
              </a:spcAft>
              <a:defRPr sz="2400" b="1">
                <a:solidFill>
                  <a:srgbClr val="162639"/>
                </a:solidFill>
                <a:latin typeface="Arial"/>
              </a:defRPr>
            </a:pPr>
            <a:r>
              <a:t>Back Signs:</a:t>
            </a:r>
          </a:p>
          <a:p>
            <a:pPr lvl="1">
              <a:spcAft>
                <a:spcPts val="600"/>
              </a:spcAft>
              <a:defRPr sz="2000">
                <a:solidFill>
                  <a:srgbClr val="3C3C3C"/>
                </a:solidFill>
                <a:latin typeface="Arial"/>
              </a:defRPr>
            </a:pPr>
            <a:r>
              <a:t>- Scoliosis, kyphosis, lordosis.</a:t>
            </a:r>
          </a:p>
          <a:p>
            <a:pPr>
              <a:spcAft>
                <a:spcPts val="600"/>
              </a:spcAft>
              <a:defRPr sz="2400" b="1">
                <a:solidFill>
                  <a:srgbClr val="C0392B"/>
                </a:solidFill>
                <a:latin typeface="Arial"/>
              </a:defRPr>
            </a:pPr>
            <a:r>
              <a:t>Extremities Signs:</a:t>
            </a:r>
          </a:p>
          <a:p>
            <a:pPr lvl="1">
              <a:spcAft>
                <a:spcPts val="600"/>
              </a:spcAft>
              <a:defRPr sz="2000">
                <a:solidFill>
                  <a:srgbClr val="3C3C3C"/>
                </a:solidFill>
                <a:latin typeface="Arial"/>
              </a:defRPr>
            </a:pPr>
            <a:r>
              <a:t>- Enlargement of wrists and ankles, valgus or varus deformities.</a:t>
            </a:r>
          </a:p>
          <a:p>
            <a:pPr lvl="1">
              <a:spcAft>
                <a:spcPts val="600"/>
              </a:spcAft>
              <a:defRPr sz="2000">
                <a:solidFill>
                  <a:srgbClr val="3C3C3C"/>
                </a:solidFill>
                <a:latin typeface="Arial"/>
              </a:defRPr>
            </a:pPr>
            <a:r>
              <a:t>- Windswept deformity (combination of valgus deformity of 1 leg with varus deformity of the other leg).</a:t>
            </a:r>
          </a:p>
          <a:p>
            <a:pPr lvl="1">
              <a:spcAft>
                <a:spcPts val="600"/>
              </a:spcAft>
              <a:defRPr sz="2000">
                <a:solidFill>
                  <a:srgbClr val="3C3C3C"/>
                </a:solidFill>
                <a:latin typeface="Arial"/>
              </a:defRPr>
            </a:pPr>
            <a:r>
              <a:t>- Anterior bowing of the tibia and femur, coxa vara, leg pain.</a:t>
            </a:r>
          </a:p>
        </p:txBody>
      </p:sp>
      <p:pic>
        <p:nvPicPr>
          <p:cNvPr id="5" name="Picture 4" descr="rickets_skeletal.png"/>
          <p:cNvPicPr>
            <a:picLocks noChangeAspect="1"/>
          </p:cNvPicPr>
          <p:nvPr/>
        </p:nvPicPr>
        <p:blipFill>
          <a:blip r:embed="rId2"/>
          <a:stretch>
            <a:fillRect/>
          </a:stretch>
        </p:blipFill>
        <p:spPr>
          <a:xfrm>
            <a:off x="6492240" y="1645920"/>
            <a:ext cx="4937760" cy="448056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228600"/>
            <a:ext cx="10698480" cy="365760"/>
          </a:xfrm>
          <a:prstGeom prst="rect">
            <a:avLst/>
          </a:prstGeom>
          <a:noFill/>
        </p:spPr>
        <p:txBody>
          <a:bodyPr wrap="square" tIns="0" bIns="0" lIns="0" rIns="0">
            <a:spAutoFit/>
          </a:bodyPr>
          <a:lstStyle/>
          <a:p>
            <a:pPr>
              <a:defRPr sz="1400" b="1">
                <a:solidFill>
                  <a:srgbClr val="228B8B"/>
                </a:solidFill>
                <a:latin typeface="Arial"/>
              </a:defRPr>
            </a:pPr>
            <a:r>
              <a:t>RICKETS</a:t>
            </a:r>
          </a:p>
        </p:txBody>
      </p:sp>
      <p:sp>
        <p:nvSpPr>
          <p:cNvPr id="3" name="TextBox 2"/>
          <p:cNvSpPr txBox="1"/>
          <p:nvPr/>
        </p:nvSpPr>
        <p:spPr>
          <a:xfrm>
            <a:off x="731520" y="548640"/>
            <a:ext cx="10698480" cy="914400"/>
          </a:xfrm>
          <a:prstGeom prst="rect">
            <a:avLst/>
          </a:prstGeom>
          <a:noFill/>
        </p:spPr>
        <p:txBody>
          <a:bodyPr wrap="square" tIns="0" bIns="0" lIns="0" rIns="0">
            <a:spAutoFit/>
          </a:bodyPr>
          <a:lstStyle/>
          <a:p>
            <a:pPr>
              <a:defRPr sz="4000" b="1">
                <a:solidFill>
                  <a:srgbClr val="162639"/>
                </a:solidFill>
                <a:latin typeface="Georgia"/>
              </a:defRPr>
            </a:pPr>
            <a:r>
              <a:t>Radiological &amp; Laboratory Findings</a:t>
            </a:r>
          </a:p>
        </p:txBody>
      </p:sp>
      <p:sp>
        <p:nvSpPr>
          <p:cNvPr id="4" name="TextBox 3"/>
          <p:cNvSpPr txBox="1"/>
          <p:nvPr/>
        </p:nvSpPr>
        <p:spPr>
          <a:xfrm>
            <a:off x="731520" y="1645920"/>
            <a:ext cx="5486400" cy="4572000"/>
          </a:xfrm>
          <a:prstGeom prst="rect">
            <a:avLst/>
          </a:prstGeom>
          <a:noFill/>
        </p:spPr>
        <p:txBody>
          <a:bodyPr wrap="square" lIns="0" rIns="0" tIns="0" bIns="0">
            <a:spAutoFit/>
          </a:bodyPr>
          <a:lstStyle/>
          <a:p>
            <a:pPr>
              <a:spcAft>
                <a:spcPts val="400"/>
              </a:spcAft>
              <a:defRPr sz="2000" b="1">
                <a:solidFill>
                  <a:srgbClr val="162639"/>
                </a:solidFill>
                <a:latin typeface="Arial"/>
              </a:defRPr>
            </a:pPr>
            <a:r>
              <a:t>Radiological findings in rickets (best seen at knee, wrist, ankles):</a:t>
            </a:r>
          </a:p>
          <a:p>
            <a:pPr lvl="1">
              <a:spcAft>
                <a:spcPts val="400"/>
              </a:spcAft>
              <a:defRPr sz="1600" b="1">
                <a:solidFill>
                  <a:srgbClr val="C0392B"/>
                </a:solidFill>
                <a:latin typeface="Arial"/>
              </a:defRPr>
            </a:pPr>
            <a:r>
              <a:t>- Frayed, cupped, splaying of the metaphysis.</a:t>
            </a:r>
          </a:p>
          <a:p>
            <a:pPr lvl="1">
              <a:spcAft>
                <a:spcPts val="400"/>
              </a:spcAft>
              <a:defRPr sz="1600">
                <a:solidFill>
                  <a:srgbClr val="3C3C3C"/>
                </a:solidFill>
                <a:latin typeface="Arial"/>
              </a:defRPr>
            </a:pPr>
            <a:r>
              <a:t>- Increased distance between the growing epiphysis &amp; metaphysis.</a:t>
            </a:r>
          </a:p>
          <a:p>
            <a:pPr lvl="1">
              <a:spcAft>
                <a:spcPts val="400"/>
              </a:spcAft>
              <a:defRPr sz="1600">
                <a:solidFill>
                  <a:srgbClr val="3C3C3C"/>
                </a:solidFill>
                <a:latin typeface="Arial"/>
              </a:defRPr>
            </a:pPr>
            <a:r>
              <a:t>- Generalized decrease in bone density; bossing and bowing deformity (due to softening); greenstick fractures; rackety rosary of the ribs.</a:t>
            </a:r>
          </a:p>
          <a:p>
            <a:pPr>
              <a:spcAft>
                <a:spcPts val="400"/>
              </a:spcAft>
              <a:defRPr sz="2000" b="1">
                <a:solidFill>
                  <a:srgbClr val="C0392B"/>
                </a:solidFill>
                <a:latin typeface="Arial"/>
              </a:defRPr>
            </a:pPr>
            <a:r>
              <a:t>Laboratory tests (initial tests):</a:t>
            </a:r>
          </a:p>
          <a:p>
            <a:pPr lvl="1">
              <a:spcAft>
                <a:spcPts val="400"/>
              </a:spcAft>
              <a:defRPr sz="1600">
                <a:solidFill>
                  <a:srgbClr val="3C3C3C"/>
                </a:solidFill>
                <a:latin typeface="Arial"/>
              </a:defRPr>
            </a:pPr>
            <a:r>
              <a:t>- Serum calcium, phosphorus, alkaline phosphatase (ALP), parathyroid hormone (PTH), 25-hydroxyvitamin D, 1,25-dihydroxyvitamin D3, creatinine, and electrolytes.</a:t>
            </a:r>
          </a:p>
        </p:txBody>
      </p:sp>
      <p:pic>
        <p:nvPicPr>
          <p:cNvPr id="5" name="Picture 4" descr="bone_types.png"/>
          <p:cNvPicPr>
            <a:picLocks noChangeAspect="1"/>
          </p:cNvPicPr>
          <p:nvPr/>
        </p:nvPicPr>
        <p:blipFill>
          <a:blip r:embed="rId2"/>
          <a:stretch>
            <a:fillRect/>
          </a:stretch>
        </p:blipFill>
        <p:spPr>
          <a:xfrm>
            <a:off x="6492240" y="1645920"/>
            <a:ext cx="4937760" cy="448056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228600"/>
            <a:ext cx="10698480" cy="365760"/>
          </a:xfrm>
          <a:prstGeom prst="rect">
            <a:avLst/>
          </a:prstGeom>
          <a:noFill/>
        </p:spPr>
        <p:txBody>
          <a:bodyPr wrap="square" tIns="0" bIns="0" lIns="0" rIns="0">
            <a:spAutoFit/>
          </a:bodyPr>
          <a:lstStyle/>
          <a:p>
            <a:pPr>
              <a:defRPr sz="1400" b="1">
                <a:solidFill>
                  <a:srgbClr val="228B8B"/>
                </a:solidFill>
                <a:latin typeface="Arial"/>
              </a:defRPr>
            </a:pPr>
            <a:r>
              <a:t>RICKETS</a:t>
            </a:r>
          </a:p>
        </p:txBody>
      </p:sp>
      <p:sp>
        <p:nvSpPr>
          <p:cNvPr id="3" name="TextBox 2"/>
          <p:cNvSpPr txBox="1"/>
          <p:nvPr/>
        </p:nvSpPr>
        <p:spPr>
          <a:xfrm>
            <a:off x="731520" y="548640"/>
            <a:ext cx="10698480" cy="914400"/>
          </a:xfrm>
          <a:prstGeom prst="rect">
            <a:avLst/>
          </a:prstGeom>
          <a:noFill/>
        </p:spPr>
        <p:txBody>
          <a:bodyPr wrap="square" tIns="0" bIns="0" lIns="0" rIns="0">
            <a:spAutoFit/>
          </a:bodyPr>
          <a:lstStyle/>
          <a:p>
            <a:pPr>
              <a:defRPr sz="4000" b="1">
                <a:solidFill>
                  <a:srgbClr val="162639"/>
                </a:solidFill>
                <a:latin typeface="Georgia"/>
              </a:defRPr>
            </a:pPr>
            <a:r>
              <a:t>Medical &amp; Surgical Management</a:t>
            </a:r>
          </a:p>
        </p:txBody>
      </p:sp>
      <p:sp>
        <p:nvSpPr>
          <p:cNvPr id="4" name="TextBox 3"/>
          <p:cNvSpPr txBox="1"/>
          <p:nvPr/>
        </p:nvSpPr>
        <p:spPr>
          <a:xfrm>
            <a:off x="731520" y="1645920"/>
            <a:ext cx="5486400" cy="4572000"/>
          </a:xfrm>
          <a:prstGeom prst="rect">
            <a:avLst/>
          </a:prstGeom>
          <a:noFill/>
        </p:spPr>
        <p:txBody>
          <a:bodyPr wrap="square" lIns="0" rIns="0" tIns="0" bIns="0">
            <a:spAutoFit/>
          </a:bodyPr>
          <a:lstStyle/>
          <a:p>
            <a:pPr>
              <a:spcAft>
                <a:spcPts val="400"/>
              </a:spcAft>
              <a:defRPr sz="2000" b="1">
                <a:solidFill>
                  <a:srgbClr val="162639"/>
                </a:solidFill>
                <a:latin typeface="Arial"/>
              </a:defRPr>
            </a:pPr>
            <a:r>
              <a:t>Medical Treatment:</a:t>
            </a:r>
          </a:p>
          <a:p>
            <a:pPr lvl="1">
              <a:spcAft>
                <a:spcPts val="400"/>
              </a:spcAft>
              <a:defRPr sz="1600">
                <a:solidFill>
                  <a:srgbClr val="3C3C3C"/>
                </a:solidFill>
                <a:latin typeface="Arial"/>
              </a:defRPr>
            </a:pPr>
            <a:r>
              <a:t>- Children with nutritional vitamin D deficiency should receive vitamin D and adequate nutritional intake of calcium and phosphorus.</a:t>
            </a:r>
          </a:p>
          <a:p>
            <a:pPr lvl="1">
              <a:spcAft>
                <a:spcPts val="400"/>
              </a:spcAft>
              <a:defRPr sz="1600">
                <a:solidFill>
                  <a:srgbClr val="3C3C3C"/>
                </a:solidFill>
                <a:latin typeface="Arial"/>
              </a:defRPr>
            </a:pPr>
            <a:r>
              <a:t>- Stoss therapy: 300,000-600,000 IU of vitamin D are administered orally or intramuscularly as 2-4 doses over 1 day (ideal if adherence is questionable).</a:t>
            </a:r>
          </a:p>
          <a:p>
            <a:pPr lvl="1">
              <a:spcAft>
                <a:spcPts val="400"/>
              </a:spcAft>
              <a:defRPr sz="1600">
                <a:solidFill>
                  <a:srgbClr val="3C3C3C"/>
                </a:solidFill>
                <a:latin typeface="Arial"/>
              </a:defRPr>
            </a:pPr>
            <a:r>
              <a:t>- Daily, high-dose vitamin D, with doses ranging from 2,000-5,000 IU/day over 4-6 wk.</a:t>
            </a:r>
          </a:p>
          <a:p>
            <a:pPr lvl="1">
              <a:spcAft>
                <a:spcPts val="400"/>
              </a:spcAft>
              <a:defRPr sz="1600">
                <a:solidFill>
                  <a:srgbClr val="3C3C3C"/>
                </a:solidFill>
                <a:latin typeface="Arial"/>
              </a:defRPr>
            </a:pPr>
            <a:r>
              <a:t>- Maintenance: 400 IU/day (&lt;1 yr old) or 600 IU/day (&gt;1 yr old).</a:t>
            </a:r>
          </a:p>
          <a:p>
            <a:pPr lvl="1">
              <a:spcAft>
                <a:spcPts val="400"/>
              </a:spcAft>
              <a:defRPr sz="1600">
                <a:solidFill>
                  <a:srgbClr val="3C3C3C"/>
                </a:solidFill>
                <a:latin typeface="Arial"/>
              </a:defRPr>
            </a:pPr>
            <a:r>
              <a:t>- Symptomatic hypocalcemia: IV calcium acutely, followed by oral calcium supplements tapered over 2-6 wk.</a:t>
            </a:r>
          </a:p>
          <a:p>
            <a:pPr>
              <a:spcAft>
                <a:spcPts val="400"/>
              </a:spcAft>
              <a:defRPr sz="2000" b="1">
                <a:solidFill>
                  <a:srgbClr val="C0392B"/>
                </a:solidFill>
                <a:latin typeface="Arial"/>
              </a:defRPr>
            </a:pPr>
            <a:r>
              <a:t>Surgical Management (Required in severe deformities or when medical treatment fails):</a:t>
            </a:r>
          </a:p>
          <a:p>
            <a:pPr lvl="1">
              <a:spcAft>
                <a:spcPts val="400"/>
              </a:spcAft>
              <a:defRPr sz="1600">
                <a:solidFill>
                  <a:srgbClr val="3C3C3C"/>
                </a:solidFill>
                <a:latin typeface="Arial"/>
              </a:defRPr>
            </a:pPr>
            <a:r>
              <a:t>- 1. Corrective osteotomy: surgical correction of bowed legs or deformities.</a:t>
            </a:r>
          </a:p>
          <a:p>
            <a:pPr lvl="1">
              <a:spcAft>
                <a:spcPts val="400"/>
              </a:spcAft>
              <a:defRPr sz="1600">
                <a:solidFill>
                  <a:srgbClr val="3C3C3C"/>
                </a:solidFill>
                <a:latin typeface="Arial"/>
              </a:defRPr>
            </a:pPr>
            <a:r>
              <a:t>- 2. Guided growth surgery: used in growing children to correct angular deformities.</a:t>
            </a:r>
          </a:p>
          <a:p>
            <a:pPr lvl="1">
              <a:spcAft>
                <a:spcPts val="400"/>
              </a:spcAft>
              <a:defRPr sz="1600">
                <a:solidFill>
                  <a:srgbClr val="3C3C3C"/>
                </a:solidFill>
                <a:latin typeface="Arial"/>
              </a:defRPr>
            </a:pPr>
            <a:r>
              <a:t>- 3. External fixation devices: for severe bone deformities.</a:t>
            </a:r>
          </a:p>
          <a:p>
            <a:pPr lvl="1">
              <a:spcAft>
                <a:spcPts val="400"/>
              </a:spcAft>
              <a:defRPr sz="1600">
                <a:solidFill>
                  <a:srgbClr val="3C3C3C"/>
                </a:solidFill>
                <a:latin typeface="Arial"/>
              </a:defRPr>
            </a:pPr>
            <a:r>
              <a:t>- 4. Fracture management: casting or surgical fixation if fractures occur.</a:t>
            </a:r>
          </a:p>
        </p:txBody>
      </p:sp>
      <p:pic>
        <p:nvPicPr>
          <p:cNvPr id="5" name="Picture 4" descr="rickets_skeletal.png"/>
          <p:cNvPicPr>
            <a:picLocks noChangeAspect="1"/>
          </p:cNvPicPr>
          <p:nvPr/>
        </p:nvPicPr>
        <p:blipFill>
          <a:blip r:embed="rId2"/>
          <a:stretch>
            <a:fillRect/>
          </a:stretch>
        </p:blipFill>
        <p:spPr>
          <a:xfrm>
            <a:off x="6492240" y="1645920"/>
            <a:ext cx="4937760" cy="448056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228600"/>
            <a:ext cx="10698480" cy="365760"/>
          </a:xfrm>
          <a:prstGeom prst="rect">
            <a:avLst/>
          </a:prstGeom>
          <a:noFill/>
        </p:spPr>
        <p:txBody>
          <a:bodyPr wrap="square" tIns="0" bIns="0" lIns="0" rIns="0">
            <a:spAutoFit/>
          </a:bodyPr>
          <a:lstStyle/>
          <a:p>
            <a:pPr>
              <a:defRPr sz="1400" b="1">
                <a:solidFill>
                  <a:srgbClr val="228B8B"/>
                </a:solidFill>
                <a:latin typeface="Arial"/>
              </a:defRPr>
            </a:pPr>
            <a:r>
              <a:t>RICKETS</a:t>
            </a:r>
          </a:p>
        </p:txBody>
      </p:sp>
      <p:sp>
        <p:nvSpPr>
          <p:cNvPr id="3" name="TextBox 2"/>
          <p:cNvSpPr txBox="1"/>
          <p:nvPr/>
        </p:nvSpPr>
        <p:spPr>
          <a:xfrm>
            <a:off x="731520" y="548640"/>
            <a:ext cx="10698480" cy="914400"/>
          </a:xfrm>
          <a:prstGeom prst="rect">
            <a:avLst/>
          </a:prstGeom>
          <a:noFill/>
        </p:spPr>
        <p:txBody>
          <a:bodyPr wrap="square" tIns="0" bIns="0" lIns="0" rIns="0">
            <a:spAutoFit/>
          </a:bodyPr>
          <a:lstStyle/>
          <a:p>
            <a:pPr>
              <a:defRPr sz="4000" b="1">
                <a:solidFill>
                  <a:srgbClr val="162639"/>
                </a:solidFill>
                <a:latin typeface="Georgia"/>
              </a:defRPr>
            </a:pPr>
            <a:r>
              <a:t>Nursing Management &amp; Prevention</a:t>
            </a:r>
          </a:p>
        </p:txBody>
      </p:sp>
      <p:sp>
        <p:nvSpPr>
          <p:cNvPr id="4" name="TextBox 3"/>
          <p:cNvSpPr txBox="1"/>
          <p:nvPr/>
        </p:nvSpPr>
        <p:spPr>
          <a:xfrm>
            <a:off x="731520" y="1645920"/>
            <a:ext cx="5486400" cy="4572000"/>
          </a:xfrm>
          <a:prstGeom prst="rect">
            <a:avLst/>
          </a:prstGeom>
          <a:noFill/>
        </p:spPr>
        <p:txBody>
          <a:bodyPr wrap="square" lIns="0" rIns="0" tIns="0" bIns="0">
            <a:spAutoFit/>
          </a:bodyPr>
          <a:lstStyle/>
          <a:p>
            <a:pPr>
              <a:spcAft>
                <a:spcPts val="400"/>
              </a:spcAft>
              <a:defRPr sz="2000" b="1">
                <a:solidFill>
                  <a:srgbClr val="162639"/>
                </a:solidFill>
                <a:latin typeface="Arial"/>
              </a:defRPr>
            </a:pPr>
            <a:r>
              <a:t>Nursing Management:</a:t>
            </a:r>
          </a:p>
          <a:p>
            <a:pPr lvl="1">
              <a:spcAft>
                <a:spcPts val="400"/>
              </a:spcAft>
              <a:defRPr sz="1600">
                <a:solidFill>
                  <a:srgbClr val="3C3C3C"/>
                </a:solidFill>
                <a:latin typeface="Arial"/>
              </a:defRPr>
            </a:pPr>
            <a:r>
              <a:t>- Pain Management: Provide comfortable positioning; administer analgesics if prescribed.</a:t>
            </a:r>
          </a:p>
          <a:p>
            <a:pPr lvl="1">
              <a:spcAft>
                <a:spcPts val="400"/>
              </a:spcAft>
              <a:defRPr sz="1600">
                <a:solidFill>
                  <a:srgbClr val="3C3C3C"/>
                </a:solidFill>
                <a:latin typeface="Arial"/>
              </a:defRPr>
            </a:pPr>
            <a:r>
              <a:t>- Health Education: Explain disease process, importance of treatment compliance, follow-up visits and monitoring.</a:t>
            </a:r>
          </a:p>
          <a:p>
            <a:pPr lvl="1">
              <a:spcAft>
                <a:spcPts val="400"/>
              </a:spcAft>
              <a:defRPr sz="1600">
                <a:solidFill>
                  <a:srgbClr val="3C3C3C"/>
                </a:solidFill>
                <a:latin typeface="Arial"/>
              </a:defRPr>
            </a:pPr>
            <a:r>
              <a:t>- Psychological Support: Support child and family emotionally; reduce anxiety related to deformities.</a:t>
            </a:r>
          </a:p>
          <a:p>
            <a:pPr>
              <a:spcAft>
                <a:spcPts val="400"/>
              </a:spcAft>
              <a:defRPr sz="2000" b="1">
                <a:solidFill>
                  <a:srgbClr val="C0392B"/>
                </a:solidFill>
                <a:latin typeface="Arial"/>
              </a:defRPr>
            </a:pPr>
            <a:r>
              <a:t>Prevention:</a:t>
            </a:r>
          </a:p>
          <a:p>
            <a:pPr lvl="1">
              <a:spcAft>
                <a:spcPts val="400"/>
              </a:spcAft>
              <a:defRPr sz="1600">
                <a:solidFill>
                  <a:srgbClr val="3C3C3C"/>
                </a:solidFill>
                <a:latin typeface="Arial"/>
              </a:defRPr>
            </a:pPr>
            <a:r>
              <a:t>- Adequate sunlight exposure.</a:t>
            </a:r>
          </a:p>
          <a:p>
            <a:pPr lvl="1">
              <a:spcAft>
                <a:spcPts val="400"/>
              </a:spcAft>
              <a:defRPr sz="1600">
                <a:solidFill>
                  <a:srgbClr val="3C3C3C"/>
                </a:solidFill>
                <a:latin typeface="Arial"/>
              </a:defRPr>
            </a:pPr>
            <a:r>
              <a:t>- Proper nutrition during childhood.</a:t>
            </a:r>
          </a:p>
          <a:p>
            <a:pPr lvl="1">
              <a:spcAft>
                <a:spcPts val="400"/>
              </a:spcAft>
              <a:defRPr sz="1600">
                <a:solidFill>
                  <a:srgbClr val="3C3C3C"/>
                </a:solidFill>
                <a:latin typeface="Arial"/>
              </a:defRPr>
            </a:pPr>
            <a:r>
              <a:t>- Vitamin D supplementation in high-risk children.</a:t>
            </a:r>
          </a:p>
          <a:p>
            <a:pPr lvl="1">
              <a:spcAft>
                <a:spcPts val="400"/>
              </a:spcAft>
              <a:defRPr sz="1600">
                <a:solidFill>
                  <a:srgbClr val="3C3C3C"/>
                </a:solidFill>
                <a:latin typeface="Arial"/>
              </a:defRPr>
            </a:pPr>
            <a:r>
              <a:t>- Maternal nutrition during pregnancy.</a:t>
            </a:r>
          </a:p>
        </p:txBody>
      </p:sp>
      <p:pic>
        <p:nvPicPr>
          <p:cNvPr id="5" name="Picture 4" descr="nursing_care_icon.png"/>
          <p:cNvPicPr>
            <a:picLocks noChangeAspect="1"/>
          </p:cNvPicPr>
          <p:nvPr/>
        </p:nvPicPr>
        <p:blipFill>
          <a:blip r:embed="rId2"/>
          <a:stretch>
            <a:fillRect/>
          </a:stretch>
        </p:blipFill>
        <p:spPr>
          <a:xfrm>
            <a:off x="6492240" y="1645920"/>
            <a:ext cx="4937760" cy="448056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228600"/>
            <a:ext cx="10698480" cy="365760"/>
          </a:xfrm>
          <a:prstGeom prst="rect">
            <a:avLst/>
          </a:prstGeom>
          <a:noFill/>
        </p:spPr>
        <p:txBody>
          <a:bodyPr wrap="square" tIns="0" bIns="0" lIns="0" rIns="0">
            <a:spAutoFit/>
          </a:bodyPr>
          <a:lstStyle/>
          <a:p>
            <a:pPr>
              <a:defRPr sz="1400" b="1">
                <a:solidFill>
                  <a:srgbClr val="228B8B"/>
                </a:solidFill>
                <a:latin typeface="Arial"/>
              </a:defRPr>
            </a:pPr>
            <a:r>
              <a:t>COMPARATIVE STUDY</a:t>
            </a:r>
          </a:p>
        </p:txBody>
      </p:sp>
      <p:sp>
        <p:nvSpPr>
          <p:cNvPr id="3" name="TextBox 2"/>
          <p:cNvSpPr txBox="1"/>
          <p:nvPr/>
        </p:nvSpPr>
        <p:spPr>
          <a:xfrm>
            <a:off x="731520" y="548640"/>
            <a:ext cx="10698480" cy="914400"/>
          </a:xfrm>
          <a:prstGeom prst="rect">
            <a:avLst/>
          </a:prstGeom>
          <a:noFill/>
        </p:spPr>
        <p:txBody>
          <a:bodyPr wrap="square" tIns="0" bIns="0" lIns="0" rIns="0">
            <a:spAutoFit/>
          </a:bodyPr>
          <a:lstStyle/>
          <a:p>
            <a:pPr>
              <a:defRPr sz="4000" b="1">
                <a:solidFill>
                  <a:srgbClr val="162639"/>
                </a:solidFill>
                <a:latin typeface="Georgia"/>
              </a:defRPr>
            </a:pPr>
            <a:r>
              <a:t>Comparison of Metabolic Bone Disorders</a:t>
            </a:r>
          </a:p>
        </p:txBody>
      </p:sp>
      <p:graphicFrame>
        <p:nvGraphicFramePr>
          <p:cNvPr id="4" name="Table 3"/>
          <p:cNvGraphicFramePr>
            <a:graphicFrameLocks noGrp="1"/>
          </p:cNvGraphicFramePr>
          <p:nvPr/>
        </p:nvGraphicFramePr>
        <p:xfrm>
          <a:off x="731520" y="1645920"/>
          <a:ext cx="8138160" cy="4389120"/>
        </p:xfrm>
        <a:graphic>
          <a:graphicData uri="http://schemas.openxmlformats.org/drawingml/2006/table">
            <a:tbl>
              <a:tblPr firstRow="1" bandRow="1">
                <a:tableStyleId>{5C22544A-7EE6-4342-B048-85BDC9FD1C3A}</a:tableStyleId>
              </a:tblPr>
              <a:tblGrid>
                <a:gridCol w="1645920"/>
                <a:gridCol w="2377440"/>
                <a:gridCol w="1188720"/>
                <a:gridCol w="1097280"/>
                <a:gridCol w="1828800"/>
              </a:tblGrid>
              <a:tr h="877824">
                <a:tc>
                  <a:txBody>
                    <a:bodyPr/>
                    <a:lstStyle/>
                    <a:p>
                      <a:pPr algn="ctr">
                        <a:defRPr sz="1600" b="1">
                          <a:solidFill>
                            <a:srgbClr val="FFFFFF"/>
                          </a:solidFill>
                          <a:latin typeface="Arial"/>
                        </a:defRPr>
                      </a:pPr>
                      <a:r>
                        <a:t>Disease</a:t>
                      </a:r>
                    </a:p>
                  </a:txBody>
                  <a:tcPr>
                    <a:solidFill>
                      <a:srgbClr val="162639"/>
                    </a:solidFill>
                  </a:tcPr>
                </a:tc>
                <a:tc>
                  <a:txBody>
                    <a:bodyPr/>
                    <a:lstStyle/>
                    <a:p>
                      <a:pPr algn="ctr">
                        <a:defRPr sz="1600" b="1">
                          <a:solidFill>
                            <a:srgbClr val="FFFFFF"/>
                          </a:solidFill>
                          <a:latin typeface="Arial"/>
                        </a:defRPr>
                      </a:pPr>
                      <a:r>
                        <a:t>Primary Pathology</a:t>
                      </a:r>
                    </a:p>
                  </a:txBody>
                  <a:tcPr>
                    <a:solidFill>
                      <a:srgbClr val="162639"/>
                    </a:solidFill>
                  </a:tcPr>
                </a:tc>
                <a:tc>
                  <a:txBody>
                    <a:bodyPr/>
                    <a:lstStyle/>
                    <a:p>
                      <a:pPr algn="ctr">
                        <a:defRPr sz="1600" b="1">
                          <a:solidFill>
                            <a:srgbClr val="FFFFFF"/>
                          </a:solidFill>
                          <a:latin typeface="Arial"/>
                        </a:defRPr>
                      </a:pPr>
                      <a:r>
                        <a:t>Serum Ca &amp; PO4</a:t>
                      </a:r>
                    </a:p>
                  </a:txBody>
                  <a:tcPr>
                    <a:solidFill>
                      <a:srgbClr val="162639"/>
                    </a:solidFill>
                  </a:tcPr>
                </a:tc>
                <a:tc>
                  <a:txBody>
                    <a:bodyPr/>
                    <a:lstStyle/>
                    <a:p>
                      <a:pPr algn="ctr">
                        <a:defRPr sz="1600" b="1">
                          <a:solidFill>
                            <a:srgbClr val="FFFFFF"/>
                          </a:solidFill>
                          <a:latin typeface="Arial"/>
                        </a:defRPr>
                      </a:pPr>
                      <a:r>
                        <a:t>Serum ALP</a:t>
                      </a:r>
                    </a:p>
                  </a:txBody>
                  <a:tcPr>
                    <a:solidFill>
                      <a:srgbClr val="162639"/>
                    </a:solidFill>
                  </a:tcPr>
                </a:tc>
                <a:tc>
                  <a:txBody>
                    <a:bodyPr/>
                    <a:lstStyle/>
                    <a:p>
                      <a:pPr algn="ctr">
                        <a:defRPr sz="1600" b="1">
                          <a:solidFill>
                            <a:srgbClr val="FFFFFF"/>
                          </a:solidFill>
                          <a:latin typeface="Arial"/>
                        </a:defRPr>
                      </a:pPr>
                      <a:r>
                        <a:t>Key Treatments</a:t>
                      </a:r>
                    </a:p>
                  </a:txBody>
                  <a:tcPr>
                    <a:solidFill>
                      <a:srgbClr val="162639"/>
                    </a:solidFill>
                  </a:tcPr>
                </a:tc>
              </a:tr>
              <a:tr h="877824">
                <a:tc>
                  <a:txBody>
                    <a:bodyPr/>
                    <a:lstStyle/>
                    <a:p>
                      <a:pPr algn="l">
                        <a:defRPr sz="1300" b="1">
                          <a:solidFill>
                            <a:srgbClr val="3C3C3C"/>
                          </a:solidFill>
                          <a:latin typeface="Arial"/>
                        </a:defRPr>
                      </a:pPr>
                      <a:r>
                        <a:t>Osteoporosis</a:t>
                      </a:r>
                    </a:p>
                  </a:txBody>
                  <a:tcPr>
                    <a:solidFill>
                      <a:srgbClr val="E6EBF0"/>
                    </a:solidFill>
                  </a:tcPr>
                </a:tc>
                <a:tc>
                  <a:txBody>
                    <a:bodyPr/>
                    <a:lstStyle/>
                    <a:p>
                      <a:pPr algn="ctr">
                        <a:defRPr sz="1300">
                          <a:solidFill>
                            <a:srgbClr val="3C3C3C"/>
                          </a:solidFill>
                          <a:latin typeface="Arial"/>
                        </a:defRPr>
                      </a:pPr>
                      <a:r>
                        <a:t>Bone resorption &gt; bone formation (uncoupled remodeling, low bone mass)</a:t>
                      </a:r>
                    </a:p>
                  </a:txBody>
                  <a:tcPr>
                    <a:solidFill>
                      <a:srgbClr val="E6EBF0"/>
                    </a:solidFill>
                  </a:tcPr>
                </a:tc>
                <a:tc>
                  <a:txBody>
                    <a:bodyPr/>
                    <a:lstStyle/>
                    <a:p>
                      <a:pPr algn="ctr">
                        <a:defRPr sz="1300">
                          <a:solidFill>
                            <a:srgbClr val="3C3C3C"/>
                          </a:solidFill>
                          <a:latin typeface="Arial"/>
                        </a:defRPr>
                      </a:pPr>
                      <a:r>
                        <a:t>Normal</a:t>
                      </a:r>
                    </a:p>
                  </a:txBody>
                  <a:tcPr>
                    <a:solidFill>
                      <a:srgbClr val="E6EBF0"/>
                    </a:solidFill>
                  </a:tcPr>
                </a:tc>
                <a:tc>
                  <a:txBody>
                    <a:bodyPr/>
                    <a:lstStyle/>
                    <a:p>
                      <a:pPr algn="ctr">
                        <a:defRPr sz="1300">
                          <a:solidFill>
                            <a:srgbClr val="3C3C3C"/>
                          </a:solidFill>
                          <a:latin typeface="Arial"/>
                        </a:defRPr>
                      </a:pPr>
                      <a:r>
                        <a:t>Normal</a:t>
                      </a:r>
                    </a:p>
                  </a:txBody>
                  <a:tcPr>
                    <a:solidFill>
                      <a:srgbClr val="E6EBF0"/>
                    </a:solidFill>
                  </a:tcPr>
                </a:tc>
                <a:tc>
                  <a:txBody>
                    <a:bodyPr/>
                    <a:lstStyle/>
                    <a:p>
                      <a:pPr algn="ctr">
                        <a:defRPr sz="1300">
                          <a:solidFill>
                            <a:srgbClr val="3C3C3C"/>
                          </a:solidFill>
                          <a:latin typeface="Arial"/>
                        </a:defRPr>
                      </a:pPr>
                      <a:r>
                        <a:t>Bisphosphonates, Denosumab, Teriparatide, Calcium/Vit D, Exercise</a:t>
                      </a:r>
                    </a:p>
                  </a:txBody>
                  <a:tcPr>
                    <a:solidFill>
                      <a:srgbClr val="E6EBF0"/>
                    </a:solidFill>
                  </a:tcPr>
                </a:tc>
              </a:tr>
              <a:tr h="877824">
                <a:tc>
                  <a:txBody>
                    <a:bodyPr/>
                    <a:lstStyle/>
                    <a:p>
                      <a:pPr algn="l">
                        <a:defRPr sz="1300" b="1">
                          <a:solidFill>
                            <a:srgbClr val="3C3C3C"/>
                          </a:solidFill>
                          <a:latin typeface="Arial"/>
                        </a:defRPr>
                      </a:pPr>
                      <a:r>
                        <a:t>Osteomalacia</a:t>
                      </a:r>
                    </a:p>
                  </a:txBody>
                  <a:tcPr>
                    <a:solidFill>
                      <a:srgbClr val="FFFFFF"/>
                    </a:solidFill>
                  </a:tcPr>
                </a:tc>
                <a:tc>
                  <a:txBody>
                    <a:bodyPr/>
                    <a:lstStyle/>
                    <a:p>
                      <a:pPr algn="ctr">
                        <a:defRPr sz="1300">
                          <a:solidFill>
                            <a:srgbClr val="3C3C3C"/>
                          </a:solidFill>
                          <a:latin typeface="Arial"/>
                        </a:defRPr>
                      </a:pPr>
                      <a:r>
                        <a:t>Inadequate mineralization of organic osteoid matrix (soft bones)</a:t>
                      </a:r>
                    </a:p>
                  </a:txBody>
                  <a:tcPr>
                    <a:solidFill>
                      <a:srgbClr val="FFFFFF"/>
                    </a:solidFill>
                  </a:tcPr>
                </a:tc>
                <a:tc>
                  <a:txBody>
                    <a:bodyPr/>
                    <a:lstStyle/>
                    <a:p>
                      <a:pPr algn="ctr">
                        <a:defRPr sz="1300">
                          <a:solidFill>
                            <a:srgbClr val="3C3C3C"/>
                          </a:solidFill>
                          <a:latin typeface="Arial"/>
                        </a:defRPr>
                      </a:pPr>
                      <a:r>
                        <a:t>Low or Low-Normal</a:t>
                      </a:r>
                    </a:p>
                  </a:txBody>
                  <a:tcPr>
                    <a:solidFill>
                      <a:srgbClr val="FFFFFF"/>
                    </a:solidFill>
                  </a:tcPr>
                </a:tc>
                <a:tc>
                  <a:txBody>
                    <a:bodyPr/>
                    <a:lstStyle/>
                    <a:p>
                      <a:pPr algn="ctr">
                        <a:defRPr sz="1300">
                          <a:solidFill>
                            <a:srgbClr val="3C3C3C"/>
                          </a:solidFill>
                          <a:latin typeface="Arial"/>
                        </a:defRPr>
                      </a:pPr>
                      <a:r>
                        <a:t>Elevated</a:t>
                      </a:r>
                    </a:p>
                  </a:txBody>
                  <a:tcPr>
                    <a:solidFill>
                      <a:srgbClr val="FFFFFF"/>
                    </a:solidFill>
                  </a:tcPr>
                </a:tc>
                <a:tc>
                  <a:txBody>
                    <a:bodyPr/>
                    <a:lstStyle/>
                    <a:p>
                      <a:pPr algn="ctr">
                        <a:defRPr sz="1300">
                          <a:solidFill>
                            <a:srgbClr val="3C3C3C"/>
                          </a:solidFill>
                          <a:latin typeface="Arial"/>
                        </a:defRPr>
                      </a:pPr>
                      <a:r>
                        <a:t>High-dose Vitamin D supplementation, Calcium, treatment of malabsorption</a:t>
                      </a:r>
                    </a:p>
                  </a:txBody>
                  <a:tcPr>
                    <a:solidFill>
                      <a:srgbClr val="FFFFFF"/>
                    </a:solidFill>
                  </a:tcPr>
                </a:tc>
              </a:tr>
              <a:tr h="877824">
                <a:tc>
                  <a:txBody>
                    <a:bodyPr/>
                    <a:lstStyle/>
                    <a:p>
                      <a:pPr algn="l">
                        <a:defRPr sz="1300" b="1">
                          <a:solidFill>
                            <a:srgbClr val="3C3C3C"/>
                          </a:solidFill>
                          <a:latin typeface="Arial"/>
                        </a:defRPr>
                      </a:pPr>
                      <a:r>
                        <a:t>Paget's Disease</a:t>
                      </a:r>
                    </a:p>
                  </a:txBody>
                  <a:tcPr>
                    <a:solidFill>
                      <a:srgbClr val="E6EBF0"/>
                    </a:solidFill>
                  </a:tcPr>
                </a:tc>
                <a:tc>
                  <a:txBody>
                    <a:bodyPr/>
                    <a:lstStyle/>
                    <a:p>
                      <a:pPr algn="ctr">
                        <a:defRPr sz="1300">
                          <a:solidFill>
                            <a:srgbClr val="3C3C3C"/>
                          </a:solidFill>
                          <a:latin typeface="Arial"/>
                        </a:defRPr>
                      </a:pPr>
                      <a:r>
                        <a:t>Chaotic bone remodeling (giant osteoclasts followed by woven bone formation)</a:t>
                      </a:r>
                    </a:p>
                  </a:txBody>
                  <a:tcPr>
                    <a:solidFill>
                      <a:srgbClr val="E6EBF0"/>
                    </a:solidFill>
                  </a:tcPr>
                </a:tc>
                <a:tc>
                  <a:txBody>
                    <a:bodyPr/>
                    <a:lstStyle/>
                    <a:p>
                      <a:pPr algn="ctr">
                        <a:defRPr sz="1300">
                          <a:solidFill>
                            <a:srgbClr val="3C3C3C"/>
                          </a:solidFill>
                          <a:latin typeface="Arial"/>
                        </a:defRPr>
                      </a:pPr>
                      <a:r>
                        <a:t>Normal</a:t>
                      </a:r>
                    </a:p>
                    <a:p>
                      <a:r>
                        <a:t>(unless immobilized)</a:t>
                      </a:r>
                    </a:p>
                  </a:txBody>
                  <a:tcPr>
                    <a:solidFill>
                      <a:srgbClr val="E6EBF0"/>
                    </a:solidFill>
                  </a:tcPr>
                </a:tc>
                <a:tc>
                  <a:txBody>
                    <a:bodyPr/>
                    <a:lstStyle/>
                    <a:p>
                      <a:pPr algn="ctr">
                        <a:defRPr sz="1300">
                          <a:solidFill>
                            <a:srgbClr val="3C3C3C"/>
                          </a:solidFill>
                          <a:latin typeface="Arial"/>
                        </a:defRPr>
                      </a:pPr>
                      <a:r>
                        <a:t>Markedly Elevated</a:t>
                      </a:r>
                    </a:p>
                  </a:txBody>
                  <a:tcPr>
                    <a:solidFill>
                      <a:srgbClr val="E6EBF0"/>
                    </a:solidFill>
                  </a:tcPr>
                </a:tc>
                <a:tc>
                  <a:txBody>
                    <a:bodyPr/>
                    <a:lstStyle/>
                    <a:p>
                      <a:pPr algn="ctr">
                        <a:defRPr sz="1300">
                          <a:solidFill>
                            <a:srgbClr val="3C3C3C"/>
                          </a:solidFill>
                          <a:latin typeface="Arial"/>
                        </a:defRPr>
                      </a:pPr>
                      <a:r>
                        <a:t>Bisphosphonates (Zoledronic Acid), Calcitonin, NSAIDs, Decompression surgery</a:t>
                      </a:r>
                    </a:p>
                  </a:txBody>
                  <a:tcPr>
                    <a:solidFill>
                      <a:srgbClr val="E6EBF0"/>
                    </a:solidFill>
                  </a:tcPr>
                </a:tc>
              </a:tr>
              <a:tr h="877824">
                <a:tc>
                  <a:txBody>
                    <a:bodyPr/>
                    <a:lstStyle/>
                    <a:p>
                      <a:pPr algn="l">
                        <a:defRPr sz="1300" b="1">
                          <a:solidFill>
                            <a:srgbClr val="3C3C3C"/>
                          </a:solidFill>
                          <a:latin typeface="Arial"/>
                        </a:defRPr>
                      </a:pPr>
                      <a:r>
                        <a:t>Rickets</a:t>
                      </a:r>
                    </a:p>
                  </a:txBody>
                  <a:tcPr>
                    <a:solidFill>
                      <a:srgbClr val="FFFFFF"/>
                    </a:solidFill>
                  </a:tcPr>
                </a:tc>
                <a:tc>
                  <a:txBody>
                    <a:bodyPr/>
                    <a:lstStyle/>
                    <a:p>
                      <a:pPr algn="ctr">
                        <a:defRPr sz="1300">
                          <a:solidFill>
                            <a:srgbClr val="3C3C3C"/>
                          </a:solidFill>
                          <a:latin typeface="Arial"/>
                        </a:defRPr>
                      </a:pPr>
                      <a:r>
                        <a:t>Inadequate mineralization of growth plate osteoid (children before epiphyseal fusion)</a:t>
                      </a:r>
                    </a:p>
                  </a:txBody>
                  <a:tcPr>
                    <a:solidFill>
                      <a:srgbClr val="FFFFFF"/>
                    </a:solidFill>
                  </a:tcPr>
                </a:tc>
                <a:tc>
                  <a:txBody>
                    <a:bodyPr/>
                    <a:lstStyle/>
                    <a:p>
                      <a:pPr algn="ctr">
                        <a:defRPr sz="1300">
                          <a:solidFill>
                            <a:srgbClr val="3C3C3C"/>
                          </a:solidFill>
                          <a:latin typeface="Arial"/>
                        </a:defRPr>
                      </a:pPr>
                      <a:r>
                        <a:t>Low or Low-Normal</a:t>
                      </a:r>
                    </a:p>
                  </a:txBody>
                  <a:tcPr>
                    <a:solidFill>
                      <a:srgbClr val="FFFFFF"/>
                    </a:solidFill>
                  </a:tcPr>
                </a:tc>
                <a:tc>
                  <a:txBody>
                    <a:bodyPr/>
                    <a:lstStyle/>
                    <a:p>
                      <a:pPr algn="ctr">
                        <a:defRPr sz="1300">
                          <a:solidFill>
                            <a:srgbClr val="3C3C3C"/>
                          </a:solidFill>
                          <a:latin typeface="Arial"/>
                        </a:defRPr>
                      </a:pPr>
                      <a:r>
                        <a:t>Elevated</a:t>
                      </a:r>
                    </a:p>
                  </a:txBody>
                  <a:tcPr>
                    <a:solidFill>
                      <a:srgbClr val="FFFFFF"/>
                    </a:solidFill>
                  </a:tcPr>
                </a:tc>
                <a:tc>
                  <a:txBody>
                    <a:bodyPr/>
                    <a:lstStyle/>
                    <a:p>
                      <a:pPr algn="ctr">
                        <a:defRPr sz="1300">
                          <a:solidFill>
                            <a:srgbClr val="3C3C3C"/>
                          </a:solidFill>
                          <a:latin typeface="Arial"/>
                        </a:defRPr>
                      </a:pPr>
                      <a:r>
                        <a:t>Vitamin D (Stoss or daily), Calcium/Phosphate, guided growth/osteotomy</a:t>
                      </a:r>
                    </a:p>
                  </a:txBody>
                  <a:tcPr>
                    <a:solidFill>
                      <a:srgbClr val="FFFFFF"/>
                    </a:solidFill>
                  </a:tcPr>
                </a:tc>
              </a:tr>
            </a:tbl>
          </a:graphicData>
        </a:graphic>
      </p:graphicFrame>
      <p:pic>
        <p:nvPicPr>
          <p:cNvPr id="5" name="Picture 4" descr="metabolic_bone_overview.png"/>
          <p:cNvPicPr>
            <a:picLocks noChangeAspect="1"/>
          </p:cNvPicPr>
          <p:nvPr/>
        </p:nvPicPr>
        <p:blipFill>
          <a:blip r:embed="rId2"/>
          <a:stretch>
            <a:fillRect/>
          </a:stretch>
        </p:blipFill>
        <p:spPr>
          <a:xfrm>
            <a:off x="9052560" y="1645920"/>
            <a:ext cx="2560320" cy="438912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228600"/>
            <a:ext cx="10698480" cy="365760"/>
          </a:xfrm>
          <a:prstGeom prst="rect">
            <a:avLst/>
          </a:prstGeom>
          <a:noFill/>
        </p:spPr>
        <p:txBody>
          <a:bodyPr wrap="square" tIns="0" bIns="0" lIns="0" rIns="0">
            <a:spAutoFit/>
          </a:bodyPr>
          <a:lstStyle/>
          <a:p>
            <a:pPr>
              <a:defRPr sz="1400" b="1">
                <a:solidFill>
                  <a:srgbClr val="228B8B"/>
                </a:solidFill>
                <a:latin typeface="Arial"/>
              </a:defRPr>
            </a:pPr>
            <a:r>
              <a:t>NURSING CARE PLAN</a:t>
            </a:r>
          </a:p>
        </p:txBody>
      </p:sp>
      <p:sp>
        <p:nvSpPr>
          <p:cNvPr id="3" name="TextBox 2"/>
          <p:cNvSpPr txBox="1"/>
          <p:nvPr/>
        </p:nvSpPr>
        <p:spPr>
          <a:xfrm>
            <a:off x="731520" y="548640"/>
            <a:ext cx="10698480" cy="914400"/>
          </a:xfrm>
          <a:prstGeom prst="rect">
            <a:avLst/>
          </a:prstGeom>
          <a:noFill/>
        </p:spPr>
        <p:txBody>
          <a:bodyPr wrap="square" tIns="0" bIns="0" lIns="0" rIns="0">
            <a:spAutoFit/>
          </a:bodyPr>
          <a:lstStyle/>
          <a:p>
            <a:pPr>
              <a:defRPr sz="4000" b="1">
                <a:solidFill>
                  <a:srgbClr val="162639"/>
                </a:solidFill>
                <a:latin typeface="Georgia"/>
              </a:defRPr>
            </a:pPr>
            <a:r>
              <a:t>Care Plan 1: Acute Pain</a:t>
            </a:r>
          </a:p>
        </p:txBody>
      </p:sp>
      <p:sp>
        <p:nvSpPr>
          <p:cNvPr id="4" name="Rectangle 3"/>
          <p:cNvSpPr/>
          <p:nvPr/>
        </p:nvSpPr>
        <p:spPr>
          <a:xfrm>
            <a:off x="731520" y="1645920"/>
            <a:ext cx="3383280" cy="4480560"/>
          </a:xfrm>
          <a:prstGeom prst="rect">
            <a:avLst/>
          </a:prstGeom>
          <a:solidFill>
            <a:srgbClr val="FFFFFF"/>
          </a:solidFill>
          <a:ln>
            <a:solidFill>
              <a:srgbClr val="E6EB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spcAft>
                <a:spcPts val="600"/>
              </a:spcAft>
              <a:defRPr sz="1400" b="1">
                <a:solidFill>
                  <a:srgbClr val="228B8B"/>
                </a:solidFill>
                <a:latin typeface="Arial"/>
              </a:defRPr>
            </a:pPr>
            <a:r>
              <a:t>ASSESSMENT</a:t>
            </a:r>
          </a:p>
          <a:p>
            <a:pPr>
              <a:spcAft>
                <a:spcPts val="300"/>
              </a:spcAft>
              <a:defRPr sz="1050">
                <a:solidFill>
                  <a:srgbClr val="3C3C3C"/>
                </a:solidFill>
                <a:latin typeface="Arial"/>
              </a:defRPr>
            </a:pPr>
            <a:r>
              <a:t>Subjective Data: Patient complains of bone or joint pain. Reports pain during movement.</a:t>
            </a:r>
          </a:p>
          <a:p>
            <a:pPr>
              <a:spcAft>
                <a:spcPts val="300"/>
              </a:spcAft>
              <a:defRPr sz="1050">
                <a:solidFill>
                  <a:srgbClr val="3C3C3C"/>
                </a:solidFill>
                <a:latin typeface="Arial"/>
              </a:defRPr>
            </a:pPr>
            <a:r>
              <a:t>Objective Data: Facial grimacing, Guarding behavior, Limited mobility, Pain score elevated</a:t>
            </a:r>
          </a:p>
          <a:p>
            <a:br/>
            <a:pPr>
              <a:spcAft>
                <a:spcPts val="600"/>
              </a:spcAft>
              <a:defRPr sz="1400" b="1">
                <a:solidFill>
                  <a:srgbClr val="C0392B"/>
                </a:solidFill>
                <a:latin typeface="Arial"/>
              </a:defRPr>
            </a:pPr>
            <a:r>
              <a:t>NURSING DIAGNOSIS</a:t>
            </a:r>
          </a:p>
          <a:p>
            <a:pPr>
              <a:defRPr sz="1050" b="1">
                <a:solidFill>
                  <a:srgbClr val="162639"/>
                </a:solidFill>
                <a:latin typeface="Arial"/>
              </a:defRPr>
            </a:pPr>
            <a:r>
              <a:t>Acute Pain related to bone demineralization and musculoskeletal changes as evidenced by verbal reports of pain and restricted movement.</a:t>
            </a:r>
          </a:p>
        </p:txBody>
      </p:sp>
      <p:sp>
        <p:nvSpPr>
          <p:cNvPr id="5" name="Rectangle 4"/>
          <p:cNvSpPr/>
          <p:nvPr/>
        </p:nvSpPr>
        <p:spPr>
          <a:xfrm>
            <a:off x="4297680" y="1645920"/>
            <a:ext cx="3383280" cy="4480560"/>
          </a:xfrm>
          <a:prstGeom prst="rect">
            <a:avLst/>
          </a:prstGeom>
          <a:solidFill>
            <a:srgbClr val="FFFFFF"/>
          </a:solidFill>
          <a:ln>
            <a:solidFill>
              <a:srgbClr val="E6EB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spcAft>
                <a:spcPts val="600"/>
              </a:spcAft>
              <a:defRPr sz="1400" b="1">
                <a:solidFill>
                  <a:srgbClr val="228B8B"/>
                </a:solidFill>
                <a:latin typeface="Arial"/>
              </a:defRPr>
            </a:pPr>
            <a:r>
              <a:t>PLANNING &amp; GOALS</a:t>
            </a:r>
          </a:p>
          <a:p>
            <a:pPr>
              <a:spcAft>
                <a:spcPts val="300"/>
              </a:spcAft>
              <a:defRPr sz="1050">
                <a:solidFill>
                  <a:srgbClr val="3C3C3C"/>
                </a:solidFill>
                <a:latin typeface="Arial"/>
              </a:defRPr>
            </a:pPr>
            <a:r>
              <a:t>Patient will report pain ≤3/10 within 48 hours.</a:t>
            </a:r>
          </a:p>
          <a:p>
            <a:pPr>
              <a:spcAft>
                <a:spcPts val="300"/>
              </a:spcAft>
              <a:defRPr sz="1050">
                <a:solidFill>
                  <a:srgbClr val="3C3C3C"/>
                </a:solidFill>
                <a:latin typeface="Arial"/>
              </a:defRPr>
            </a:pPr>
            <a:r>
              <a:t>Patient will demonstrate improved comfort and mobility.</a:t>
            </a:r>
          </a:p>
          <a:p>
            <a:br/>
            <a:pPr>
              <a:spcAft>
                <a:spcPts val="600"/>
              </a:spcAft>
              <a:defRPr sz="1400" b="1">
                <a:solidFill>
                  <a:srgbClr val="228B8B"/>
                </a:solidFill>
                <a:latin typeface="Arial"/>
              </a:defRPr>
            </a:pPr>
            <a:r>
              <a:t>EVALUATION</a:t>
            </a:r>
          </a:p>
          <a:p>
            <a:pPr>
              <a:spcAft>
                <a:spcPts val="300"/>
              </a:spcAft>
              <a:defRPr sz="1050">
                <a:solidFill>
                  <a:srgbClr val="3C3C3C"/>
                </a:solidFill>
                <a:latin typeface="Arial"/>
              </a:defRPr>
            </a:pPr>
            <a:r>
              <a:t>Patient reports decreased pain. Improved participation in activities.</a:t>
            </a:r>
          </a:p>
        </p:txBody>
      </p:sp>
      <p:sp>
        <p:nvSpPr>
          <p:cNvPr id="6" name="Rectangle 5"/>
          <p:cNvSpPr/>
          <p:nvPr/>
        </p:nvSpPr>
        <p:spPr>
          <a:xfrm>
            <a:off x="7863840" y="1645920"/>
            <a:ext cx="3566160" cy="4480560"/>
          </a:xfrm>
          <a:prstGeom prst="rect">
            <a:avLst/>
          </a:prstGeom>
          <a:solidFill>
            <a:srgbClr val="FFFFFF"/>
          </a:solidFill>
          <a:ln>
            <a:solidFill>
              <a:srgbClr val="E6EB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spcAft>
                <a:spcPts val="600"/>
              </a:spcAft>
              <a:defRPr sz="1400" b="1">
                <a:solidFill>
                  <a:srgbClr val="162639"/>
                </a:solidFill>
                <a:latin typeface="Arial"/>
              </a:defRPr>
            </a:pPr>
            <a:r>
              <a:t>NURSING INTERVENTIONS</a:t>
            </a:r>
          </a:p>
          <a:p>
            <a:pPr>
              <a:spcAft>
                <a:spcPts val="300"/>
              </a:spcAft>
              <a:defRPr sz="1050">
                <a:solidFill>
                  <a:srgbClr val="3C3C3C"/>
                </a:solidFill>
                <a:latin typeface="Arial"/>
              </a:defRPr>
            </a:pPr>
            <a:r>
              <a:t>1. Assess pain intensity, location, and duration regularly.</a:t>
            </a:r>
          </a:p>
          <a:p>
            <a:pPr>
              <a:spcAft>
                <a:spcPts val="300"/>
              </a:spcAft>
              <a:defRPr sz="1050">
                <a:solidFill>
                  <a:srgbClr val="3C3C3C"/>
                </a:solidFill>
                <a:latin typeface="Arial"/>
              </a:defRPr>
            </a:pPr>
            <a:r>
              <a:t>2. Administer prescribed analgesics.</a:t>
            </a:r>
          </a:p>
          <a:p>
            <a:pPr>
              <a:spcAft>
                <a:spcPts val="300"/>
              </a:spcAft>
              <a:defRPr sz="1050">
                <a:solidFill>
                  <a:srgbClr val="3C3C3C"/>
                </a:solidFill>
                <a:latin typeface="Arial"/>
              </a:defRPr>
            </a:pPr>
            <a:r>
              <a:t>3. Position patient comfortably and support affected limbs.</a:t>
            </a:r>
          </a:p>
          <a:p>
            <a:pPr>
              <a:spcAft>
                <a:spcPts val="300"/>
              </a:spcAft>
              <a:defRPr sz="1050">
                <a:solidFill>
                  <a:srgbClr val="3C3C3C"/>
                </a:solidFill>
                <a:latin typeface="Arial"/>
              </a:defRPr>
            </a:pPr>
            <a:r>
              <a:t>4. Encourage relaxation techniques.</a:t>
            </a:r>
          </a:p>
          <a:p>
            <a:pPr>
              <a:spcAft>
                <a:spcPts val="300"/>
              </a:spcAft>
              <a:defRPr sz="1050">
                <a:solidFill>
                  <a:srgbClr val="3C3C3C"/>
                </a:solidFill>
                <a:latin typeface="Arial"/>
              </a:defRPr>
            </a:pPr>
            <a:r>
              <a:t>5. Apply heat or cold therapy if prescribed.</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228600"/>
            <a:ext cx="10698480" cy="365760"/>
          </a:xfrm>
          <a:prstGeom prst="rect">
            <a:avLst/>
          </a:prstGeom>
          <a:noFill/>
        </p:spPr>
        <p:txBody>
          <a:bodyPr wrap="square" tIns="0" bIns="0" lIns="0" rIns="0">
            <a:spAutoFit/>
          </a:bodyPr>
          <a:lstStyle/>
          <a:p>
            <a:pPr>
              <a:defRPr sz="1400" b="1">
                <a:solidFill>
                  <a:srgbClr val="228B8B"/>
                </a:solidFill>
                <a:latin typeface="Arial"/>
              </a:defRPr>
            </a:pPr>
            <a:r>
              <a:t>NURSING CARE PLAN</a:t>
            </a:r>
          </a:p>
        </p:txBody>
      </p:sp>
      <p:sp>
        <p:nvSpPr>
          <p:cNvPr id="3" name="TextBox 2"/>
          <p:cNvSpPr txBox="1"/>
          <p:nvPr/>
        </p:nvSpPr>
        <p:spPr>
          <a:xfrm>
            <a:off x="731520" y="548640"/>
            <a:ext cx="10698480" cy="914400"/>
          </a:xfrm>
          <a:prstGeom prst="rect">
            <a:avLst/>
          </a:prstGeom>
          <a:noFill/>
        </p:spPr>
        <p:txBody>
          <a:bodyPr wrap="square" tIns="0" bIns="0" lIns="0" rIns="0">
            <a:spAutoFit/>
          </a:bodyPr>
          <a:lstStyle/>
          <a:p>
            <a:pPr>
              <a:defRPr sz="4000" b="1">
                <a:solidFill>
                  <a:srgbClr val="162639"/>
                </a:solidFill>
                <a:latin typeface="Georgia"/>
              </a:defRPr>
            </a:pPr>
            <a:r>
              <a:t>Care Plan 2: Impaired Physical Mobility</a:t>
            </a:r>
          </a:p>
        </p:txBody>
      </p:sp>
      <p:sp>
        <p:nvSpPr>
          <p:cNvPr id="4" name="Rectangle 3"/>
          <p:cNvSpPr/>
          <p:nvPr/>
        </p:nvSpPr>
        <p:spPr>
          <a:xfrm>
            <a:off x="731520" y="1645920"/>
            <a:ext cx="3383280" cy="4480560"/>
          </a:xfrm>
          <a:prstGeom prst="rect">
            <a:avLst/>
          </a:prstGeom>
          <a:solidFill>
            <a:srgbClr val="FFFFFF"/>
          </a:solidFill>
          <a:ln>
            <a:solidFill>
              <a:srgbClr val="E6EB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spcAft>
                <a:spcPts val="600"/>
              </a:spcAft>
              <a:defRPr sz="1400" b="1">
                <a:solidFill>
                  <a:srgbClr val="228B8B"/>
                </a:solidFill>
                <a:latin typeface="Arial"/>
              </a:defRPr>
            </a:pPr>
            <a:r>
              <a:t>ASSESSMENT</a:t>
            </a:r>
          </a:p>
          <a:p>
            <a:pPr>
              <a:spcAft>
                <a:spcPts val="300"/>
              </a:spcAft>
              <a:defRPr sz="1050">
                <a:solidFill>
                  <a:srgbClr val="3C3C3C"/>
                </a:solidFill>
                <a:latin typeface="Arial"/>
              </a:defRPr>
            </a:pPr>
            <a:r>
              <a:t>Subjective Data: Difficulty walking. Complains of weakness.</a:t>
            </a:r>
          </a:p>
          <a:p>
            <a:pPr>
              <a:spcAft>
                <a:spcPts val="300"/>
              </a:spcAft>
              <a:defRPr sz="1050">
                <a:solidFill>
                  <a:srgbClr val="3C3C3C"/>
                </a:solidFill>
                <a:latin typeface="Arial"/>
              </a:defRPr>
            </a:pPr>
            <a:r>
              <a:t>Objective Data: Limited range of motion. Requires assistance with movement.</a:t>
            </a:r>
          </a:p>
          <a:p>
            <a:br/>
            <a:pPr>
              <a:spcAft>
                <a:spcPts val="600"/>
              </a:spcAft>
              <a:defRPr sz="1400" b="1">
                <a:solidFill>
                  <a:srgbClr val="C0392B"/>
                </a:solidFill>
                <a:latin typeface="Arial"/>
              </a:defRPr>
            </a:pPr>
            <a:r>
              <a:t>NURSING DIAGNOSIS</a:t>
            </a:r>
          </a:p>
          <a:p>
            <a:pPr>
              <a:defRPr sz="1050" b="1">
                <a:solidFill>
                  <a:srgbClr val="162639"/>
                </a:solidFill>
                <a:latin typeface="Arial"/>
              </a:defRPr>
            </a:pPr>
            <a:r>
              <a:t>Impaired Physical Mobility related to pain, skeletal deformity, and muscle weakness as evidenced by limited movement and difficulty ambulating.</a:t>
            </a:r>
          </a:p>
        </p:txBody>
      </p:sp>
      <p:sp>
        <p:nvSpPr>
          <p:cNvPr id="5" name="Rectangle 4"/>
          <p:cNvSpPr/>
          <p:nvPr/>
        </p:nvSpPr>
        <p:spPr>
          <a:xfrm>
            <a:off x="4297680" y="1645920"/>
            <a:ext cx="3383280" cy="4480560"/>
          </a:xfrm>
          <a:prstGeom prst="rect">
            <a:avLst/>
          </a:prstGeom>
          <a:solidFill>
            <a:srgbClr val="FFFFFF"/>
          </a:solidFill>
          <a:ln>
            <a:solidFill>
              <a:srgbClr val="E6EB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spcAft>
                <a:spcPts val="600"/>
              </a:spcAft>
              <a:defRPr sz="1400" b="1">
                <a:solidFill>
                  <a:srgbClr val="228B8B"/>
                </a:solidFill>
                <a:latin typeface="Arial"/>
              </a:defRPr>
            </a:pPr>
            <a:r>
              <a:t>PLANNING &amp; GOALS</a:t>
            </a:r>
          </a:p>
          <a:p>
            <a:pPr>
              <a:spcAft>
                <a:spcPts val="300"/>
              </a:spcAft>
              <a:defRPr sz="1050">
                <a:solidFill>
                  <a:srgbClr val="3C3C3C"/>
                </a:solidFill>
                <a:latin typeface="Arial"/>
              </a:defRPr>
            </a:pPr>
            <a:r>
              <a:t>Patient will demonstrate improved mobility within one week.</a:t>
            </a:r>
          </a:p>
          <a:p>
            <a:pPr>
              <a:spcAft>
                <a:spcPts val="300"/>
              </a:spcAft>
              <a:defRPr sz="1050">
                <a:solidFill>
                  <a:srgbClr val="3C3C3C"/>
                </a:solidFill>
                <a:latin typeface="Arial"/>
              </a:defRPr>
            </a:pPr>
            <a:r>
              <a:t>Patient will perform activities with minimal assistance.</a:t>
            </a:r>
          </a:p>
          <a:p>
            <a:br/>
            <a:pPr>
              <a:spcAft>
                <a:spcPts val="600"/>
              </a:spcAft>
              <a:defRPr sz="1400" b="1">
                <a:solidFill>
                  <a:srgbClr val="228B8B"/>
                </a:solidFill>
                <a:latin typeface="Arial"/>
              </a:defRPr>
            </a:pPr>
            <a:r>
              <a:t>EVALUATION</a:t>
            </a:r>
          </a:p>
          <a:p>
            <a:pPr>
              <a:spcAft>
                <a:spcPts val="300"/>
              </a:spcAft>
              <a:defRPr sz="1050">
                <a:solidFill>
                  <a:srgbClr val="3C3C3C"/>
                </a:solidFill>
                <a:latin typeface="Arial"/>
              </a:defRPr>
            </a:pPr>
            <a:r>
              <a:t>Patient demonstrates improved mobility. Performs ADLs with less assistance.</a:t>
            </a:r>
          </a:p>
        </p:txBody>
      </p:sp>
      <p:sp>
        <p:nvSpPr>
          <p:cNvPr id="6" name="Rectangle 5"/>
          <p:cNvSpPr/>
          <p:nvPr/>
        </p:nvSpPr>
        <p:spPr>
          <a:xfrm>
            <a:off x="7863840" y="1645920"/>
            <a:ext cx="3566160" cy="4480560"/>
          </a:xfrm>
          <a:prstGeom prst="rect">
            <a:avLst/>
          </a:prstGeom>
          <a:solidFill>
            <a:srgbClr val="FFFFFF"/>
          </a:solidFill>
          <a:ln>
            <a:solidFill>
              <a:srgbClr val="E6EB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spcAft>
                <a:spcPts val="600"/>
              </a:spcAft>
              <a:defRPr sz="1400" b="1">
                <a:solidFill>
                  <a:srgbClr val="162639"/>
                </a:solidFill>
                <a:latin typeface="Arial"/>
              </a:defRPr>
            </a:pPr>
            <a:r>
              <a:t>NURSING INTERVENTIONS</a:t>
            </a:r>
          </a:p>
          <a:p>
            <a:pPr>
              <a:spcAft>
                <a:spcPts val="300"/>
              </a:spcAft>
              <a:defRPr sz="1050">
                <a:solidFill>
                  <a:srgbClr val="3C3C3C"/>
                </a:solidFill>
                <a:latin typeface="Arial"/>
              </a:defRPr>
            </a:pPr>
            <a:r>
              <a:t>1. Assess mobility status daily.</a:t>
            </a:r>
          </a:p>
          <a:p>
            <a:pPr>
              <a:spcAft>
                <a:spcPts val="300"/>
              </a:spcAft>
              <a:defRPr sz="1050">
                <a:solidFill>
                  <a:srgbClr val="3C3C3C"/>
                </a:solidFill>
                <a:latin typeface="Arial"/>
              </a:defRPr>
            </a:pPr>
            <a:r>
              <a:t>2. Encourage active and passive ROM exercises.</a:t>
            </a:r>
          </a:p>
          <a:p>
            <a:pPr>
              <a:spcAft>
                <a:spcPts val="300"/>
              </a:spcAft>
              <a:defRPr sz="1050">
                <a:solidFill>
                  <a:srgbClr val="3C3C3C"/>
                </a:solidFill>
                <a:latin typeface="Arial"/>
              </a:defRPr>
            </a:pPr>
            <a:r>
              <a:t>3. Assist with ambulation as needed.</a:t>
            </a:r>
          </a:p>
          <a:p>
            <a:pPr>
              <a:spcAft>
                <a:spcPts val="300"/>
              </a:spcAft>
              <a:defRPr sz="1050">
                <a:solidFill>
                  <a:srgbClr val="3C3C3C"/>
                </a:solidFill>
                <a:latin typeface="Arial"/>
              </a:defRPr>
            </a:pPr>
            <a:r>
              <a:t>4. Collaborate with physiotherapist.</a:t>
            </a:r>
          </a:p>
          <a:p>
            <a:pPr>
              <a:spcAft>
                <a:spcPts val="300"/>
              </a:spcAft>
              <a:defRPr sz="1050">
                <a:solidFill>
                  <a:srgbClr val="3C3C3C"/>
                </a:solidFill>
                <a:latin typeface="Arial"/>
              </a:defRPr>
            </a:pPr>
            <a:r>
              <a:t>5. Provide assistive devices when indicated.</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228600"/>
            <a:ext cx="10698480" cy="365760"/>
          </a:xfrm>
          <a:prstGeom prst="rect">
            <a:avLst/>
          </a:prstGeom>
          <a:noFill/>
        </p:spPr>
        <p:txBody>
          <a:bodyPr wrap="square" tIns="0" bIns="0" lIns="0" rIns="0">
            <a:spAutoFit/>
          </a:bodyPr>
          <a:lstStyle/>
          <a:p>
            <a:pPr>
              <a:defRPr sz="1400" b="1">
                <a:solidFill>
                  <a:srgbClr val="228B8B"/>
                </a:solidFill>
                <a:latin typeface="Arial"/>
              </a:defRPr>
            </a:pPr>
            <a:r>
              <a:t>NURSING CARE PLAN</a:t>
            </a:r>
          </a:p>
        </p:txBody>
      </p:sp>
      <p:sp>
        <p:nvSpPr>
          <p:cNvPr id="3" name="TextBox 2"/>
          <p:cNvSpPr txBox="1"/>
          <p:nvPr/>
        </p:nvSpPr>
        <p:spPr>
          <a:xfrm>
            <a:off x="731520" y="548640"/>
            <a:ext cx="10698480" cy="914400"/>
          </a:xfrm>
          <a:prstGeom prst="rect">
            <a:avLst/>
          </a:prstGeom>
          <a:noFill/>
        </p:spPr>
        <p:txBody>
          <a:bodyPr wrap="square" tIns="0" bIns="0" lIns="0" rIns="0">
            <a:spAutoFit/>
          </a:bodyPr>
          <a:lstStyle/>
          <a:p>
            <a:pPr>
              <a:defRPr sz="4000" b="1">
                <a:solidFill>
                  <a:srgbClr val="162639"/>
                </a:solidFill>
                <a:latin typeface="Georgia"/>
              </a:defRPr>
            </a:pPr>
            <a:r>
              <a:t>Care Plan 3: Risk for Injury</a:t>
            </a:r>
          </a:p>
        </p:txBody>
      </p:sp>
      <p:sp>
        <p:nvSpPr>
          <p:cNvPr id="4" name="Rectangle 3"/>
          <p:cNvSpPr/>
          <p:nvPr/>
        </p:nvSpPr>
        <p:spPr>
          <a:xfrm>
            <a:off x="731520" y="1645920"/>
            <a:ext cx="3383280" cy="4480560"/>
          </a:xfrm>
          <a:prstGeom prst="rect">
            <a:avLst/>
          </a:prstGeom>
          <a:solidFill>
            <a:srgbClr val="FFFFFF"/>
          </a:solidFill>
          <a:ln>
            <a:solidFill>
              <a:srgbClr val="E6EB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spcAft>
                <a:spcPts val="600"/>
              </a:spcAft>
              <a:defRPr sz="1400" b="1">
                <a:solidFill>
                  <a:srgbClr val="228B8B"/>
                </a:solidFill>
                <a:latin typeface="Arial"/>
              </a:defRPr>
            </a:pPr>
            <a:r>
              <a:t>ASSESSMENT</a:t>
            </a:r>
          </a:p>
          <a:p>
            <a:pPr>
              <a:spcAft>
                <a:spcPts val="300"/>
              </a:spcAft>
              <a:defRPr sz="1050">
                <a:solidFill>
                  <a:srgbClr val="3C3C3C"/>
                </a:solidFill>
                <a:latin typeface="Arial"/>
              </a:defRPr>
            </a:pPr>
            <a:r>
              <a:t>Risk Factors: Decreased bone density, Muscle weakness, History of falls</a:t>
            </a:r>
          </a:p>
          <a:p>
            <a:br/>
            <a:pPr>
              <a:spcAft>
                <a:spcPts val="600"/>
              </a:spcAft>
              <a:defRPr sz="1400" b="1">
                <a:solidFill>
                  <a:srgbClr val="C0392B"/>
                </a:solidFill>
                <a:latin typeface="Arial"/>
              </a:defRPr>
            </a:pPr>
            <a:r>
              <a:t>NURSING DIAGNOSIS</a:t>
            </a:r>
          </a:p>
          <a:p>
            <a:pPr>
              <a:defRPr sz="1050" b="1">
                <a:solidFill>
                  <a:srgbClr val="162639"/>
                </a:solidFill>
                <a:latin typeface="Arial"/>
              </a:defRPr>
            </a:pPr>
            <a:r>
              <a:t>Risk for Injury related to bone fragility and impaired mobility.</a:t>
            </a:r>
          </a:p>
        </p:txBody>
      </p:sp>
      <p:sp>
        <p:nvSpPr>
          <p:cNvPr id="5" name="Rectangle 4"/>
          <p:cNvSpPr/>
          <p:nvPr/>
        </p:nvSpPr>
        <p:spPr>
          <a:xfrm>
            <a:off x="4297680" y="1645920"/>
            <a:ext cx="3383280" cy="4480560"/>
          </a:xfrm>
          <a:prstGeom prst="rect">
            <a:avLst/>
          </a:prstGeom>
          <a:solidFill>
            <a:srgbClr val="FFFFFF"/>
          </a:solidFill>
          <a:ln>
            <a:solidFill>
              <a:srgbClr val="E6EB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spcAft>
                <a:spcPts val="600"/>
              </a:spcAft>
              <a:defRPr sz="1400" b="1">
                <a:solidFill>
                  <a:srgbClr val="228B8B"/>
                </a:solidFill>
                <a:latin typeface="Arial"/>
              </a:defRPr>
            </a:pPr>
            <a:r>
              <a:t>PLANNING &amp; GOALS</a:t>
            </a:r>
          </a:p>
          <a:p>
            <a:pPr>
              <a:spcAft>
                <a:spcPts val="300"/>
              </a:spcAft>
              <a:defRPr sz="1050">
                <a:solidFill>
                  <a:srgbClr val="3C3C3C"/>
                </a:solidFill>
                <a:latin typeface="Arial"/>
              </a:defRPr>
            </a:pPr>
            <a:r>
              <a:t>Patient will remain free from fractures and injuries during hospitalization.</a:t>
            </a:r>
          </a:p>
          <a:p>
            <a:br/>
            <a:pPr>
              <a:spcAft>
                <a:spcPts val="600"/>
              </a:spcAft>
              <a:defRPr sz="1400" b="1">
                <a:solidFill>
                  <a:srgbClr val="228B8B"/>
                </a:solidFill>
                <a:latin typeface="Arial"/>
              </a:defRPr>
            </a:pPr>
            <a:r>
              <a:t>EVALUATION</a:t>
            </a:r>
          </a:p>
          <a:p>
            <a:pPr>
              <a:spcAft>
                <a:spcPts val="300"/>
              </a:spcAft>
              <a:defRPr sz="1050">
                <a:solidFill>
                  <a:srgbClr val="3C3C3C"/>
                </a:solidFill>
                <a:latin typeface="Arial"/>
              </a:defRPr>
            </a:pPr>
            <a:r>
              <a:t>No falls or injuries reported.</a:t>
            </a:r>
          </a:p>
        </p:txBody>
      </p:sp>
      <p:sp>
        <p:nvSpPr>
          <p:cNvPr id="6" name="Rectangle 5"/>
          <p:cNvSpPr/>
          <p:nvPr/>
        </p:nvSpPr>
        <p:spPr>
          <a:xfrm>
            <a:off x="7863840" y="1645920"/>
            <a:ext cx="3566160" cy="4480560"/>
          </a:xfrm>
          <a:prstGeom prst="rect">
            <a:avLst/>
          </a:prstGeom>
          <a:solidFill>
            <a:srgbClr val="FFFFFF"/>
          </a:solidFill>
          <a:ln>
            <a:solidFill>
              <a:srgbClr val="E6EB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spcAft>
                <a:spcPts val="600"/>
              </a:spcAft>
              <a:defRPr sz="1400" b="1">
                <a:solidFill>
                  <a:srgbClr val="162639"/>
                </a:solidFill>
                <a:latin typeface="Arial"/>
              </a:defRPr>
            </a:pPr>
            <a:r>
              <a:t>NURSING INTERVENTIONS</a:t>
            </a:r>
          </a:p>
          <a:p>
            <a:pPr>
              <a:spcAft>
                <a:spcPts val="300"/>
              </a:spcAft>
              <a:defRPr sz="1050">
                <a:solidFill>
                  <a:srgbClr val="3C3C3C"/>
                </a:solidFill>
                <a:latin typeface="Arial"/>
              </a:defRPr>
            </a:pPr>
            <a:r>
              <a:t>1. Assess fall risk regularly.</a:t>
            </a:r>
          </a:p>
          <a:p>
            <a:pPr>
              <a:spcAft>
                <a:spcPts val="300"/>
              </a:spcAft>
              <a:defRPr sz="1050">
                <a:solidFill>
                  <a:srgbClr val="3C3C3C"/>
                </a:solidFill>
                <a:latin typeface="Arial"/>
              </a:defRPr>
            </a:pPr>
            <a:r>
              <a:t>2. Maintain clutter-free environment.</a:t>
            </a:r>
          </a:p>
          <a:p>
            <a:pPr>
              <a:spcAft>
                <a:spcPts val="300"/>
              </a:spcAft>
              <a:defRPr sz="1050">
                <a:solidFill>
                  <a:srgbClr val="3C3C3C"/>
                </a:solidFill>
                <a:latin typeface="Arial"/>
              </a:defRPr>
            </a:pPr>
            <a:r>
              <a:t>3. Use side rails appropriately.</a:t>
            </a:r>
          </a:p>
          <a:p>
            <a:pPr>
              <a:spcAft>
                <a:spcPts val="300"/>
              </a:spcAft>
              <a:defRPr sz="1050">
                <a:solidFill>
                  <a:srgbClr val="3C3C3C"/>
                </a:solidFill>
                <a:latin typeface="Arial"/>
              </a:defRPr>
            </a:pPr>
            <a:r>
              <a:t>4. Encourage use of assistive devices.</a:t>
            </a:r>
          </a:p>
          <a:p>
            <a:pPr>
              <a:spcAft>
                <a:spcPts val="300"/>
              </a:spcAft>
              <a:defRPr sz="1050">
                <a:solidFill>
                  <a:srgbClr val="3C3C3C"/>
                </a:solidFill>
                <a:latin typeface="Arial"/>
              </a:defRPr>
            </a:pPr>
            <a:r>
              <a:t>5. Educate patient on fall-prevention measures.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228600"/>
            <a:ext cx="10698480" cy="365760"/>
          </a:xfrm>
          <a:prstGeom prst="rect">
            <a:avLst/>
          </a:prstGeom>
          <a:noFill/>
        </p:spPr>
        <p:txBody>
          <a:bodyPr wrap="square" tIns="0" bIns="0" lIns="0" rIns="0">
            <a:spAutoFit/>
          </a:bodyPr>
          <a:lstStyle/>
          <a:p>
            <a:pPr>
              <a:defRPr sz="1400" b="1">
                <a:solidFill>
                  <a:srgbClr val="228B8B"/>
                </a:solidFill>
                <a:latin typeface="Arial"/>
              </a:defRPr>
            </a:pPr>
            <a:r>
              <a:t>NURSING CARE PLAN</a:t>
            </a:r>
          </a:p>
        </p:txBody>
      </p:sp>
      <p:sp>
        <p:nvSpPr>
          <p:cNvPr id="3" name="TextBox 2"/>
          <p:cNvSpPr txBox="1"/>
          <p:nvPr/>
        </p:nvSpPr>
        <p:spPr>
          <a:xfrm>
            <a:off x="731520" y="548640"/>
            <a:ext cx="10698480" cy="914400"/>
          </a:xfrm>
          <a:prstGeom prst="rect">
            <a:avLst/>
          </a:prstGeom>
          <a:noFill/>
        </p:spPr>
        <p:txBody>
          <a:bodyPr wrap="square" tIns="0" bIns="0" lIns="0" rIns="0">
            <a:spAutoFit/>
          </a:bodyPr>
          <a:lstStyle/>
          <a:p>
            <a:pPr>
              <a:defRPr sz="4000" b="1">
                <a:solidFill>
                  <a:srgbClr val="162639"/>
                </a:solidFill>
                <a:latin typeface="Georgia"/>
              </a:defRPr>
            </a:pPr>
            <a:r>
              <a:t>Care Plan 4: Activity Intolerance</a:t>
            </a:r>
          </a:p>
        </p:txBody>
      </p:sp>
      <p:sp>
        <p:nvSpPr>
          <p:cNvPr id="4" name="Rectangle 3"/>
          <p:cNvSpPr/>
          <p:nvPr/>
        </p:nvSpPr>
        <p:spPr>
          <a:xfrm>
            <a:off x="731520" y="1645920"/>
            <a:ext cx="3383280" cy="4480560"/>
          </a:xfrm>
          <a:prstGeom prst="rect">
            <a:avLst/>
          </a:prstGeom>
          <a:solidFill>
            <a:srgbClr val="FFFFFF"/>
          </a:solidFill>
          <a:ln>
            <a:solidFill>
              <a:srgbClr val="E6EB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spcAft>
                <a:spcPts val="600"/>
              </a:spcAft>
              <a:defRPr sz="1400" b="1">
                <a:solidFill>
                  <a:srgbClr val="228B8B"/>
                </a:solidFill>
                <a:latin typeface="Arial"/>
              </a:defRPr>
            </a:pPr>
            <a:r>
              <a:t>ASSESSMENT</a:t>
            </a:r>
          </a:p>
          <a:p>
            <a:pPr>
              <a:spcAft>
                <a:spcPts val="300"/>
              </a:spcAft>
              <a:defRPr sz="1050">
                <a:solidFill>
                  <a:srgbClr val="3C3C3C"/>
                </a:solidFill>
                <a:latin typeface="Arial"/>
              </a:defRPr>
            </a:pPr>
            <a:r>
              <a:t>Subjective Data: Fatigue during activities.</a:t>
            </a:r>
          </a:p>
          <a:p>
            <a:pPr>
              <a:spcAft>
                <a:spcPts val="300"/>
              </a:spcAft>
              <a:defRPr sz="1050">
                <a:solidFill>
                  <a:srgbClr val="3C3C3C"/>
                </a:solidFill>
                <a:latin typeface="Arial"/>
              </a:defRPr>
            </a:pPr>
            <a:r>
              <a:t>Objective Data: Weakness, Reduced endurance</a:t>
            </a:r>
          </a:p>
          <a:p>
            <a:br/>
            <a:pPr>
              <a:spcAft>
                <a:spcPts val="600"/>
              </a:spcAft>
              <a:defRPr sz="1400" b="1">
                <a:solidFill>
                  <a:srgbClr val="C0392B"/>
                </a:solidFill>
                <a:latin typeface="Arial"/>
              </a:defRPr>
            </a:pPr>
            <a:r>
              <a:t>NURSING DIAGNOSIS</a:t>
            </a:r>
          </a:p>
          <a:p>
            <a:pPr>
              <a:defRPr sz="1050" b="1">
                <a:solidFill>
                  <a:srgbClr val="162639"/>
                </a:solidFill>
                <a:latin typeface="Arial"/>
              </a:defRPr>
            </a:pPr>
            <a:r>
              <a:t>Activity Intolerance related to musculoskeletal weakness and pain.</a:t>
            </a:r>
          </a:p>
        </p:txBody>
      </p:sp>
      <p:sp>
        <p:nvSpPr>
          <p:cNvPr id="5" name="Rectangle 4"/>
          <p:cNvSpPr/>
          <p:nvPr/>
        </p:nvSpPr>
        <p:spPr>
          <a:xfrm>
            <a:off x="4297680" y="1645920"/>
            <a:ext cx="3383280" cy="4480560"/>
          </a:xfrm>
          <a:prstGeom prst="rect">
            <a:avLst/>
          </a:prstGeom>
          <a:solidFill>
            <a:srgbClr val="FFFFFF"/>
          </a:solidFill>
          <a:ln>
            <a:solidFill>
              <a:srgbClr val="E6EB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spcAft>
                <a:spcPts val="600"/>
              </a:spcAft>
              <a:defRPr sz="1400" b="1">
                <a:solidFill>
                  <a:srgbClr val="228B8B"/>
                </a:solidFill>
                <a:latin typeface="Arial"/>
              </a:defRPr>
            </a:pPr>
            <a:r>
              <a:t>PLANNING &amp; GOALS</a:t>
            </a:r>
          </a:p>
          <a:p>
            <a:pPr>
              <a:spcAft>
                <a:spcPts val="300"/>
              </a:spcAft>
              <a:defRPr sz="1050">
                <a:solidFill>
                  <a:srgbClr val="3C3C3C"/>
                </a:solidFill>
                <a:latin typeface="Arial"/>
              </a:defRPr>
            </a:pPr>
            <a:r>
              <a:t>Patient will perform activities without excessive fatigue.</a:t>
            </a:r>
          </a:p>
          <a:p>
            <a:br/>
            <a:pPr>
              <a:spcAft>
                <a:spcPts val="600"/>
              </a:spcAft>
              <a:defRPr sz="1400" b="1">
                <a:solidFill>
                  <a:srgbClr val="228B8B"/>
                </a:solidFill>
                <a:latin typeface="Arial"/>
              </a:defRPr>
            </a:pPr>
            <a:r>
              <a:t>EVALUATION</a:t>
            </a:r>
          </a:p>
          <a:p>
            <a:pPr>
              <a:spcAft>
                <a:spcPts val="300"/>
              </a:spcAft>
              <a:defRPr sz="1050">
                <a:solidFill>
                  <a:srgbClr val="3C3C3C"/>
                </a:solidFill>
                <a:latin typeface="Arial"/>
              </a:defRPr>
            </a:pPr>
            <a:r>
              <a:t>Patient performs activities with improved tolerance.</a:t>
            </a:r>
          </a:p>
        </p:txBody>
      </p:sp>
      <p:sp>
        <p:nvSpPr>
          <p:cNvPr id="6" name="Rectangle 5"/>
          <p:cNvSpPr/>
          <p:nvPr/>
        </p:nvSpPr>
        <p:spPr>
          <a:xfrm>
            <a:off x="7863840" y="1645920"/>
            <a:ext cx="3566160" cy="4480560"/>
          </a:xfrm>
          <a:prstGeom prst="rect">
            <a:avLst/>
          </a:prstGeom>
          <a:solidFill>
            <a:srgbClr val="FFFFFF"/>
          </a:solidFill>
          <a:ln>
            <a:solidFill>
              <a:srgbClr val="E6EB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spcAft>
                <a:spcPts val="600"/>
              </a:spcAft>
              <a:defRPr sz="1400" b="1">
                <a:solidFill>
                  <a:srgbClr val="162639"/>
                </a:solidFill>
                <a:latin typeface="Arial"/>
              </a:defRPr>
            </a:pPr>
            <a:r>
              <a:t>NURSING INTERVENTIONS</a:t>
            </a:r>
          </a:p>
          <a:p>
            <a:pPr>
              <a:spcAft>
                <a:spcPts val="300"/>
              </a:spcAft>
              <a:defRPr sz="1050">
                <a:solidFill>
                  <a:srgbClr val="3C3C3C"/>
                </a:solidFill>
                <a:latin typeface="Arial"/>
              </a:defRPr>
            </a:pPr>
            <a:r>
              <a:t>1. Assess response to activity.</a:t>
            </a:r>
          </a:p>
          <a:p>
            <a:pPr>
              <a:spcAft>
                <a:spcPts val="300"/>
              </a:spcAft>
              <a:defRPr sz="1050">
                <a:solidFill>
                  <a:srgbClr val="3C3C3C"/>
                </a:solidFill>
                <a:latin typeface="Arial"/>
              </a:defRPr>
            </a:pPr>
            <a:r>
              <a:t>2. Schedule rest periods.</a:t>
            </a:r>
          </a:p>
          <a:p>
            <a:pPr>
              <a:spcAft>
                <a:spcPts val="300"/>
              </a:spcAft>
              <a:defRPr sz="1050">
                <a:solidFill>
                  <a:srgbClr val="3C3C3C"/>
                </a:solidFill>
                <a:latin typeface="Arial"/>
              </a:defRPr>
            </a:pPr>
            <a:r>
              <a:t>3. Gradually increase activity level.</a:t>
            </a:r>
          </a:p>
          <a:p>
            <a:pPr>
              <a:spcAft>
                <a:spcPts val="300"/>
              </a:spcAft>
              <a:defRPr sz="1050">
                <a:solidFill>
                  <a:srgbClr val="3C3C3C"/>
                </a:solidFill>
                <a:latin typeface="Arial"/>
              </a:defRPr>
            </a:pPr>
            <a:r>
              <a:t>4. Assist with ADLs as necessary.</a:t>
            </a:r>
          </a:p>
          <a:p>
            <a:pPr>
              <a:spcAft>
                <a:spcPts val="300"/>
              </a:spcAft>
              <a:defRPr sz="1050">
                <a:solidFill>
                  <a:srgbClr val="3C3C3C"/>
                </a:solidFill>
                <a:latin typeface="Arial"/>
              </a:defRPr>
            </a:pPr>
            <a:r>
              <a:t>5. Encourage balanced nutrition.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228600"/>
            <a:ext cx="10698480" cy="365760"/>
          </a:xfrm>
          <a:prstGeom prst="rect">
            <a:avLst/>
          </a:prstGeom>
          <a:noFill/>
        </p:spPr>
        <p:txBody>
          <a:bodyPr wrap="square" tIns="0" bIns="0" lIns="0" rIns="0">
            <a:spAutoFit/>
          </a:bodyPr>
          <a:lstStyle/>
          <a:p>
            <a:pPr>
              <a:defRPr sz="1400" b="1">
                <a:solidFill>
                  <a:srgbClr val="228B8B"/>
                </a:solidFill>
                <a:latin typeface="Arial"/>
              </a:defRPr>
            </a:pPr>
            <a:r>
              <a:t>NURSING CARE PLAN</a:t>
            </a:r>
          </a:p>
        </p:txBody>
      </p:sp>
      <p:sp>
        <p:nvSpPr>
          <p:cNvPr id="3" name="TextBox 2"/>
          <p:cNvSpPr txBox="1"/>
          <p:nvPr/>
        </p:nvSpPr>
        <p:spPr>
          <a:xfrm>
            <a:off x="731520" y="548640"/>
            <a:ext cx="10698480" cy="914400"/>
          </a:xfrm>
          <a:prstGeom prst="rect">
            <a:avLst/>
          </a:prstGeom>
          <a:noFill/>
        </p:spPr>
        <p:txBody>
          <a:bodyPr wrap="square" tIns="0" bIns="0" lIns="0" rIns="0">
            <a:spAutoFit/>
          </a:bodyPr>
          <a:lstStyle/>
          <a:p>
            <a:pPr>
              <a:defRPr sz="4000" b="1">
                <a:solidFill>
                  <a:srgbClr val="162639"/>
                </a:solidFill>
                <a:latin typeface="Georgia"/>
              </a:defRPr>
            </a:pPr>
            <a:r>
              <a:t>Care Plan 5: Deficient Knowledge</a:t>
            </a:r>
          </a:p>
        </p:txBody>
      </p:sp>
      <p:sp>
        <p:nvSpPr>
          <p:cNvPr id="4" name="Rectangle 3"/>
          <p:cNvSpPr/>
          <p:nvPr/>
        </p:nvSpPr>
        <p:spPr>
          <a:xfrm>
            <a:off x="731520" y="1645920"/>
            <a:ext cx="3383280" cy="4480560"/>
          </a:xfrm>
          <a:prstGeom prst="rect">
            <a:avLst/>
          </a:prstGeom>
          <a:solidFill>
            <a:srgbClr val="FFFFFF"/>
          </a:solidFill>
          <a:ln>
            <a:solidFill>
              <a:srgbClr val="E6EB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spcAft>
                <a:spcPts val="600"/>
              </a:spcAft>
              <a:defRPr sz="1400" b="1">
                <a:solidFill>
                  <a:srgbClr val="228B8B"/>
                </a:solidFill>
                <a:latin typeface="Arial"/>
              </a:defRPr>
            </a:pPr>
            <a:r>
              <a:t>ASSESSMENT</a:t>
            </a:r>
          </a:p>
          <a:p>
            <a:pPr>
              <a:spcAft>
                <a:spcPts val="300"/>
              </a:spcAft>
              <a:defRPr sz="1050">
                <a:solidFill>
                  <a:srgbClr val="3C3C3C"/>
                </a:solidFill>
                <a:latin typeface="Arial"/>
              </a:defRPr>
            </a:pPr>
            <a:r>
              <a:t>Subjective/Objective: Asks questions about disease and treatment.</a:t>
            </a:r>
          </a:p>
          <a:p>
            <a:br/>
            <a:pPr>
              <a:spcAft>
                <a:spcPts val="600"/>
              </a:spcAft>
              <a:defRPr sz="1400" b="1">
                <a:solidFill>
                  <a:srgbClr val="C0392B"/>
                </a:solidFill>
                <a:latin typeface="Arial"/>
              </a:defRPr>
            </a:pPr>
            <a:r>
              <a:t>NURSING DIAGNOSIS</a:t>
            </a:r>
          </a:p>
          <a:p>
            <a:pPr>
              <a:defRPr sz="1050" b="1">
                <a:solidFill>
                  <a:srgbClr val="162639"/>
                </a:solidFill>
                <a:latin typeface="Arial"/>
              </a:defRPr>
            </a:pPr>
            <a:r>
              <a:t>Deficient Knowledge related to lack of information about metabolic bone disorder and its management.</a:t>
            </a:r>
          </a:p>
        </p:txBody>
      </p:sp>
      <p:sp>
        <p:nvSpPr>
          <p:cNvPr id="5" name="Rectangle 4"/>
          <p:cNvSpPr/>
          <p:nvPr/>
        </p:nvSpPr>
        <p:spPr>
          <a:xfrm>
            <a:off x="4297680" y="1645920"/>
            <a:ext cx="3383280" cy="4480560"/>
          </a:xfrm>
          <a:prstGeom prst="rect">
            <a:avLst/>
          </a:prstGeom>
          <a:solidFill>
            <a:srgbClr val="FFFFFF"/>
          </a:solidFill>
          <a:ln>
            <a:solidFill>
              <a:srgbClr val="E6EB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spcAft>
                <a:spcPts val="600"/>
              </a:spcAft>
              <a:defRPr sz="1400" b="1">
                <a:solidFill>
                  <a:srgbClr val="228B8B"/>
                </a:solidFill>
                <a:latin typeface="Arial"/>
              </a:defRPr>
            </a:pPr>
            <a:r>
              <a:t>PLANNING &amp; GOALS</a:t>
            </a:r>
          </a:p>
          <a:p>
            <a:pPr>
              <a:spcAft>
                <a:spcPts val="300"/>
              </a:spcAft>
              <a:defRPr sz="1050">
                <a:solidFill>
                  <a:srgbClr val="3C3C3C"/>
                </a:solidFill>
                <a:latin typeface="Arial"/>
              </a:defRPr>
            </a:pPr>
            <a:r>
              <a:t>Patient will verbalize understanding of disease, treatment, diet, and prevention measures.</a:t>
            </a:r>
          </a:p>
          <a:p>
            <a:br/>
            <a:pPr>
              <a:spcAft>
                <a:spcPts val="600"/>
              </a:spcAft>
              <a:defRPr sz="1400" b="1">
                <a:solidFill>
                  <a:srgbClr val="228B8B"/>
                </a:solidFill>
                <a:latin typeface="Arial"/>
              </a:defRPr>
            </a:pPr>
            <a:r>
              <a:t>EVALUATION</a:t>
            </a:r>
          </a:p>
          <a:p>
            <a:pPr>
              <a:spcAft>
                <a:spcPts val="300"/>
              </a:spcAft>
              <a:defRPr sz="1050">
                <a:solidFill>
                  <a:srgbClr val="3C3C3C"/>
                </a:solidFill>
                <a:latin typeface="Arial"/>
              </a:defRPr>
            </a:pPr>
            <a:r>
              <a:t>Patient correctly explains disease management and preventive measures.</a:t>
            </a:r>
          </a:p>
        </p:txBody>
      </p:sp>
      <p:sp>
        <p:nvSpPr>
          <p:cNvPr id="6" name="Rectangle 5"/>
          <p:cNvSpPr/>
          <p:nvPr/>
        </p:nvSpPr>
        <p:spPr>
          <a:xfrm>
            <a:off x="7863840" y="1645920"/>
            <a:ext cx="3566160" cy="4480560"/>
          </a:xfrm>
          <a:prstGeom prst="rect">
            <a:avLst/>
          </a:prstGeom>
          <a:solidFill>
            <a:srgbClr val="FFFFFF"/>
          </a:solidFill>
          <a:ln>
            <a:solidFill>
              <a:srgbClr val="E6EB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spcAft>
                <a:spcPts val="600"/>
              </a:spcAft>
              <a:defRPr sz="1400" b="1">
                <a:solidFill>
                  <a:srgbClr val="162639"/>
                </a:solidFill>
                <a:latin typeface="Arial"/>
              </a:defRPr>
            </a:pPr>
            <a:r>
              <a:t>NURSING INTERVENTIONS</a:t>
            </a:r>
          </a:p>
          <a:p>
            <a:pPr>
              <a:spcAft>
                <a:spcPts val="300"/>
              </a:spcAft>
              <a:defRPr sz="1050">
                <a:solidFill>
                  <a:srgbClr val="3C3C3C"/>
                </a:solidFill>
                <a:latin typeface="Arial"/>
              </a:defRPr>
            </a:pPr>
            <a:r>
              <a:t>1. Assess current knowledge level.</a:t>
            </a:r>
          </a:p>
          <a:p>
            <a:pPr>
              <a:spcAft>
                <a:spcPts val="300"/>
              </a:spcAft>
              <a:defRPr sz="1050">
                <a:solidFill>
                  <a:srgbClr val="3C3C3C"/>
                </a:solidFill>
                <a:latin typeface="Arial"/>
              </a:defRPr>
            </a:pPr>
            <a:r>
              <a:t>2. Explain disease process in simple language.</a:t>
            </a:r>
          </a:p>
          <a:p>
            <a:pPr>
              <a:spcAft>
                <a:spcPts val="300"/>
              </a:spcAft>
              <a:defRPr sz="1050">
                <a:solidFill>
                  <a:srgbClr val="3C3C3C"/>
                </a:solidFill>
                <a:latin typeface="Arial"/>
              </a:defRPr>
            </a:pPr>
            <a:r>
              <a:t>3. Teach importance of calcium and vitamin D intake.</a:t>
            </a:r>
          </a:p>
          <a:p>
            <a:pPr>
              <a:spcAft>
                <a:spcPts val="300"/>
              </a:spcAft>
              <a:defRPr sz="1050">
                <a:solidFill>
                  <a:srgbClr val="3C3C3C"/>
                </a:solidFill>
                <a:latin typeface="Arial"/>
              </a:defRPr>
            </a:pPr>
            <a:r>
              <a:t>4. Instruct on medication adherence.</a:t>
            </a:r>
          </a:p>
          <a:p>
            <a:pPr>
              <a:spcAft>
                <a:spcPts val="300"/>
              </a:spcAft>
              <a:defRPr sz="1050">
                <a:solidFill>
                  <a:srgbClr val="3C3C3C"/>
                </a:solidFill>
                <a:latin typeface="Arial"/>
              </a:defRPr>
            </a:pPr>
            <a:r>
              <a:t>5. Educate regarding exercise and fall prevention.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228600"/>
            <a:ext cx="10698480" cy="365760"/>
          </a:xfrm>
          <a:prstGeom prst="rect">
            <a:avLst/>
          </a:prstGeom>
          <a:noFill/>
        </p:spPr>
        <p:txBody>
          <a:bodyPr wrap="square" tIns="0" bIns="0" lIns="0" rIns="0">
            <a:spAutoFit/>
          </a:bodyPr>
          <a:lstStyle/>
          <a:p>
            <a:pPr>
              <a:defRPr sz="1400" b="1">
                <a:solidFill>
                  <a:srgbClr val="228B8B"/>
                </a:solidFill>
                <a:latin typeface="Arial"/>
              </a:defRPr>
            </a:pPr>
            <a:r>
              <a:t>HEALTH EDUCATION</a:t>
            </a:r>
          </a:p>
        </p:txBody>
      </p:sp>
      <p:sp>
        <p:nvSpPr>
          <p:cNvPr id="3" name="TextBox 2"/>
          <p:cNvSpPr txBox="1"/>
          <p:nvPr/>
        </p:nvSpPr>
        <p:spPr>
          <a:xfrm>
            <a:off x="731520" y="548640"/>
            <a:ext cx="10698480" cy="914400"/>
          </a:xfrm>
          <a:prstGeom prst="rect">
            <a:avLst/>
          </a:prstGeom>
          <a:noFill/>
        </p:spPr>
        <p:txBody>
          <a:bodyPr wrap="square" tIns="0" bIns="0" lIns="0" rIns="0">
            <a:spAutoFit/>
          </a:bodyPr>
          <a:lstStyle/>
          <a:p>
            <a:pPr>
              <a:defRPr sz="4000" b="1">
                <a:solidFill>
                  <a:srgbClr val="162639"/>
                </a:solidFill>
                <a:latin typeface="Georgia"/>
              </a:defRPr>
            </a:pPr>
            <a:r>
              <a:t>Nutrition, Sunlight &amp; Exercise</a:t>
            </a:r>
          </a:p>
        </p:txBody>
      </p:sp>
      <p:sp>
        <p:nvSpPr>
          <p:cNvPr id="4" name="TextBox 3"/>
          <p:cNvSpPr txBox="1"/>
          <p:nvPr/>
        </p:nvSpPr>
        <p:spPr>
          <a:xfrm>
            <a:off x="731520" y="1645920"/>
            <a:ext cx="5486400" cy="4572000"/>
          </a:xfrm>
          <a:prstGeom prst="rect">
            <a:avLst/>
          </a:prstGeom>
          <a:noFill/>
        </p:spPr>
        <p:txBody>
          <a:bodyPr wrap="square" lIns="0" rIns="0" tIns="0" bIns="0">
            <a:spAutoFit/>
          </a:bodyPr>
          <a:lstStyle/>
          <a:p>
            <a:pPr>
              <a:spcAft>
                <a:spcPts val="400"/>
              </a:spcAft>
              <a:defRPr sz="2000" b="1">
                <a:solidFill>
                  <a:srgbClr val="162639"/>
                </a:solidFill>
                <a:latin typeface="Arial"/>
              </a:defRPr>
            </a:pPr>
            <a:r>
              <a:t>1. Nutrition:</a:t>
            </a:r>
          </a:p>
          <a:p>
            <a:pPr lvl="1">
              <a:spcAft>
                <a:spcPts val="400"/>
              </a:spcAft>
              <a:defRPr sz="1600">
                <a:solidFill>
                  <a:srgbClr val="3C3C3C"/>
                </a:solidFill>
                <a:latin typeface="Arial"/>
              </a:defRPr>
            </a:pPr>
            <a:r>
              <a:t>- Consume a balanced diet rich in calcium and vitamin D.</a:t>
            </a:r>
          </a:p>
          <a:p>
            <a:pPr lvl="1">
              <a:spcAft>
                <a:spcPts val="400"/>
              </a:spcAft>
              <a:defRPr sz="1600">
                <a:solidFill>
                  <a:srgbClr val="3C3C3C"/>
                </a:solidFill>
                <a:latin typeface="Arial"/>
              </a:defRPr>
            </a:pPr>
            <a:r>
              <a:t>- Include milk, curd, cheese, green leafy vegetables, fish, eggs, and fortified foods.</a:t>
            </a:r>
          </a:p>
          <a:p>
            <a:pPr lvl="1">
              <a:spcAft>
                <a:spcPts val="400"/>
              </a:spcAft>
              <a:defRPr sz="1600">
                <a:solidFill>
                  <a:srgbClr val="3C3C3C"/>
                </a:solidFill>
                <a:latin typeface="Arial"/>
              </a:defRPr>
            </a:pPr>
            <a:r>
              <a:t>- Maintain adequate protein intake for bone health.</a:t>
            </a:r>
          </a:p>
          <a:p>
            <a:pPr lvl="1">
              <a:spcAft>
                <a:spcPts val="400"/>
              </a:spcAft>
              <a:defRPr sz="1600">
                <a:solidFill>
                  <a:srgbClr val="3C3C3C"/>
                </a:solidFill>
                <a:latin typeface="Arial"/>
              </a:defRPr>
            </a:pPr>
            <a:r>
              <a:t>- Avoid excessive salt, caffeine, and carbonated drinks.</a:t>
            </a:r>
          </a:p>
          <a:p>
            <a:pPr>
              <a:spcAft>
                <a:spcPts val="400"/>
              </a:spcAft>
              <a:defRPr sz="2000" b="1">
                <a:solidFill>
                  <a:srgbClr val="C0392B"/>
                </a:solidFill>
                <a:latin typeface="Arial"/>
              </a:defRPr>
            </a:pPr>
            <a:r>
              <a:t>2. Sunlight Exposure:</a:t>
            </a:r>
          </a:p>
          <a:p>
            <a:pPr lvl="1">
              <a:spcAft>
                <a:spcPts val="400"/>
              </a:spcAft>
              <a:defRPr sz="1600">
                <a:solidFill>
                  <a:srgbClr val="3C3C3C"/>
                </a:solidFill>
                <a:latin typeface="Arial"/>
              </a:defRPr>
            </a:pPr>
            <a:r>
              <a:t>- Take regular sunlight exposure for 15–30 minutes daily, preferably in the morning.</a:t>
            </a:r>
          </a:p>
          <a:p>
            <a:pPr lvl="1">
              <a:spcAft>
                <a:spcPts val="400"/>
              </a:spcAft>
              <a:defRPr sz="1600">
                <a:solidFill>
                  <a:srgbClr val="3C3C3C"/>
                </a:solidFill>
                <a:latin typeface="Arial"/>
              </a:defRPr>
            </a:pPr>
            <a:r>
              <a:t>- Sunlight helps the body produce vitamin D, which is essential for calcium absorption.</a:t>
            </a:r>
          </a:p>
          <a:p>
            <a:pPr>
              <a:spcAft>
                <a:spcPts val="400"/>
              </a:spcAft>
              <a:defRPr sz="2000" b="1">
                <a:solidFill>
                  <a:srgbClr val="162639"/>
                </a:solidFill>
                <a:latin typeface="Arial"/>
              </a:defRPr>
            </a:pPr>
            <a:r>
              <a:t>3. Exercise and Physical Activity:</a:t>
            </a:r>
          </a:p>
          <a:p>
            <a:pPr lvl="1">
              <a:spcAft>
                <a:spcPts val="400"/>
              </a:spcAft>
              <a:defRPr sz="1600">
                <a:solidFill>
                  <a:srgbClr val="3C3C3C"/>
                </a:solidFill>
                <a:latin typeface="Arial"/>
              </a:defRPr>
            </a:pPr>
            <a:r>
              <a:t>- Perform regular weight-bearing exercises such as walking, jogging, and stair climbing.</a:t>
            </a:r>
          </a:p>
          <a:p>
            <a:pPr lvl="1">
              <a:spcAft>
                <a:spcPts val="400"/>
              </a:spcAft>
              <a:defRPr sz="1600">
                <a:solidFill>
                  <a:srgbClr val="3C3C3C"/>
                </a:solidFill>
                <a:latin typeface="Arial"/>
              </a:defRPr>
            </a:pPr>
            <a:r>
              <a:t>- Engage in muscle-strengthening exercises as advised by a healthcare provider.</a:t>
            </a:r>
          </a:p>
          <a:p>
            <a:pPr lvl="1">
              <a:spcAft>
                <a:spcPts val="400"/>
              </a:spcAft>
              <a:defRPr sz="1600">
                <a:solidFill>
                  <a:srgbClr val="3C3C3C"/>
                </a:solidFill>
                <a:latin typeface="Arial"/>
              </a:defRPr>
            </a:pPr>
            <a:r>
              <a:t>- Avoid prolonged bed rest and inactivity.</a:t>
            </a:r>
          </a:p>
        </p:txBody>
      </p:sp>
      <p:pic>
        <p:nvPicPr>
          <p:cNvPr id="5" name="Picture 4" descr="nursing_care_icon.png"/>
          <p:cNvPicPr>
            <a:picLocks noChangeAspect="1"/>
          </p:cNvPicPr>
          <p:nvPr/>
        </p:nvPicPr>
        <p:blipFill>
          <a:blip r:embed="rId2"/>
          <a:stretch>
            <a:fillRect/>
          </a:stretch>
        </p:blipFill>
        <p:spPr>
          <a:xfrm>
            <a:off x="6492240" y="1645920"/>
            <a:ext cx="4937760" cy="448056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228600"/>
            <a:ext cx="10698480" cy="365760"/>
          </a:xfrm>
          <a:prstGeom prst="rect">
            <a:avLst/>
          </a:prstGeom>
          <a:noFill/>
        </p:spPr>
        <p:txBody>
          <a:bodyPr wrap="square" tIns="0" bIns="0" lIns="0" rIns="0">
            <a:spAutoFit/>
          </a:bodyPr>
          <a:lstStyle/>
          <a:p>
            <a:pPr>
              <a:defRPr sz="1400" b="1">
                <a:solidFill>
                  <a:srgbClr val="228B8B"/>
                </a:solidFill>
                <a:latin typeface="Arial"/>
              </a:defRPr>
            </a:pPr>
            <a:r>
              <a:t>HEALTH EDUCATION</a:t>
            </a:r>
          </a:p>
        </p:txBody>
      </p:sp>
      <p:sp>
        <p:nvSpPr>
          <p:cNvPr id="3" name="TextBox 2"/>
          <p:cNvSpPr txBox="1"/>
          <p:nvPr/>
        </p:nvSpPr>
        <p:spPr>
          <a:xfrm>
            <a:off x="731520" y="548640"/>
            <a:ext cx="10698480" cy="914400"/>
          </a:xfrm>
          <a:prstGeom prst="rect">
            <a:avLst/>
          </a:prstGeom>
          <a:noFill/>
        </p:spPr>
        <p:txBody>
          <a:bodyPr wrap="square" tIns="0" bIns="0" lIns="0" rIns="0">
            <a:spAutoFit/>
          </a:bodyPr>
          <a:lstStyle/>
          <a:p>
            <a:pPr>
              <a:defRPr sz="4000" b="1">
                <a:solidFill>
                  <a:srgbClr val="162639"/>
                </a:solidFill>
                <a:latin typeface="Georgia"/>
              </a:defRPr>
            </a:pPr>
            <a:r>
              <a:t>Medications, Falls &amp; Lifestyle</a:t>
            </a:r>
          </a:p>
        </p:txBody>
      </p:sp>
      <p:sp>
        <p:nvSpPr>
          <p:cNvPr id="4" name="TextBox 3"/>
          <p:cNvSpPr txBox="1"/>
          <p:nvPr/>
        </p:nvSpPr>
        <p:spPr>
          <a:xfrm>
            <a:off x="731520" y="1645920"/>
            <a:ext cx="5486400" cy="4572000"/>
          </a:xfrm>
          <a:prstGeom prst="rect">
            <a:avLst/>
          </a:prstGeom>
          <a:noFill/>
        </p:spPr>
        <p:txBody>
          <a:bodyPr wrap="square" lIns="0" rIns="0" tIns="0" bIns="0">
            <a:spAutoFit/>
          </a:bodyPr>
          <a:lstStyle/>
          <a:p>
            <a:pPr>
              <a:spcAft>
                <a:spcPts val="400"/>
              </a:spcAft>
              <a:defRPr sz="2000" b="1">
                <a:solidFill>
                  <a:srgbClr val="162639"/>
                </a:solidFill>
                <a:latin typeface="Arial"/>
              </a:defRPr>
            </a:pPr>
            <a:r>
              <a:t>4. Medication Adherence:</a:t>
            </a:r>
          </a:p>
          <a:p>
            <a:pPr lvl="1">
              <a:spcAft>
                <a:spcPts val="400"/>
              </a:spcAft>
              <a:defRPr sz="1600">
                <a:solidFill>
                  <a:srgbClr val="3C3C3C"/>
                </a:solidFill>
                <a:latin typeface="Arial"/>
              </a:defRPr>
            </a:pPr>
            <a:r>
              <a:t>- Take prescribed calcium, vitamin D supplements, and other medications regularly.</a:t>
            </a:r>
          </a:p>
          <a:p>
            <a:pPr lvl="1">
              <a:spcAft>
                <a:spcPts val="400"/>
              </a:spcAft>
              <a:defRPr sz="1600">
                <a:solidFill>
                  <a:srgbClr val="3C3C3C"/>
                </a:solidFill>
                <a:latin typeface="Arial"/>
              </a:defRPr>
            </a:pPr>
            <a:r>
              <a:t>- Do not stop medications without consulting a doctor.</a:t>
            </a:r>
          </a:p>
          <a:p>
            <a:pPr lvl="1">
              <a:spcAft>
                <a:spcPts val="400"/>
              </a:spcAft>
              <a:defRPr sz="1600">
                <a:solidFill>
                  <a:srgbClr val="3C3C3C"/>
                </a:solidFill>
                <a:latin typeface="Arial"/>
              </a:defRPr>
            </a:pPr>
            <a:r>
              <a:t>- Attend regular follow-up appointments.</a:t>
            </a:r>
          </a:p>
          <a:p>
            <a:pPr>
              <a:spcAft>
                <a:spcPts val="400"/>
              </a:spcAft>
              <a:defRPr sz="2000" b="1">
                <a:solidFill>
                  <a:srgbClr val="C0392B"/>
                </a:solidFill>
                <a:latin typeface="Arial"/>
              </a:defRPr>
            </a:pPr>
            <a:r>
              <a:t>5. Fall Prevention:</a:t>
            </a:r>
          </a:p>
          <a:p>
            <a:pPr lvl="1">
              <a:spcAft>
                <a:spcPts val="400"/>
              </a:spcAft>
              <a:defRPr sz="1600">
                <a:solidFill>
                  <a:srgbClr val="3C3C3C"/>
                </a:solidFill>
                <a:latin typeface="Arial"/>
              </a:defRPr>
            </a:pPr>
            <a:r>
              <a:t>- Keep floors dry and free of obstacles.</a:t>
            </a:r>
          </a:p>
          <a:p>
            <a:pPr lvl="1">
              <a:spcAft>
                <a:spcPts val="400"/>
              </a:spcAft>
              <a:defRPr sz="1600">
                <a:solidFill>
                  <a:srgbClr val="3C3C3C"/>
                </a:solidFill>
                <a:latin typeface="Arial"/>
              </a:defRPr>
            </a:pPr>
            <a:r>
              <a:t>- Use proper footwear with non-slip soles.</a:t>
            </a:r>
          </a:p>
          <a:p>
            <a:pPr lvl="1">
              <a:spcAft>
                <a:spcPts val="400"/>
              </a:spcAft>
              <a:defRPr sz="1600">
                <a:solidFill>
                  <a:srgbClr val="3C3C3C"/>
                </a:solidFill>
                <a:latin typeface="Arial"/>
              </a:defRPr>
            </a:pPr>
            <a:r>
              <a:t>- Install handrails in bathrooms and stairways if needed.</a:t>
            </a:r>
          </a:p>
          <a:p>
            <a:pPr lvl="1">
              <a:spcAft>
                <a:spcPts val="400"/>
              </a:spcAft>
              <a:defRPr sz="1600">
                <a:solidFill>
                  <a:srgbClr val="3C3C3C"/>
                </a:solidFill>
                <a:latin typeface="Arial"/>
              </a:defRPr>
            </a:pPr>
            <a:r>
              <a:t>- Use walking aids when recommended.</a:t>
            </a:r>
          </a:p>
          <a:p>
            <a:pPr>
              <a:spcAft>
                <a:spcPts val="400"/>
              </a:spcAft>
              <a:defRPr sz="2000" b="1">
                <a:solidFill>
                  <a:srgbClr val="162639"/>
                </a:solidFill>
                <a:latin typeface="Arial"/>
              </a:defRPr>
            </a:pPr>
            <a:r>
              <a:t>6. Lifestyle Modification:</a:t>
            </a:r>
          </a:p>
          <a:p>
            <a:pPr lvl="1">
              <a:spcAft>
                <a:spcPts val="400"/>
              </a:spcAft>
              <a:defRPr sz="1600">
                <a:solidFill>
                  <a:srgbClr val="3C3C3C"/>
                </a:solidFill>
                <a:latin typeface="Arial"/>
              </a:defRPr>
            </a:pPr>
            <a:r>
              <a:t>- Avoid smoking and tobacco use.</a:t>
            </a:r>
          </a:p>
          <a:p>
            <a:pPr lvl="1">
              <a:spcAft>
                <a:spcPts val="400"/>
              </a:spcAft>
              <a:defRPr sz="1600">
                <a:solidFill>
                  <a:srgbClr val="3C3C3C"/>
                </a:solidFill>
                <a:latin typeface="Arial"/>
              </a:defRPr>
            </a:pPr>
            <a:r>
              <a:t>- Limit alcohol consumption.</a:t>
            </a:r>
          </a:p>
          <a:p>
            <a:pPr lvl="1">
              <a:spcAft>
                <a:spcPts val="400"/>
              </a:spcAft>
              <a:defRPr sz="1600">
                <a:solidFill>
                  <a:srgbClr val="3C3C3C"/>
                </a:solidFill>
                <a:latin typeface="Arial"/>
              </a:defRPr>
            </a:pPr>
            <a:r>
              <a:t>- Maintain a healthy body weight.</a:t>
            </a:r>
          </a:p>
        </p:txBody>
      </p:sp>
      <p:pic>
        <p:nvPicPr>
          <p:cNvPr id="5" name="Picture 4" descr="nursing_care_icon.png"/>
          <p:cNvPicPr>
            <a:picLocks noChangeAspect="1"/>
          </p:cNvPicPr>
          <p:nvPr/>
        </p:nvPicPr>
        <p:blipFill>
          <a:blip r:embed="rId2"/>
          <a:stretch>
            <a:fillRect/>
          </a:stretch>
        </p:blipFill>
        <p:spPr>
          <a:xfrm>
            <a:off x="6492240" y="1645920"/>
            <a:ext cx="4937760" cy="448056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228600"/>
            <a:ext cx="10698480" cy="365760"/>
          </a:xfrm>
          <a:prstGeom prst="rect">
            <a:avLst/>
          </a:prstGeom>
          <a:noFill/>
        </p:spPr>
        <p:txBody>
          <a:bodyPr wrap="square" tIns="0" bIns="0" lIns="0" rIns="0">
            <a:spAutoFit/>
          </a:bodyPr>
          <a:lstStyle/>
          <a:p>
            <a:pPr>
              <a:defRPr sz="1400" b="1">
                <a:solidFill>
                  <a:srgbClr val="228B8B"/>
                </a:solidFill>
                <a:latin typeface="Arial"/>
              </a:defRPr>
            </a:pPr>
            <a:r>
              <a:t>HEALTH EDUCATION</a:t>
            </a:r>
          </a:p>
        </p:txBody>
      </p:sp>
      <p:sp>
        <p:nvSpPr>
          <p:cNvPr id="3" name="TextBox 2"/>
          <p:cNvSpPr txBox="1"/>
          <p:nvPr/>
        </p:nvSpPr>
        <p:spPr>
          <a:xfrm>
            <a:off x="731520" y="548640"/>
            <a:ext cx="10698480" cy="914400"/>
          </a:xfrm>
          <a:prstGeom prst="rect">
            <a:avLst/>
          </a:prstGeom>
          <a:noFill/>
        </p:spPr>
        <p:txBody>
          <a:bodyPr wrap="square" tIns="0" bIns="0" lIns="0" rIns="0">
            <a:spAutoFit/>
          </a:bodyPr>
          <a:lstStyle/>
          <a:p>
            <a:pPr>
              <a:defRPr sz="4000" b="1">
                <a:solidFill>
                  <a:srgbClr val="162639"/>
                </a:solidFill>
                <a:latin typeface="Georgia"/>
              </a:defRPr>
            </a:pPr>
            <a:r>
              <a:t>Monitoring &amp; Family Education</a:t>
            </a:r>
          </a:p>
        </p:txBody>
      </p:sp>
      <p:sp>
        <p:nvSpPr>
          <p:cNvPr id="4" name="TextBox 3"/>
          <p:cNvSpPr txBox="1"/>
          <p:nvPr/>
        </p:nvSpPr>
        <p:spPr>
          <a:xfrm>
            <a:off x="731520" y="1645920"/>
            <a:ext cx="5486400" cy="4572000"/>
          </a:xfrm>
          <a:prstGeom prst="rect">
            <a:avLst/>
          </a:prstGeom>
          <a:noFill/>
        </p:spPr>
        <p:txBody>
          <a:bodyPr wrap="square" lIns="0" rIns="0" tIns="0" bIns="0">
            <a:spAutoFit/>
          </a:bodyPr>
          <a:lstStyle/>
          <a:p>
            <a:pPr>
              <a:spcAft>
                <a:spcPts val="400"/>
              </a:spcAft>
              <a:defRPr sz="2000" b="1">
                <a:solidFill>
                  <a:srgbClr val="162639"/>
                </a:solidFill>
                <a:latin typeface="Arial"/>
              </a:defRPr>
            </a:pPr>
            <a:r>
              <a:t>7. Monitoring and Follow-up:</a:t>
            </a:r>
          </a:p>
          <a:p>
            <a:pPr lvl="1">
              <a:spcAft>
                <a:spcPts val="400"/>
              </a:spcAft>
              <a:defRPr sz="1600">
                <a:solidFill>
                  <a:srgbClr val="3C3C3C"/>
                </a:solidFill>
                <a:latin typeface="Arial"/>
              </a:defRPr>
            </a:pPr>
            <a:r>
              <a:t>- Regularly monitor calcium, phosphate, and vitamin D levels as advised.</a:t>
            </a:r>
          </a:p>
          <a:p>
            <a:pPr lvl="1">
              <a:spcAft>
                <a:spcPts val="400"/>
              </a:spcAft>
              <a:defRPr sz="1600">
                <a:solidFill>
                  <a:srgbClr val="3C3C3C"/>
                </a:solidFill>
                <a:latin typeface="Arial"/>
              </a:defRPr>
            </a:pPr>
            <a:r>
              <a:t>- Undergo bone density testing when recommended.</a:t>
            </a:r>
          </a:p>
          <a:p>
            <a:pPr lvl="1">
              <a:spcAft>
                <a:spcPts val="400"/>
              </a:spcAft>
              <a:defRPr sz="1600">
                <a:solidFill>
                  <a:srgbClr val="3C3C3C"/>
                </a:solidFill>
                <a:latin typeface="Arial"/>
              </a:defRPr>
            </a:pPr>
            <a:r>
              <a:t>- Report symptoms such as bone pain, fractures, muscle weakness, or deformities promptly.</a:t>
            </a:r>
          </a:p>
          <a:p>
            <a:pPr>
              <a:spcAft>
                <a:spcPts val="400"/>
              </a:spcAft>
              <a:defRPr sz="2000" b="1">
                <a:solidFill>
                  <a:srgbClr val="C0392B"/>
                </a:solidFill>
                <a:latin typeface="Arial"/>
              </a:defRPr>
            </a:pPr>
            <a:r>
              <a:t>8. Patient and Family Education:</a:t>
            </a:r>
          </a:p>
          <a:p>
            <a:pPr lvl="1">
              <a:spcAft>
                <a:spcPts val="400"/>
              </a:spcAft>
              <a:defRPr sz="1600">
                <a:solidFill>
                  <a:srgbClr val="3C3C3C"/>
                </a:solidFill>
                <a:latin typeface="Arial"/>
              </a:defRPr>
            </a:pPr>
            <a:r>
              <a:t>- Understand the nature of the disease and treatment plan.</a:t>
            </a:r>
          </a:p>
          <a:p>
            <a:pPr lvl="1">
              <a:spcAft>
                <a:spcPts val="400"/>
              </a:spcAft>
              <a:defRPr sz="1600">
                <a:solidFill>
                  <a:srgbClr val="3C3C3C"/>
                </a:solidFill>
                <a:latin typeface="Arial"/>
              </a:defRPr>
            </a:pPr>
            <a:r>
              <a:t>- Recognize signs of complications.</a:t>
            </a:r>
          </a:p>
          <a:p>
            <a:pPr lvl="1">
              <a:spcAft>
                <a:spcPts val="400"/>
              </a:spcAft>
              <a:defRPr sz="1600">
                <a:solidFill>
                  <a:srgbClr val="3C3C3C"/>
                </a:solidFill>
                <a:latin typeface="Arial"/>
              </a:defRPr>
            </a:pPr>
            <a:r>
              <a:t>- Encourage family support for dietary and lifestyle modifications.</a:t>
            </a:r>
          </a:p>
        </p:txBody>
      </p:sp>
      <p:pic>
        <p:nvPicPr>
          <p:cNvPr id="5" name="Picture 4" descr="metabolic_bone_overview.png"/>
          <p:cNvPicPr>
            <a:picLocks noChangeAspect="1"/>
          </p:cNvPicPr>
          <p:nvPr/>
        </p:nvPicPr>
        <p:blipFill>
          <a:blip r:embed="rId2"/>
          <a:stretch>
            <a:fillRect/>
          </a:stretch>
        </p:blipFill>
        <p:spPr>
          <a:xfrm>
            <a:off x="6492240" y="1645920"/>
            <a:ext cx="4937760" cy="448056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228600"/>
            <a:ext cx="10698480" cy="365760"/>
          </a:xfrm>
          <a:prstGeom prst="rect">
            <a:avLst/>
          </a:prstGeom>
          <a:noFill/>
        </p:spPr>
        <p:txBody>
          <a:bodyPr wrap="square" tIns="0" bIns="0" lIns="0" rIns="0">
            <a:spAutoFit/>
          </a:bodyPr>
          <a:lstStyle/>
          <a:p>
            <a:pPr>
              <a:defRPr sz="1400" b="1">
                <a:solidFill>
                  <a:srgbClr val="228B8B"/>
                </a:solidFill>
                <a:latin typeface="Arial"/>
              </a:defRPr>
            </a:pPr>
            <a:r>
              <a:t>CONCLUSION</a:t>
            </a:r>
          </a:p>
        </p:txBody>
      </p:sp>
      <p:sp>
        <p:nvSpPr>
          <p:cNvPr id="3" name="TextBox 2"/>
          <p:cNvSpPr txBox="1"/>
          <p:nvPr/>
        </p:nvSpPr>
        <p:spPr>
          <a:xfrm>
            <a:off x="731520" y="548640"/>
            <a:ext cx="10698480" cy="914400"/>
          </a:xfrm>
          <a:prstGeom prst="rect">
            <a:avLst/>
          </a:prstGeom>
          <a:noFill/>
        </p:spPr>
        <p:txBody>
          <a:bodyPr wrap="square" tIns="0" bIns="0" lIns="0" rIns="0">
            <a:spAutoFit/>
          </a:bodyPr>
          <a:lstStyle/>
          <a:p>
            <a:pPr>
              <a:defRPr sz="4000" b="1">
                <a:solidFill>
                  <a:srgbClr val="162639"/>
                </a:solidFill>
                <a:latin typeface="Georgia"/>
              </a:defRPr>
            </a:pPr>
            <a:r>
              <a:t>Clinical Summary &amp; Multidisciplinary Role</a:t>
            </a:r>
          </a:p>
        </p:txBody>
      </p:sp>
      <p:sp>
        <p:nvSpPr>
          <p:cNvPr id="4" name="TextBox 3"/>
          <p:cNvSpPr txBox="1"/>
          <p:nvPr/>
        </p:nvSpPr>
        <p:spPr>
          <a:xfrm>
            <a:off x="731520" y="1645920"/>
            <a:ext cx="5486400" cy="4572000"/>
          </a:xfrm>
          <a:prstGeom prst="rect">
            <a:avLst/>
          </a:prstGeom>
          <a:noFill/>
        </p:spPr>
        <p:txBody>
          <a:bodyPr wrap="square" lIns="0" rIns="0" tIns="0" bIns="0">
            <a:spAutoFit/>
          </a:bodyPr>
          <a:lstStyle/>
          <a:p>
            <a:pPr>
              <a:spcAft>
                <a:spcPts val="400"/>
              </a:spcAft>
              <a:defRPr sz="2000" b="1">
                <a:solidFill>
                  <a:srgbClr val="162639"/>
                </a:solidFill>
                <a:latin typeface="Arial"/>
              </a:defRPr>
            </a:pPr>
            <a:r>
              <a:t>Clinical Summary:</a:t>
            </a:r>
          </a:p>
          <a:p>
            <a:pPr lvl="1">
              <a:spcAft>
                <a:spcPts val="400"/>
              </a:spcAft>
              <a:defRPr sz="1600">
                <a:solidFill>
                  <a:srgbClr val="3C3C3C"/>
                </a:solidFill>
                <a:latin typeface="Arial"/>
              </a:defRPr>
            </a:pPr>
            <a:r>
              <a:t>- Metabolic bone disorders are a group of conditions that affect bone strength, structure, and mineralization due to abnormalities in calcium, phosphate, vitamin D metabolism, or hormonal regulation. Common disorders include Osteoporosis, Osteomalacia, and Rickets.</a:t>
            </a:r>
          </a:p>
          <a:p>
            <a:pPr lvl="1">
              <a:spcAft>
                <a:spcPts val="400"/>
              </a:spcAft>
              <a:defRPr sz="1600">
                <a:solidFill>
                  <a:srgbClr val="3C3C3C"/>
                </a:solidFill>
                <a:latin typeface="Arial"/>
              </a:defRPr>
            </a:pPr>
            <a:r>
              <a:t>- These conditions can lead to bone pain, deformities, fractures, reduced mobility, and impaired quality of life. Early diagnosis through clinical assessment, laboratory investigations, and imaging studies is essential for effective management.</a:t>
            </a:r>
          </a:p>
          <a:p>
            <a:pPr>
              <a:spcAft>
                <a:spcPts val="400"/>
              </a:spcAft>
              <a:defRPr sz="2000" b="1">
                <a:solidFill>
                  <a:srgbClr val="C0392B"/>
                </a:solidFill>
                <a:latin typeface="Arial"/>
              </a:defRPr>
            </a:pPr>
            <a:r>
              <a:t>Treatment Focus:</a:t>
            </a:r>
          </a:p>
          <a:p>
            <a:pPr lvl="1">
              <a:spcAft>
                <a:spcPts val="400"/>
              </a:spcAft>
              <a:defRPr sz="1600">
                <a:solidFill>
                  <a:srgbClr val="3C3C3C"/>
                </a:solidFill>
                <a:latin typeface="Arial"/>
              </a:defRPr>
            </a:pPr>
            <a:r>
              <a:t>- Focuses on correcting underlying causes, restoring mineral balance, preventing complications, and promoting bone health through medications, nutritional support, lifestyle modifications, and patient education.</a:t>
            </a:r>
          </a:p>
          <a:p>
            <a:pPr>
              <a:spcAft>
                <a:spcPts val="400"/>
              </a:spcAft>
              <a:defRPr sz="2000" b="1">
                <a:solidFill>
                  <a:srgbClr val="162639"/>
                </a:solidFill>
                <a:latin typeface="Arial"/>
              </a:defRPr>
            </a:pPr>
            <a:r>
              <a:t>Multidisciplinary Role:</a:t>
            </a:r>
          </a:p>
          <a:p>
            <a:pPr lvl="1">
              <a:spcAft>
                <a:spcPts val="400"/>
              </a:spcAft>
              <a:defRPr sz="1600">
                <a:solidFill>
                  <a:srgbClr val="3C3C3C"/>
                </a:solidFill>
                <a:latin typeface="Arial"/>
              </a:defRPr>
            </a:pPr>
            <a:r>
              <a:t>- A multidisciplinary approach involving physicians, nurses, dietitians, and physiotherapists plays a vital role in improving patient outcomes and preventing long-term disability.</a:t>
            </a:r>
          </a:p>
        </p:txBody>
      </p:sp>
      <p:pic>
        <p:nvPicPr>
          <p:cNvPr id="5" name="Picture 4" descr="metabolic_bone_overview.png"/>
          <p:cNvPicPr>
            <a:picLocks noChangeAspect="1"/>
          </p:cNvPicPr>
          <p:nvPr/>
        </p:nvPicPr>
        <p:blipFill>
          <a:blip r:embed="rId2"/>
          <a:stretch>
            <a:fillRect/>
          </a:stretch>
        </p:blipFill>
        <p:spPr>
          <a:xfrm>
            <a:off x="6492240" y="1645920"/>
            <a:ext cx="4937760" cy="448056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228600"/>
            <a:ext cx="10698480" cy="365760"/>
          </a:xfrm>
          <a:prstGeom prst="rect">
            <a:avLst/>
          </a:prstGeom>
          <a:noFill/>
        </p:spPr>
        <p:txBody>
          <a:bodyPr wrap="square" tIns="0" bIns="0" lIns="0" rIns="0">
            <a:spAutoFit/>
          </a:bodyPr>
          <a:lstStyle/>
          <a:p>
            <a:pPr>
              <a:defRPr sz="1400" b="1">
                <a:solidFill>
                  <a:srgbClr val="228B8B"/>
                </a:solidFill>
                <a:latin typeface="Arial"/>
              </a:defRPr>
            </a:pPr>
            <a:r>
              <a:t>REFERENCES</a:t>
            </a:r>
          </a:p>
        </p:txBody>
      </p:sp>
      <p:sp>
        <p:nvSpPr>
          <p:cNvPr id="3" name="TextBox 2"/>
          <p:cNvSpPr txBox="1"/>
          <p:nvPr/>
        </p:nvSpPr>
        <p:spPr>
          <a:xfrm>
            <a:off x="731520" y="548640"/>
            <a:ext cx="10698480" cy="914400"/>
          </a:xfrm>
          <a:prstGeom prst="rect">
            <a:avLst/>
          </a:prstGeom>
          <a:noFill/>
        </p:spPr>
        <p:txBody>
          <a:bodyPr wrap="square" tIns="0" bIns="0" lIns="0" rIns="0">
            <a:spAutoFit/>
          </a:bodyPr>
          <a:lstStyle/>
          <a:p>
            <a:pPr>
              <a:defRPr sz="4000" b="1">
                <a:solidFill>
                  <a:srgbClr val="162639"/>
                </a:solidFill>
                <a:latin typeface="Georgia"/>
              </a:defRPr>
            </a:pPr>
            <a:r>
              <a:t>Bibliography &amp; Key Textbooks</a:t>
            </a:r>
          </a:p>
        </p:txBody>
      </p:sp>
      <p:sp>
        <p:nvSpPr>
          <p:cNvPr id="4" name="TextBox 3"/>
          <p:cNvSpPr txBox="1"/>
          <p:nvPr/>
        </p:nvSpPr>
        <p:spPr>
          <a:xfrm>
            <a:off x="731520" y="1645920"/>
            <a:ext cx="5486400" cy="4572000"/>
          </a:xfrm>
          <a:prstGeom prst="rect">
            <a:avLst/>
          </a:prstGeom>
          <a:noFill/>
        </p:spPr>
        <p:txBody>
          <a:bodyPr wrap="square" lIns="0" rIns="0" tIns="0" bIns="0">
            <a:spAutoFit/>
          </a:bodyPr>
          <a:lstStyle/>
          <a:p>
            <a:pPr>
              <a:spcAft>
                <a:spcPts val="400"/>
              </a:spcAft>
              <a:defRPr sz="2000" b="1">
                <a:solidFill>
                  <a:srgbClr val="162639"/>
                </a:solidFill>
                <a:latin typeface="Arial"/>
              </a:defRPr>
            </a:pPr>
            <a:r>
              <a:t>Clinical Textbooks &amp; References:</a:t>
            </a:r>
          </a:p>
          <a:p>
            <a:pPr lvl="1">
              <a:spcAft>
                <a:spcPts val="400"/>
              </a:spcAft>
              <a:defRPr sz="1600">
                <a:solidFill>
                  <a:srgbClr val="3C3C3C"/>
                </a:solidFill>
                <a:latin typeface="Arial"/>
              </a:defRPr>
            </a:pPr>
            <a:r>
              <a:t>- Brunner &amp; Suddarth's Textbook of Medical-Surgical Nursing. Hinkle JL, Cheever KH. Philadelphia: Wolters Kluwer; 2022.</a:t>
            </a:r>
          </a:p>
          <a:p>
            <a:pPr lvl="1">
              <a:spcAft>
                <a:spcPts val="400"/>
              </a:spcAft>
              <a:defRPr sz="1600">
                <a:solidFill>
                  <a:srgbClr val="3C3C3C"/>
                </a:solidFill>
                <a:latin typeface="Arial"/>
              </a:defRPr>
            </a:pPr>
            <a:r>
              <a:t>- Lewis's Medical-Surgical Nursing. Harding MM, Kwong J, Roberts D, Hagler D. Elsevier; 2023.</a:t>
            </a:r>
          </a:p>
          <a:p>
            <a:pPr lvl="1">
              <a:spcAft>
                <a:spcPts val="400"/>
              </a:spcAft>
              <a:defRPr sz="1600">
                <a:solidFill>
                  <a:srgbClr val="3C3C3C"/>
                </a:solidFill>
                <a:latin typeface="Arial"/>
              </a:defRPr>
            </a:pPr>
            <a:r>
              <a:t>- Textbook of Medical-Surgical Nursing. Williams &amp; Wilkins; Latest Edition.</a:t>
            </a:r>
          </a:p>
          <a:p>
            <a:pPr lvl="1">
              <a:spcAft>
                <a:spcPts val="400"/>
              </a:spcAft>
              <a:defRPr sz="1600">
                <a:solidFill>
                  <a:srgbClr val="3C3C3C"/>
                </a:solidFill>
                <a:latin typeface="Arial"/>
              </a:defRPr>
            </a:pPr>
            <a:r>
              <a:t>- Essentials of Medical Surgical Nursing. I. Clement. Latest Edition.</a:t>
            </a:r>
          </a:p>
          <a:p>
            <a:pPr lvl="1">
              <a:spcAft>
                <a:spcPts val="400"/>
              </a:spcAft>
              <a:defRPr sz="1600">
                <a:solidFill>
                  <a:srgbClr val="3C3C3C"/>
                </a:solidFill>
                <a:latin typeface="Arial"/>
              </a:defRPr>
            </a:pPr>
            <a:r>
              <a:t>- Medical-Surgical Nursing. CBS Publishers &amp; Distributors; Latest Edition.</a:t>
            </a:r>
          </a:p>
        </p:txBody>
      </p:sp>
      <p:pic>
        <p:nvPicPr>
          <p:cNvPr id="5" name="Picture 4" descr="metabolic_bone_intro.png"/>
          <p:cNvPicPr>
            <a:picLocks noChangeAspect="1"/>
          </p:cNvPicPr>
          <p:nvPr/>
        </p:nvPicPr>
        <p:blipFill>
          <a:blip r:embed="rId2"/>
          <a:stretch>
            <a:fillRect/>
          </a:stretch>
        </p:blipFill>
        <p:spPr>
          <a:xfrm>
            <a:off x="6492240" y="1645920"/>
            <a:ext cx="4937760" cy="44805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